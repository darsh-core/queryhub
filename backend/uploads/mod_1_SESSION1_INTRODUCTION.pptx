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10" r:id="rId2"/>
    <p:sldId id="258" r:id="rId3"/>
    <p:sldId id="413" r:id="rId4"/>
    <p:sldId id="264" r:id="rId5"/>
    <p:sldId id="527" r:id="rId6"/>
    <p:sldId id="483" r:id="rId7"/>
    <p:sldId id="534" r:id="rId8"/>
    <p:sldId id="535" r:id="rId9"/>
    <p:sldId id="536" r:id="rId10"/>
    <p:sldId id="537" r:id="rId11"/>
    <p:sldId id="538" r:id="rId12"/>
    <p:sldId id="484" r:id="rId13"/>
    <p:sldId id="485" r:id="rId14"/>
    <p:sldId id="524" r:id="rId15"/>
    <p:sldId id="489" r:id="rId16"/>
    <p:sldId id="490" r:id="rId17"/>
    <p:sldId id="491" r:id="rId18"/>
    <p:sldId id="510" r:id="rId19"/>
    <p:sldId id="512" r:id="rId20"/>
    <p:sldId id="513" r:id="rId21"/>
    <p:sldId id="514" r:id="rId22"/>
    <p:sldId id="515" r:id="rId23"/>
    <p:sldId id="525" r:id="rId24"/>
    <p:sldId id="526" r:id="rId25"/>
    <p:sldId id="41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24" autoAdjust="0"/>
    <p:restoredTop sz="87971" autoAdjust="0"/>
  </p:normalViewPr>
  <p:slideViewPr>
    <p:cSldViewPr>
      <p:cViewPr varScale="1">
        <p:scale>
          <a:sx n="73" d="100"/>
          <a:sy n="73" d="100"/>
        </p:scale>
        <p:origin x="96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0B9AE-A6FD-4340-8796-B3DD08C49BFA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DDBCF-62DD-41D3-BF56-2DCC1369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6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78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DDBCF-62DD-41D3-BF56-2DCC136966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1A8E1-26E0-49DB-AC7E-2EF92CC601DA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0C967-BB2F-4E2B-BD5F-30068A8ED89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7700-F1ED-428F-B552-7FEC0EA1E817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98B2-5E35-4EE6-89C9-61C3AEB0E92F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58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7B0B-6576-4AE5-8659-D0607FB34AE6}" type="datetime1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EBDC-738C-4FFA-8183-317ADFC99BC3}" type="datetime1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6F79-9F22-4D00-B288-E7577EAC9FBB}" type="datetime1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3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8742-CBA0-479C-AE2A-0007ABD6031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3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5703-5067-4702-B21A-A755B6F0527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EBF32-5D0C-4656-BF58-4A5C319433D1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3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689C9-C399-4532-B87C-B30B3FFA1D3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4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8F396-2623-48A1-A9CB-3F7AFE6DE5C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0yxFpku6DW1MKJbAEF_sY2RJpiEM8uyA/view?usp=shar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zfD_PUIaS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youtu.be/4apzdDa6MoM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00808"/>
            <a:ext cx="9144000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DBMS, Characteristics of DBMS, DBMS vs File Systems, need for DBMS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Code: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23IT201</a:t>
            </a:r>
            <a:r>
              <a:rPr lang="en-IN" sz="2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Course Title: </a:t>
            </a: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Database </a:t>
            </a: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Management Systems</a:t>
            </a:r>
            <a:b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Session Number: 1</a:t>
            </a:r>
            <a:b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Academic Year: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2024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2025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(Even </a:t>
            </a:r>
            <a:r>
              <a:rPr lang="en-IN" sz="2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0105"/>
            <a:ext cx="9131374" cy="600913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1527175" algn="l"/>
              </a:tabLst>
            </a:pPr>
            <a:r>
              <a:rPr lang="en-IN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 </a:t>
            </a:r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DBMS, Characteristics of DBMS, DBMS vs File Systems, need for </a:t>
            </a:r>
            <a:r>
              <a:rPr lang="en-IN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Three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DBMS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b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Data Models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Introduction, Benefits, and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Phases</a:t>
            </a:r>
            <a:b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ER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Diagrams – Symbols, Components, Relationships, Weak entities, Attributes,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Cardinality.</a:t>
            </a:r>
            <a:b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Relational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Algebra, Domain Relational Calculus, Tuple Relational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6.Calculus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- primary Key, Foreign Key.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1792" y="645854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560" y="32846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1 – </a:t>
            </a: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1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90872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Topics to be Covered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03588"/>
            <a:ext cx="914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 (DB)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 Management System (DBMS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Applications of 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DBMS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Metadata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Very Large </a:t>
            </a:r>
            <a:r>
              <a:rPr lang="en-US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endParaRPr lang="en-IN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DBMS </a:t>
            </a:r>
            <a:r>
              <a:rPr lang="en-IN" sz="2000" dirty="0" err="1">
                <a:latin typeface="Arial" panose="020B0604020202020204" pitchFamily="34" charset="0"/>
                <a:cs typeface="Arial" pitchFamily="34" charset="0"/>
              </a:rPr>
              <a:t>vs</a:t>
            </a: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 File 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Users of </a:t>
            </a:r>
            <a:r>
              <a:rPr lang="en-US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DBMS, Characteristics of DBMS, DBMS vs File Systems, need for DBMS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33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(DB)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682" y="922650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Well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organized collection of data that are related in a meaningful way which can be accessed in different logical orders but are stored only once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data (collection of raw facts and figures)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in the database is therefore 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ntegrated, structured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shared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Stores only persistent data (once stored it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always stays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there unless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deleted by an explicit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request)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IN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Feature of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itchFamily="34" charset="0"/>
                <a:cs typeface="Arial" pitchFamily="34" charset="0"/>
              </a:rPr>
              <a:t>Well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organized and Related data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Self-Describing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itchFamily="34" charset="0"/>
                <a:cs typeface="Arial" pitchFamily="34" charset="0"/>
              </a:rPr>
              <a:t>Stored only once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Accessible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in different orders without great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difficulty</a:t>
            </a:r>
            <a:endParaRPr lang="en-IN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3931121"/>
            <a:ext cx="4703440" cy="2162175"/>
          </a:xfrm>
          <a:prstGeom prst="rect">
            <a:avLst/>
          </a:prstGeom>
        </p:spPr>
      </p:pic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8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(DB)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425" y="1545700"/>
            <a:ext cx="9131374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stands for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ata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ase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anagement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ystem.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DBMS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Database + Management System.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collection of data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set of programs to store and retrieve those data.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 Management System (DBMS)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a software system that is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designed to manage and organize data in a structured manner.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allows users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create, modify, and query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database, as well as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manage the security and access controls for that database.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95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Management System (DBMS)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Contains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information about a particular enterprise</a:t>
            </a:r>
          </a:p>
          <a:p>
            <a:pPr marL="6858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Collection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of interrelated data</a:t>
            </a:r>
          </a:p>
          <a:p>
            <a:pPr marL="6858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Set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of programs to access the data </a:t>
            </a:r>
          </a:p>
          <a:p>
            <a:pPr marL="6858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Environment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that is both convenient and efficient to 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Software system for creating, organizing and managing the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Provides an environment to perform operations on the database for creating, inserting, deleting, updating and retrieval of data</a:t>
            </a:r>
            <a:endParaRPr lang="en-US" altLang="en-US" sz="2000" dirty="0">
              <a:latin typeface="Arial" pitchFamily="34" charset="0"/>
              <a:ea typeface="ＭＳ Ｐゴシック" panose="020B0600070205080204" pitchFamily="34" charset="-128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Arial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726" y="4221088"/>
            <a:ext cx="5235285" cy="16032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5682" y="5877253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DBMS: </a:t>
            </a:r>
          </a:p>
        </p:txBody>
      </p:sp>
      <p:pic>
        <p:nvPicPr>
          <p:cNvPr id="14" name="Picture 13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5877272"/>
            <a:ext cx="576064" cy="491839"/>
          </a:xfrm>
          <a:prstGeom prst="rect">
            <a:avLst/>
          </a:prstGeom>
        </p:spPr>
      </p:pic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7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395536" y="472480"/>
            <a:ext cx="8424936" cy="14443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1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System (DBMS</a:t>
            </a:r>
            <a:r>
              <a:rPr lang="en-US" sz="1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 OF DBMS</a:t>
            </a:r>
            <a:endParaRPr lang="en-IN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1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26" y="1159666"/>
            <a:ext cx="9131374" cy="6152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1.Data modeling: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DBMS provides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tools for creating and modifying data models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which define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structure and relationships of the data in a database.</a:t>
            </a:r>
          </a:p>
          <a:p>
            <a:pPr algn="just">
              <a:lnSpc>
                <a:spcPct val="20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2.Data storage and retrieval: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DBMS is responsible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storing and retrieving data from the database,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can provide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various methods for searching and querying the data.</a:t>
            </a:r>
          </a:p>
          <a:p>
            <a:pPr algn="just">
              <a:lnSpc>
                <a:spcPct val="2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65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796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Management System (DBMS) –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 OF DBMS</a:t>
            </a: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3.Concurrency control: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DBMS provides mechanisms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controlling concurrent access to the database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to ensure that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multiple users can access the data without conflicting with each other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4.Data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integrity and security: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DBMS provides tools for enforcing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integrity and security constraints,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such as constraints on the values of data and access controls that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restrict who can access the data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Management System (DBMS) –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 OF DBMS</a:t>
            </a: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5.Backup and recovery: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DBMS provides mechanisms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backing up and recovering the 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event of a system failure.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DBMS can be classified into two types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Database Management System (RDBMS) and Non-Relational Database Management System (NoSQL or Non-SQL)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7. RDBMS: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is organized in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form of tables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each table has a set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rows and columns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The data is related to each other through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primary and foreign keys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9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Management System (DBMS) –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 OF DBMS</a:t>
            </a: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26" y="1268760"/>
            <a:ext cx="9131374" cy="245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8.NoSQL: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 is organized in the form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key-value pairs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document, graph, or column-based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These are designed to handle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large-scale, high-performance scenarios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Management System (DBMS) –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 OF DBMS</a:t>
            </a: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 descr="https://www.learnovita.com/wp-content/uploads/2023/01/characteristics-of-dbms-learnovit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268760"/>
            <a:ext cx="5667536" cy="494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7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615968"/>
            <a:ext cx="91156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1" indent="-444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Online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retailers: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Order Tracking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Customized Recommendations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marL="444500" lvl="1" indent="-444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Manufacturing: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Production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Inventory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Orders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Supply Chain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marL="444500" lvl="1" indent="-444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Human resources: 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Employee Records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Salaries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,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Tax Deductions</a:t>
            </a:r>
            <a:endParaRPr lang="en-IN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766" y="1090687"/>
            <a:ext cx="5080159" cy="3490441"/>
          </a:xfrm>
          <a:prstGeom prst="rect">
            <a:avLst/>
          </a:prstGeom>
        </p:spPr>
      </p:pic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308" y="732712"/>
            <a:ext cx="1584176" cy="85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0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Metadata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73177"/>
            <a:ext cx="91313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Data about data is called as Metadata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Database includes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information about how data is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stored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in computer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storage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311839"/>
              </p:ext>
            </p:extLst>
          </p:nvPr>
        </p:nvGraphicFramePr>
        <p:xfrm>
          <a:off x="1547664" y="1988840"/>
          <a:ext cx="6035124" cy="3840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1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9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 </a:t>
                      </a:r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Book</a:t>
                      </a:r>
                      <a:endParaRPr lang="en-US" sz="2000" b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 name of author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Bloomfield</a:t>
                      </a:r>
                      <a:endParaRPr lang="en-US" sz="2000" b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name of </a:t>
                      </a:r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Leonard</a:t>
                      </a:r>
                      <a:endParaRPr lang="en-US" sz="2000" b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of publication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1933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000" b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York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Publisher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Holt, Rinehart &amp; Winston</a:t>
                      </a:r>
                      <a:endParaRPr lang="en-US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0918" marR="8091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32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Large </a:t>
            </a: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Google, Yahoo,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MSN 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Search, Mail and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Other Services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Ebay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- Buy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Sell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YouTube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Videos (put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&amp; share)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MySpace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Social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Networking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Facebook 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Social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Networking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Wikipedia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-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Online Encyclopedia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Telecommunications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Flickr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Share Photos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Blogger 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Own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Blogs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Fotolog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- Share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Photos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&amp;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Blogs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 descr="D:\DBMS 18-19 EVEN\Class PPT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1556792"/>
            <a:ext cx="4916358" cy="3888432"/>
          </a:xfrm>
          <a:prstGeom prst="rect">
            <a:avLst/>
          </a:prstGeom>
          <a:noFill/>
        </p:spPr>
      </p:pic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1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vs File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15682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723455"/>
              </p:ext>
            </p:extLst>
          </p:nvPr>
        </p:nvGraphicFramePr>
        <p:xfrm>
          <a:off x="15682" y="1031044"/>
          <a:ext cx="9115692" cy="46302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12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26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DBMS (Collection of Data)</a:t>
                      </a:r>
                      <a:endParaRPr lang="en-IN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(Collection of Data)</a:t>
                      </a:r>
                      <a:endParaRPr lang="en-IN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14300" marB="11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8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not required to write the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procedures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 to write the procedures for managing the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Gives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 abstract view of data that hides the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details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detail of the data representation and storage of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833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crash recovery mechanism, i.e., DBMS protects the user from the system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failure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Doesn't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have a crash mechanism, i.e., if the system crashes while entering some data, then the content of the file will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lost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5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good protection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mechanism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difficult to protect a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824" y="9777"/>
            <a:ext cx="1584176" cy="85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9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378383"/>
              </p:ext>
            </p:extLst>
          </p:nvPr>
        </p:nvGraphicFramePr>
        <p:xfrm>
          <a:off x="15682" y="1068288"/>
          <a:ext cx="9115692" cy="4953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12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9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DBMS (Collection of Data)</a:t>
                      </a:r>
                      <a:endParaRPr lang="en-IN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(Collection of Data)</a:t>
                      </a:r>
                      <a:endParaRPr lang="en-IN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14300" marB="11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wide variety of sophisticated techniques to store and retrieve the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Can't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efficiently store and retrieve the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Takes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care of Concurrent access of data using some form of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locking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Concurrent access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 many problems like redirecting the file while other deleting some information or updating some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Redundancy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is available in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Redundancy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is not</a:t>
                      </a:r>
                      <a:r>
                        <a:rPr lang="en-US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available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system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Unauthorized access is restricted in DBMS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Unauthorized access is not restricted in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file system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vs File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8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440129"/>
              </p:ext>
            </p:extLst>
          </p:nvPr>
        </p:nvGraphicFramePr>
        <p:xfrm>
          <a:off x="-3773" y="1059904"/>
          <a:ext cx="9115692" cy="5105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12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9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DBMS (Collection of Data)</a:t>
                      </a:r>
                      <a:endParaRPr lang="en-IN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</a:t>
                      </a:r>
                      <a:r>
                        <a:rPr lang="en-IN" b="1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(Collection of Data)</a:t>
                      </a:r>
                      <a:endParaRPr lang="en-IN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14300" marB="11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 up and recovery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lost in file system can't be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recovered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 </a:t>
                      </a:r>
                      <a:r>
                        <a:rPr lang="en-IN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user interfaces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is isolated in file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Coordinates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 the physical and the logical access to the data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Coordinates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only the physical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Designed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allow flexible access to data (i.e. queries)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Designed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allow predetermined access to data (i.e. compiled programs).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Designed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coordinate multiple users accessing the same data at the same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Designed 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allow one or more programs to access different data files at the same </a:t>
                      </a:r>
                      <a:r>
                        <a:rPr lang="en-US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vs File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11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2626" y="980728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DataBase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 Administrator (DBA)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Manage all level of DBMS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DBA is responsible for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Schema definition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Storage structure and access-method definition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Schema and physical-organization modification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Granting of authorization for data access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spc="-30" dirty="0">
                <a:latin typeface="Arial" pitchFamily="34" charset="0"/>
                <a:cs typeface="Arial" pitchFamily="34" charset="0"/>
              </a:rPr>
              <a:t>A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cqui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r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ing s/w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an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d h/w 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resources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as needed</a:t>
            </a: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Routine maintenance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End Users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Ac</a:t>
            </a:r>
            <a:r>
              <a:rPr lang="en-IN" sz="2000" spc="-2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ess </a:t>
            </a:r>
            <a:r>
              <a:rPr lang="en-IN" sz="2000" spc="-35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o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th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e databa</a:t>
            </a:r>
            <a:r>
              <a:rPr lang="en-IN" sz="2000" spc="10" dirty="0" smtClean="0">
                <a:latin typeface="Arial" pitchFamily="34" charset="0"/>
                <a:cs typeface="Arial" pitchFamily="34" charset="0"/>
              </a:rPr>
              <a:t>s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e </a:t>
            </a:r>
            <a:r>
              <a:rPr lang="en-IN" sz="2000" spc="-50" dirty="0" smtClean="0">
                <a:latin typeface="Arial" pitchFamily="34" charset="0"/>
                <a:cs typeface="Arial" pitchFamily="34" charset="0"/>
              </a:rPr>
              <a:t>f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or quer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g, updating,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generating</a:t>
            </a:r>
            <a:r>
              <a:rPr lang="en-IN" sz="2000" spc="15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reports</a:t>
            </a:r>
            <a:endParaRPr lang="en-IN" sz="2000" dirty="0" smtClean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of </a:t>
            </a: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6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8002" y="980728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DataBase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 Designers</a:t>
            </a:r>
          </a:p>
          <a:p>
            <a:pPr marL="444500" marR="5080" lvl="1" indent="-44450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44500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Logical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Designers - Identifying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data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to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be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stored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in the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database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and relationship between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them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444500" marR="9525" lvl="1" indent="-44450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44500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Physical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Designers -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Choosing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appropriate structures </a:t>
            </a:r>
            <a:r>
              <a:rPr lang="en-IN" sz="2000" spc="-30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represent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store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data</a:t>
            </a:r>
          </a:p>
          <a:p>
            <a:pPr marL="0" marR="9525" lvl="1">
              <a:lnSpc>
                <a:spcPct val="150000"/>
              </a:lnSpc>
              <a:buSzPct val="145312"/>
              <a:tabLst>
                <a:tab pos="444500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System Analysts and Application Programmers</a:t>
            </a:r>
          </a:p>
          <a:p>
            <a:pPr marL="444500" marR="9525" lvl="1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712788" algn="l"/>
                <a:tab pos="755650" algn="l"/>
              </a:tabLst>
            </a:pP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System Analysts communicate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with all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prospective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database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users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, in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order to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understand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their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requirements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especially </a:t>
            </a:r>
            <a:r>
              <a:rPr lang="en-IN" sz="2000" spc="-30" dirty="0">
                <a:latin typeface="Arial" pitchFamily="34" charset="0"/>
                <a:cs typeface="Arial" pitchFamily="34" charset="0"/>
              </a:rPr>
              <a:t>naive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parametric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end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users,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and 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develop</a:t>
            </a:r>
            <a:r>
              <a:rPr lang="en-IN" sz="2000" spc="5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specifications</a:t>
            </a:r>
          </a:p>
          <a:p>
            <a:pPr marL="444500" marR="9525" lvl="1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712788" algn="l"/>
                <a:tab pos="755650" algn="l"/>
              </a:tabLst>
            </a:pP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Application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programmers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implement specifications as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programs;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then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test, 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debug,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document,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maintain canned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transactions</a:t>
            </a:r>
            <a:endParaRPr lang="en-IN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of </a:t>
            </a: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46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Casual End Users</a:t>
            </a:r>
          </a:p>
          <a:p>
            <a:pPr marL="444500" lvl="1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444500" algn="l"/>
                <a:tab pos="1981200" algn="l"/>
                <a:tab pos="3035300" algn="l"/>
                <a:tab pos="3470275" algn="l"/>
                <a:tab pos="4392613" algn="l"/>
                <a:tab pos="6238875" algn="l"/>
                <a:tab pos="7235825" algn="l"/>
              </a:tabLst>
            </a:pP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Occasionally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access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the</a:t>
            </a:r>
            <a:r>
              <a:rPr lang="en-IN" sz="2000" spc="5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database</a:t>
            </a:r>
          </a:p>
          <a:p>
            <a:pPr marL="444500" lvl="1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444500" algn="l"/>
                <a:tab pos="1981200" algn="l"/>
                <a:tab pos="3035300" algn="l"/>
                <a:tab pos="3470275" algn="l"/>
                <a:tab pos="4392613" algn="l"/>
                <a:tab pos="6238875" algn="l"/>
                <a:tab pos="7235825" algn="l"/>
              </a:tabLst>
            </a:pP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Need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different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information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each</a:t>
            </a:r>
            <a:r>
              <a:rPr lang="en-IN" sz="2000" spc="2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time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444500" marR="5080" lvl="1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444500" algn="l"/>
                <a:tab pos="1981200" algn="l"/>
                <a:tab pos="3035300" algn="l"/>
                <a:tab pos="3470275" algn="l"/>
                <a:tab pos="4392613" algn="l"/>
                <a:tab pos="6238875" algn="l"/>
                <a:tab pos="7235825" algn="l"/>
              </a:tabLst>
            </a:pP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Le</a:t>
            </a:r>
            <a:r>
              <a:rPr lang="en-IN" sz="2000" spc="-2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rn on</a:t>
            </a:r>
            <a:r>
              <a:rPr lang="en-IN" sz="2000" spc="-75" dirty="0" smtClean="0">
                <a:latin typeface="Arial" pitchFamily="34" charset="0"/>
                <a:cs typeface="Arial" pitchFamily="34" charset="0"/>
              </a:rPr>
              <a:t>l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y a </a:t>
            </a:r>
            <a:r>
              <a:rPr lang="en-IN" sz="2000" spc="-35" dirty="0" smtClean="0">
                <a:latin typeface="Arial" pitchFamily="34" charset="0"/>
                <a:cs typeface="Arial" pitchFamily="34" charset="0"/>
              </a:rPr>
              <a:t>f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ew </a:t>
            </a:r>
            <a:r>
              <a:rPr lang="en-IN" sz="2000" spc="-35" dirty="0" smtClean="0">
                <a:latin typeface="Arial" pitchFamily="34" charset="0"/>
                <a:cs typeface="Arial" pitchFamily="34" charset="0"/>
              </a:rPr>
              <a:t>f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ac</a:t>
            </a:r>
            <a:r>
              <a:rPr lang="en-IN" sz="2000" spc="-2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liti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s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tha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t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IN" sz="2000" spc="5" dirty="0" smtClean="0">
                <a:latin typeface="Arial" pitchFamily="34" charset="0"/>
                <a:cs typeface="Arial" pitchFamily="34" charset="0"/>
              </a:rPr>
              <a:t>h</a:t>
            </a:r>
            <a:r>
              <a:rPr lang="en-IN" sz="2000" spc="-55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y </a:t>
            </a:r>
            <a:r>
              <a:rPr lang="en-IN" sz="2000" spc="-30" dirty="0" smtClean="0">
                <a:latin typeface="Arial" pitchFamily="34" charset="0"/>
                <a:cs typeface="Arial" pitchFamily="34" charset="0"/>
              </a:rPr>
              <a:t>may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use</a:t>
            </a:r>
            <a:r>
              <a:rPr lang="en-IN" sz="2000" spc="2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50" dirty="0">
                <a:latin typeface="Arial" pitchFamily="34" charset="0"/>
                <a:cs typeface="Arial" pitchFamily="34" charset="0"/>
              </a:rPr>
              <a:t>repeatedly</a:t>
            </a:r>
          </a:p>
          <a:p>
            <a:pPr marL="0" marR="9525" lvl="1">
              <a:lnSpc>
                <a:spcPct val="150000"/>
              </a:lnSpc>
              <a:buSzPct val="145312"/>
              <a:tabLst>
                <a:tab pos="444500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Naive or Parametric or Unsophisticated End Users</a:t>
            </a:r>
          </a:p>
          <a:p>
            <a:pPr marL="444500" marR="5080" lvl="1" indent="-44450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44500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Constantly querying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and updating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database, using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standard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types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of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queries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IN" sz="2000" spc="-2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updates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444500" marR="8255" lvl="1" indent="-44450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44500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Need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to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learn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very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little about the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facilities 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provided </a:t>
            </a:r>
            <a:r>
              <a:rPr lang="en-IN" sz="2000" spc="-25" dirty="0">
                <a:latin typeface="Arial" pitchFamily="34" charset="0"/>
                <a:cs typeface="Arial" pitchFamily="34" charset="0"/>
              </a:rPr>
              <a:t>by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</a:t>
            </a:r>
            <a:r>
              <a:rPr lang="en-IN" sz="2000" spc="5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DBMS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444500" marR="5080" lvl="1" indent="-444500" algn="just">
              <a:lnSpc>
                <a:spcPct val="150000"/>
              </a:lnSpc>
              <a:buSzPct val="100000"/>
              <a:buFont typeface="Arial"/>
              <a:buChar char="•"/>
              <a:tabLst>
                <a:tab pos="444500" algn="l"/>
              </a:tabLst>
            </a:pP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Reservation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clerks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for airlines,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hotels, and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car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rental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companies check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availability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for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a </a:t>
            </a:r>
            <a:r>
              <a:rPr lang="en-IN" sz="2000" spc="-25" dirty="0" smtClean="0">
                <a:latin typeface="Arial" pitchFamily="34" charset="0"/>
                <a:cs typeface="Arial" pitchFamily="34" charset="0"/>
              </a:rPr>
              <a:t>given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request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make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reservations</a:t>
            </a:r>
            <a:endParaRPr lang="en-IN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of </a:t>
            </a: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8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9525" lvl="1">
              <a:lnSpc>
                <a:spcPct val="150000"/>
              </a:lnSpc>
              <a:buSzPct val="145312"/>
              <a:tabLst>
                <a:tab pos="444500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Sophisticated End Users</a:t>
            </a:r>
          </a:p>
          <a:p>
            <a:pPr marL="363538" marR="6350" indent="-363538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363538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Engineers, scientists, business 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analysts,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others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who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thoroughly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familiarize 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themselves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facilities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of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DBMS</a:t>
            </a:r>
          </a:p>
          <a:p>
            <a:pPr marL="363538" marR="5080" indent="-363538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363538" algn="l"/>
              </a:tabLst>
            </a:pPr>
            <a:r>
              <a:rPr lang="en-IN" sz="2000" spc="-40" dirty="0">
                <a:latin typeface="Arial" pitchFamily="34" charset="0"/>
                <a:cs typeface="Arial" pitchFamily="34" charset="0"/>
              </a:rPr>
              <a:t>Try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to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learn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most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of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DBMS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facilities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in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order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to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achieve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their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complex  requirements</a:t>
            </a:r>
          </a:p>
          <a:p>
            <a:pPr marL="0" marR="9525" lvl="1" indent="-363538">
              <a:lnSpc>
                <a:spcPct val="150000"/>
              </a:lnSpc>
              <a:buSzPct val="145312"/>
              <a:tabLst>
                <a:tab pos="444500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Stand-Alone Users</a:t>
            </a:r>
          </a:p>
          <a:p>
            <a:pPr marL="363538" marR="5715" indent="-363538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363538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Maintain personal databases </a:t>
            </a:r>
            <a:r>
              <a:rPr lang="en-IN" sz="2000" spc="-35" dirty="0">
                <a:latin typeface="Arial" pitchFamily="34" charset="0"/>
                <a:cs typeface="Arial" pitchFamily="34" charset="0"/>
              </a:rPr>
              <a:t>by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using </a:t>
            </a:r>
            <a:r>
              <a:rPr lang="en-IN" sz="2000" spc="-20" dirty="0" smtClean="0">
                <a:latin typeface="Arial" pitchFamily="34" charset="0"/>
                <a:cs typeface="Arial" pitchFamily="34" charset="0"/>
              </a:rPr>
              <a:t>ready-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made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program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packages that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provide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easy-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to-use menu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graphics-based</a:t>
            </a:r>
            <a:r>
              <a:rPr lang="en-IN" sz="2000" spc="-55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interfaces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363538" marR="5080" indent="-363538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363538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An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example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is the user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of a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tax package that 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stores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a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variety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of personal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financial data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for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tax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purposes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of </a:t>
            </a: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5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9525" lvl="1" indent="-363538">
              <a:lnSpc>
                <a:spcPct val="150000"/>
              </a:lnSpc>
              <a:buSzPct val="145312"/>
              <a:tabLst>
                <a:tab pos="444500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Tool Developers</a:t>
            </a:r>
          </a:p>
          <a:p>
            <a:pPr marL="444500" marR="5080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363538" algn="l"/>
              </a:tabLst>
            </a:pPr>
            <a:r>
              <a:rPr lang="en-IN" sz="2000" spc="-55" dirty="0">
                <a:latin typeface="Arial" pitchFamily="34" charset="0"/>
                <a:cs typeface="Arial" pitchFamily="34" charset="0"/>
              </a:rPr>
              <a:t>Tools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are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optional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packages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that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are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often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purchased</a:t>
            </a:r>
            <a:r>
              <a:rPr lang="en-IN" sz="2000" spc="-35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separately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444500" marR="5080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363538" algn="l"/>
              </a:tabLst>
            </a:pPr>
            <a:r>
              <a:rPr lang="en-IN" sz="2000" spc="-5" dirty="0">
                <a:latin typeface="Arial" pitchFamily="34" charset="0"/>
                <a:cs typeface="Arial" pitchFamily="34" charset="0"/>
              </a:rPr>
              <a:t>Include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packages for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database design,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performance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monitoring,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natural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language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graphical interfaces, prototyping,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simulation,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test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data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generation</a:t>
            </a:r>
          </a:p>
          <a:p>
            <a:pPr marL="0" marR="9525" lvl="1" indent="-363538">
              <a:lnSpc>
                <a:spcPct val="150000"/>
              </a:lnSpc>
              <a:buSzPct val="145312"/>
              <a:tabLst>
                <a:tab pos="444500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Operators and Maintenance Personnel</a:t>
            </a:r>
          </a:p>
          <a:p>
            <a:pPr marL="444500" marR="5080" indent="-444500" algn="just">
              <a:lnSpc>
                <a:spcPct val="150000"/>
              </a:lnSpc>
              <a:buSzPct val="100000"/>
              <a:buFont typeface="Arial" pitchFamily="34" charset="0"/>
              <a:buChar char="•"/>
              <a:tabLst>
                <a:tab pos="363538" algn="l"/>
              </a:tabLst>
            </a:pPr>
            <a:r>
              <a:rPr lang="en-IN" sz="2000" spc="-20" dirty="0">
                <a:latin typeface="Arial" pitchFamily="34" charset="0"/>
                <a:cs typeface="Arial" pitchFamily="34" charset="0"/>
              </a:rPr>
              <a:t>System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administration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personnel </a:t>
            </a:r>
            <a:r>
              <a:rPr lang="en-IN" sz="2000" spc="-20" dirty="0">
                <a:latin typeface="Arial" pitchFamily="34" charset="0"/>
                <a:cs typeface="Arial" pitchFamily="34" charset="0"/>
              </a:rPr>
              <a:t>who </a:t>
            </a:r>
            <a:r>
              <a:rPr lang="en-IN" sz="2000" spc="-25" dirty="0">
                <a:latin typeface="Arial" pitchFamily="34" charset="0"/>
                <a:cs typeface="Arial" pitchFamily="34" charset="0"/>
              </a:rPr>
              <a:t>are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responsible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for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 actual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running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maintenance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of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 </a:t>
            </a:r>
            <a:r>
              <a:rPr lang="en-IN" sz="2000" spc="-30" dirty="0">
                <a:latin typeface="Arial" pitchFamily="34" charset="0"/>
                <a:cs typeface="Arial" pitchFamily="34" charset="0"/>
              </a:rPr>
              <a:t>hardware </a:t>
            </a:r>
            <a:r>
              <a:rPr lang="en-IN" sz="2000" spc="-5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IN" sz="2000" spc="-15" dirty="0" smtClean="0">
                <a:latin typeface="Arial" pitchFamily="34" charset="0"/>
                <a:cs typeface="Arial" pitchFamily="34" charset="0"/>
              </a:rPr>
              <a:t>software </a:t>
            </a:r>
            <a:r>
              <a:rPr lang="en-IN" sz="2000" spc="-10" dirty="0" smtClean="0">
                <a:latin typeface="Arial" pitchFamily="34" charset="0"/>
                <a:cs typeface="Arial" pitchFamily="34" charset="0"/>
              </a:rPr>
              <a:t>environment 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for </a:t>
            </a:r>
            <a:r>
              <a:rPr lang="en-IN" sz="2000" spc="-5" dirty="0">
                <a:latin typeface="Arial" pitchFamily="34" charset="0"/>
                <a:cs typeface="Arial" pitchFamily="34" charset="0"/>
              </a:rPr>
              <a:t>the database</a:t>
            </a:r>
            <a:r>
              <a:rPr lang="en-IN" sz="2000" spc="-1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spc="-15" dirty="0">
                <a:latin typeface="Arial" pitchFamily="34" charset="0"/>
                <a:cs typeface="Arial" pitchFamily="34" charset="0"/>
              </a:rPr>
              <a:t>system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342900" marR="9525" lvl="1" indent="-342900" algn="just">
              <a:lnSpc>
                <a:spcPct val="150000"/>
              </a:lnSpc>
              <a:buSzPct val="145312"/>
              <a:buFont typeface="Arial" panose="020B0604020202020204" pitchFamily="34" charset="0"/>
              <a:buChar char="•"/>
              <a:tabLst>
                <a:tab pos="444500" algn="l"/>
              </a:tabLst>
            </a:pPr>
            <a:endParaRPr lang="en-IN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of </a:t>
            </a: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5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90872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Summary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03588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 (DB)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 Management System (DBMS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Applications of 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DBMS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Characteristics of DBMS</a:t>
            </a:r>
            <a:endParaRPr lang="en-IN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Metadata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Very Large </a:t>
            </a:r>
            <a:r>
              <a:rPr lang="en-US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endParaRPr lang="en-IN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DBMS </a:t>
            </a:r>
            <a:r>
              <a:rPr lang="en-IN" sz="2000" dirty="0" err="1">
                <a:latin typeface="Arial" panose="020B0604020202020204" pitchFamily="34" charset="0"/>
                <a:cs typeface="Arial" pitchFamily="34" charset="0"/>
              </a:rPr>
              <a:t>vs</a:t>
            </a: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 File 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Users of </a:t>
            </a:r>
            <a:r>
              <a:rPr lang="en-US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DBMS, Characteristics of DBMS, DBMS vs File Systems, need for DBMS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34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90872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03588"/>
            <a:ext cx="9144000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person has to create a database for a university so that the university will have all its data in the database. Identify the data to be added for the university database.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Maintaining a customer database is an important way to keep up-to-date on customer information and data. An online shopping system maintains all its customer data in a database. List out the data available in such a customer database.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An employer has to maintain his employee details in a database. He informs one of his employee to create a database to store the details of all the employees. Organize the data for the employee database.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DBMS, Characteristics of DBMS, DBMS vs File Systems, need for DBMS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47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60" y="2891609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Session 2 - 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DBMS Architecture, Data Models – Introduction, Benefits, and Phases</a:t>
            </a:r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67544" y="184448"/>
            <a:ext cx="8172908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6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4663</TotalTime>
  <Words>1843</Words>
  <Application>Microsoft Office PowerPoint</Application>
  <PresentationFormat>On-screen Show (4:3)</PresentationFormat>
  <Paragraphs>336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ＭＳ Ｐゴシック</vt:lpstr>
      <vt:lpstr>Arial</vt:lpstr>
      <vt:lpstr>Calibri</vt:lpstr>
      <vt:lpstr>Cambria</vt:lpstr>
      <vt:lpstr>Wingdings</vt:lpstr>
      <vt:lpstr>Office Theme</vt:lpstr>
      <vt:lpstr>Title of Topic: Introduction to DBMS, Characteristics of DBMS, DBMS vs File Systems, need for DBMS Course Code: 23IT201 Course Title: Database Management Systems Session Number: 1  Academic Year: 2024 - 2025 (Even Sem)</vt:lpstr>
      <vt:lpstr>1. Introduction to DBMS, Characteristics of DBMS, DBMS vs File Systems, need for DBMS. 2. Three Level DBMS Architecture 3. Data Models Introduction, Benefits, and Phases 4. ER Diagrams – Symbols, Components, Relationships, Weak entities, Attributes, Cardinality. 5. Relational Algebra, Domain Relational Calculus, Tuple Relational 6.Calculus Keys - primary Key, Foreign Key.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18CS056 – THEORY OF COMPUTATION</dc:title>
  <dc:creator>Rose</dc:creator>
  <cp:lastModifiedBy>user</cp:lastModifiedBy>
  <cp:revision>697</cp:revision>
  <dcterms:created xsi:type="dcterms:W3CDTF">2020-05-18T09:43:19Z</dcterms:created>
  <dcterms:modified xsi:type="dcterms:W3CDTF">2025-01-11T04:46:15Z</dcterms:modified>
</cp:coreProperties>
</file>