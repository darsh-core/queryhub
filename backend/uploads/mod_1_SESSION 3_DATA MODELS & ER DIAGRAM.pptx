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410" r:id="rId2"/>
    <p:sldId id="258" r:id="rId3"/>
    <p:sldId id="413" r:id="rId4"/>
    <p:sldId id="483" r:id="rId5"/>
    <p:sldId id="531" r:id="rId6"/>
    <p:sldId id="532" r:id="rId7"/>
    <p:sldId id="579" r:id="rId8"/>
    <p:sldId id="580" r:id="rId9"/>
    <p:sldId id="581" r:id="rId10"/>
    <p:sldId id="582" r:id="rId11"/>
    <p:sldId id="583" r:id="rId12"/>
    <p:sldId id="584" r:id="rId13"/>
    <p:sldId id="585" r:id="rId14"/>
    <p:sldId id="586" r:id="rId15"/>
    <p:sldId id="587" r:id="rId16"/>
    <p:sldId id="588" r:id="rId17"/>
    <p:sldId id="649" r:id="rId18"/>
    <p:sldId id="650" r:id="rId19"/>
    <p:sldId id="651" r:id="rId20"/>
    <p:sldId id="589" r:id="rId21"/>
    <p:sldId id="547" r:id="rId22"/>
    <p:sldId id="591" r:id="rId23"/>
    <p:sldId id="590" r:id="rId24"/>
    <p:sldId id="551" r:id="rId25"/>
    <p:sldId id="592" r:id="rId26"/>
    <p:sldId id="553" r:id="rId27"/>
    <p:sldId id="593" r:id="rId28"/>
    <p:sldId id="594" r:id="rId29"/>
    <p:sldId id="595" r:id="rId30"/>
    <p:sldId id="596" r:id="rId31"/>
    <p:sldId id="597" r:id="rId32"/>
    <p:sldId id="598" r:id="rId33"/>
    <p:sldId id="599" r:id="rId34"/>
    <p:sldId id="600" r:id="rId35"/>
    <p:sldId id="601" r:id="rId36"/>
    <p:sldId id="602" r:id="rId37"/>
    <p:sldId id="603" r:id="rId38"/>
    <p:sldId id="604" r:id="rId39"/>
    <p:sldId id="605" r:id="rId40"/>
    <p:sldId id="606" r:id="rId41"/>
    <p:sldId id="608" r:id="rId42"/>
    <p:sldId id="609" r:id="rId43"/>
    <p:sldId id="610" r:id="rId44"/>
    <p:sldId id="611" r:id="rId45"/>
    <p:sldId id="612" r:id="rId46"/>
    <p:sldId id="614" r:id="rId47"/>
    <p:sldId id="630" r:id="rId48"/>
    <p:sldId id="631" r:id="rId49"/>
    <p:sldId id="632" r:id="rId50"/>
    <p:sldId id="633" r:id="rId51"/>
    <p:sldId id="634" r:id="rId52"/>
    <p:sldId id="635" r:id="rId53"/>
    <p:sldId id="636" r:id="rId54"/>
    <p:sldId id="637" r:id="rId55"/>
    <p:sldId id="638" r:id="rId56"/>
    <p:sldId id="639" r:id="rId57"/>
    <p:sldId id="640" r:id="rId58"/>
    <p:sldId id="641" r:id="rId59"/>
    <p:sldId id="642" r:id="rId60"/>
    <p:sldId id="643" r:id="rId61"/>
    <p:sldId id="644" r:id="rId62"/>
    <p:sldId id="613" r:id="rId63"/>
    <p:sldId id="528" r:id="rId64"/>
    <p:sldId id="647" r:id="rId65"/>
    <p:sldId id="648" r:id="rId66"/>
    <p:sldId id="411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824" autoAdjust="0"/>
    <p:restoredTop sz="87971" autoAdjust="0"/>
  </p:normalViewPr>
  <p:slideViewPr>
    <p:cSldViewPr>
      <p:cViewPr varScale="1">
        <p:scale>
          <a:sx n="73" d="100"/>
          <a:sy n="73" d="100"/>
        </p:scale>
        <p:origin x="96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0B9AE-A6FD-4340-8796-B3DD08C49BFA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DDBCF-62DD-41D3-BF56-2DCC1369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6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78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DDBCF-62DD-41D3-BF56-2DCC136966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45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2879"/>
            <a:fld id="{7C42E875-4025-414E-A774-B7AFB03EF649}" type="slidenum">
              <a:rPr lang="en-US" smtClean="0">
                <a:ea typeface="ＭＳ Ｐゴシック" pitchFamily="34" charset="-128"/>
              </a:rPr>
              <a:pPr defTabSz="912879"/>
              <a:t>18</a:t>
            </a:fld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158" y="4344025"/>
            <a:ext cx="5031685" cy="4112926"/>
          </a:xfrm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1A8E1-26E0-49DB-AC7E-2EF92CC601DA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0C967-BB2F-4E2B-BD5F-30068A8ED89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7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7700-F1ED-428F-B552-7FEC0EA1E817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98B2-5E35-4EE6-89C9-61C3AEB0E92F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58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7B0B-6576-4AE5-8659-D0607FB34AE6}" type="datetime1">
              <a:rPr lang="en-IN" smtClean="0"/>
              <a:t>11-01-2025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7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EBDC-738C-4FFA-8183-317ADFC99BC3}" type="datetime1">
              <a:rPr lang="en-IN" smtClean="0"/>
              <a:t>11-01-2025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6F79-9F22-4D00-B288-E7577EAC9FBB}" type="datetime1">
              <a:rPr lang="en-IN" smtClean="0"/>
              <a:t>11-01-2025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3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8742-CBA0-479C-AE2A-0007ABD6031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3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5703-5067-4702-B21A-A755B6F0527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EBF32-5D0C-4656-BF58-4A5C319433D1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3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689C9-C399-4532-B87C-B30B3FFA1D3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4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8F396-2623-48A1-A9CB-3F7AFE6DE5C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wpch3nAsZ8OBdMD5UQsJocxcNtnFAeNc/view?usp=sharing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rawmax.com/online/new?lang=e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vntv8fnLTKr4TzgqdpXubEt3PbSk7JHk/view?usp=sharing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6SqIBsYAUPSbmv9BzES5RZM1ANVnuP8F/view?usp=sharing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IeeIJEvCPBj-ZEMu3aWbZvmHQk6fmLnF/view?usp=shar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XswsfOwQ8fwP9nLohTy5TXffYBK_co-2/view?usp=sharing" TargetMode="Externa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00808"/>
            <a:ext cx="9144000" cy="34563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Title of Topic: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 – Introduction, Benefits, and Phases, ER Diagrams – Symbols, Components, Relationships, Weak entities, Attributes, </a:t>
            </a:r>
            <a:r>
              <a:rPr lang="en-US" sz="22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</a:t>
            </a:r>
            <a:br>
              <a:rPr lang="en-US" sz="22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Code: 23IT201</a:t>
            </a:r>
            <a:r>
              <a:rPr lang="en-IN" sz="2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Course Title: Database Management Systems</a:t>
            </a:r>
            <a:b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Academic Year: 2024 - 2025 (Even </a:t>
            </a:r>
            <a:r>
              <a:rPr lang="en-IN" sz="2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25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0105"/>
            <a:ext cx="9131374" cy="600913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tabLst>
                <a:tab pos="1527175" algn="l"/>
              </a:tabLst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1. Introduction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 DBMS, Characteristics of DBMS, DBMS vs File Systems, need for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DBMS.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2. Three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Level DBMS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Architecture.</a:t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IN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Models, Introduction, Benefits, and Phases. ER Diagrams – Symbols, Components, Relationships, Weak entities, Attributes, Cardinality.</a:t>
            </a:r>
            <a:br>
              <a:rPr lang="en-IN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4.Relational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Algebra, Domain Relational Calculus, Tuple Relational Calculus,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5. Keys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- primary Key, Foreign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1792" y="645854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560" y="32846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Module 1 – </a:t>
            </a: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1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1556792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Topics to be Covered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499956"/>
            <a:ext cx="9144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Types of 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Physical 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Object Based 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Entity Relationship (ER)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Object Oriented (OO)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Record Based Data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Models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0" y="8058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 – Introduction, Benefits, and Phases, ER Diagrams – Symbols, Components, Relationships, Weak entities, Attributes, Cardinality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08512" y="2492896"/>
            <a:ext cx="4535488" cy="2343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Hierarchical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Network Data Model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Relational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ER Model to Relational Model Mapping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33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Define how the logical structure of a database is modelled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Define how data is connected to each other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Define how they are processed and stored in 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Planning the structure of database is called 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Helps to put the real world requirements into a design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Collection of conceptual tools for describing data, data relationships, data semantics and consistency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Helps to highlight any drawbacks of the plan and correct it at the design stage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itself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12626" y="5229200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 Models:                                          </a:t>
            </a:r>
          </a:p>
        </p:txBody>
      </p:sp>
      <p:pic>
        <p:nvPicPr>
          <p:cNvPr id="16" name="Picture 15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157192"/>
            <a:ext cx="576064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7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5" y="1124745"/>
            <a:ext cx="8144569" cy="44644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-12626" y="5899338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Tools to draw Data Models (ER Diagram):  </a:t>
            </a:r>
          </a:p>
        </p:txBody>
      </p:sp>
      <p:pic>
        <p:nvPicPr>
          <p:cNvPr id="11" name="Picture 10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543" y="5899338"/>
            <a:ext cx="571855" cy="489820"/>
          </a:xfrm>
          <a:prstGeom prst="rect">
            <a:avLst/>
          </a:prstGeom>
        </p:spPr>
      </p:pic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Data Models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18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Describe how data are stored, scattered and ordered in computer memory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Describe how </a:t>
            </a:r>
            <a:r>
              <a:rPr lang="en-IN" sz="2000" dirty="0" smtClean="0">
                <a:latin typeface="Arial" panose="020B0604020202020204" pitchFamily="34" charset="0"/>
                <a:cs typeface="Arial" pitchFamily="34" charset="0"/>
              </a:rPr>
              <a:t>data would be retrieved from memory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Represents the data at data layer or internal layer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Represents each table, their columns and specifications, constraints like primary key, foreign key, etc…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Basically represents how each tables are built and related to each other in DB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Has tables and its specifications - Table names and their columns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Has foreign keys - Used to represent the relationship between the tables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Have de-normalized structure based on the user requirement  </a:t>
            </a: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Dependent on the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RDBMS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-12626" y="5971346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Physical Data Models: </a:t>
            </a:r>
          </a:p>
        </p:txBody>
      </p:sp>
      <p:pic>
        <p:nvPicPr>
          <p:cNvPr id="19" name="Picture 18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6021288"/>
            <a:ext cx="576064" cy="491839"/>
          </a:xfrm>
          <a:prstGeom prst="rect">
            <a:avLst/>
          </a:prstGeom>
        </p:spPr>
      </p:pic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Data 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59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Representation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of physical data model diagram may be different, though it contains same information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Depends on the user/designer how the diagram and the RDBMS servers are specified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Data 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729" y="2422984"/>
            <a:ext cx="4824537" cy="165618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387" y="4221846"/>
            <a:ext cx="5991225" cy="203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8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326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Designed using the entities in the real world, attributes of each entity and their relationship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Picks up each thing/object in the real world which is involved in the requirement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Types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Entity Relationship Data Model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Object Oriented Data Model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Based Data 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2626" y="4300156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Object Based Data Models: </a:t>
            </a:r>
          </a:p>
        </p:txBody>
      </p:sp>
      <p:pic>
        <p:nvPicPr>
          <p:cNvPr id="17" name="Picture 16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4305313"/>
            <a:ext cx="576064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6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Represents the entities, attributes and their relationship in the form of picture to make the developer understand the system better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Graphical representation of real world objects with their attributes and relationship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Makes the system easily understandable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Considered as a top down approach of designing a requirement  </a:t>
            </a: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Developed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to facilitate database design by allowing specification of an enterprise schema that represents the overall logical structure of a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database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91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Very useful in mapping the meanings and interactions of real-world enterprises onto a conceptual schema and because of this many database-design tools draw on concepts from the ER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Employs three basic concepts such as entity sets, relationship sets, and attributes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Has an associated diagrammatic representation, the ER diagram, which can express the overall logical structure of a database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graphically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Entity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An object that exists and is distinguishable from other objects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Entity is a real or abstract object (depends on requirement)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Maybe Person, Place or Building – identifier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Part of an enterprise that is of interest.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E.g., Person, Company, Event,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Plant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62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Entity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Set of entities of the same type that share the same properties. E.g., Set of all Persons, Companies, Trees, Holidays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Student entity set might represent the set of all students in the university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An entity is represented by a set of attributes; i.e., descriptive properties possessed by all members of an entity </a:t>
            </a:r>
            <a:r>
              <a:rPr 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E.g., instructor = (ID, name, street, city, salary)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            course= (</a:t>
            </a:r>
            <a:r>
              <a:rPr 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course_id</a:t>
            </a: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title, credits</a:t>
            </a:r>
            <a:r>
              <a:rPr 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 subset of the attributes form a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primary key </a:t>
            </a: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of the entity set; i.e., uniquely identifying each member of the </a:t>
            </a:r>
            <a:r>
              <a:rPr 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set</a:t>
            </a:r>
            <a:endParaRPr 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3284984"/>
            <a:ext cx="3240360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7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Relationship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 relationship is an association among several entities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E.g., A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relationship advisor can be defined that associates instructor Katz with student Shankar. This relationship specifies that Katz is an advisor to student Shankar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 relationship set is a set of relationships of the same type. Formally, it is a mathematical relation on n ≥ 2 (possibly non distinct) entity sets. If E1, E2,..., </a:t>
            </a:r>
            <a:r>
              <a:rPr lang="en-IN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En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are entity sets, then a relationship set R is a subset of</a:t>
            </a:r>
          </a:p>
          <a:p>
            <a:pPr algn="just">
              <a:lnSpc>
                <a:spcPct val="150000"/>
              </a:lnSpc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     	{(e</a:t>
            </a:r>
            <a:r>
              <a:rPr lang="en-US" altLang="en-US" sz="2000" baseline="-25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, e</a:t>
            </a:r>
            <a:r>
              <a:rPr lang="en-US" altLang="en-US" sz="2000" baseline="-25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, …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e</a:t>
            </a:r>
            <a:r>
              <a:rPr lang="en-US" altLang="en-US" sz="2000" baseline="-25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)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 | 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e</a:t>
            </a:r>
            <a:r>
              <a:rPr lang="en-US" altLang="en-US" sz="2000" baseline="-25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   E</a:t>
            </a:r>
            <a:r>
              <a:rPr lang="en-US" altLang="en-US" sz="2000" baseline="-25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, e</a:t>
            </a:r>
            <a:r>
              <a:rPr lang="en-US" altLang="en-US" sz="2000" baseline="-25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   E</a:t>
            </a:r>
            <a:r>
              <a:rPr lang="en-US" altLang="en-US" sz="2000" baseline="-25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, …,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e</a:t>
            </a:r>
            <a:r>
              <a:rPr lang="en-US" altLang="en-US" sz="2000" baseline="-25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   </a:t>
            </a:r>
            <a:r>
              <a:rPr lang="en-US" altLang="en-US" sz="2000" dirty="0" err="1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E</a:t>
            </a:r>
            <a:r>
              <a:rPr lang="en-US" altLang="en-US" sz="2000" baseline="-25000" dirty="0" err="1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}; where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(e</a:t>
            </a:r>
            <a:r>
              <a:rPr lang="en-US" altLang="en-US" sz="2000" baseline="-25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, e</a:t>
            </a:r>
            <a:r>
              <a:rPr lang="en-US" altLang="en-US" sz="2000" baseline="-25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, …,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e</a:t>
            </a:r>
            <a:r>
              <a:rPr lang="en-US" altLang="en-US" sz="2000" baseline="-25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) is a </a:t>
            </a:r>
            <a:endParaRPr lang="en-US" altLang="en-US" sz="20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  <a:sym typeface="Symbol" pitchFamily="18" charset="2"/>
            </a:endParaRPr>
          </a:p>
          <a:p>
            <a:pPr algn="just">
              <a:lnSpc>
                <a:spcPct val="150000"/>
              </a:lnSpc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  <a:sym typeface="Symbol" pitchFamily="18" charset="2"/>
              </a:rPr>
              <a:t>    relationship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An attribute can also be associated with a relationship set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68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Relationship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For instance, the advisor relationship set between entity sets instructor and student may have the attribute date which tracks when the student started being associated with the advisor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520" y="2996952"/>
            <a:ext cx="3522024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67944" y="3010222"/>
            <a:ext cx="4815644" cy="229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310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Relationship Types</a:t>
            </a:r>
          </a:p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Relationships are associations or connections that exist between entities and may be looked at as mappings between two or more entity sets</a:t>
            </a:r>
          </a:p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Although we allow relationships among any number of entity sets, the most common cases are binary relationships between two entity sets</a:t>
            </a:r>
          </a:p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Mapping two or more entity sets. E.g., Player and Match</a:t>
            </a:r>
            <a:endParaRPr lang="en-IN" sz="2000" spc="6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spc="6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000" spc="85" dirty="0">
                <a:latin typeface="Arial" panose="020B0604020202020204" pitchFamily="34" charset="0"/>
                <a:cs typeface="Arial" panose="020B0604020202020204" pitchFamily="34" charset="0"/>
              </a:rPr>
              <a:t>hree</a:t>
            </a:r>
            <a:r>
              <a:rPr lang="en-IN"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60" dirty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r>
              <a:rPr lang="en-IN"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IN"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60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8890" lvl="2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tabLst>
                <a:tab pos="250190" algn="l"/>
                <a:tab pos="250825" algn="l"/>
              </a:tabLst>
            </a:pPr>
            <a:r>
              <a:rPr lang="en-IN" sz="2000" spc="25" dirty="0"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lang="en-IN"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40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8890" lvl="2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tabLst>
                <a:tab pos="250190" algn="l"/>
                <a:tab pos="250825" algn="l"/>
              </a:tabLst>
            </a:pPr>
            <a:r>
              <a:rPr lang="en-IN" sz="2000" spc="35" dirty="0">
                <a:latin typeface="Arial" panose="020B0604020202020204" pitchFamily="34" charset="0"/>
                <a:cs typeface="Arial" panose="020B0604020202020204" pitchFamily="34" charset="0"/>
              </a:rPr>
              <a:t>Recursive</a:t>
            </a:r>
            <a:r>
              <a:rPr lang="en-IN"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40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8890" lvl="2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  <a:tabLst>
                <a:tab pos="250190" algn="l"/>
                <a:tab pos="250825" algn="l"/>
              </a:tabLst>
            </a:pPr>
            <a:r>
              <a:rPr lang="en-IN" sz="2000" spc="65" dirty="0">
                <a:latin typeface="Arial" panose="020B0604020202020204" pitchFamily="34" charset="0"/>
                <a:cs typeface="Arial" panose="020B0604020202020204" pitchFamily="34" charset="0"/>
              </a:rPr>
              <a:t>Ternary</a:t>
            </a:r>
            <a:r>
              <a:rPr lang="en-IN"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40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32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Attributes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For each attribute, there is a set of permitted values, called the domain, or value set, of that attribute. E.g., Domain of attribute semester might be strings from the set {Fall, Winter, Spring, Summer}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Attribute types: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Simple or composite attributes.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Single-valued or multivalued attributes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Stored or Derived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Required or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Optional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Simple: Attributes not sub divided. E.g., Country, Place of Birth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Composite: Attributes that are sub divided. E.g., Dob, Name, </a:t>
            </a:r>
            <a:r>
              <a:rPr lang="en-IN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Single Valued: Many attributes have a single value. E.g.,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Regno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86554" y="3068960"/>
            <a:ext cx="4121950" cy="1916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7523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3528" y="1005643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Attribute types: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or composite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attributes.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Single-valued or multivalued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multivalued attribute: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phone_numbers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Derived attributes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be computed from other attributes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 age, given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date_of_birth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-  </a:t>
            </a:r>
            <a:r>
              <a:rPr lang="en-I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or Derived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-  </a:t>
            </a:r>
            <a:r>
              <a:rPr lang="en-IN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 or Optional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79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 smtClean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Attributes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99"/>
                </a:solidFill>
                <a:ea typeface="ＭＳ Ｐゴシック" pitchFamily="34" charset="-128"/>
              </a:rPr>
              <a:t>Simple</a:t>
            </a:r>
            <a:r>
              <a:rPr lang="en-US" sz="2000" dirty="0">
                <a:ea typeface="ＭＳ Ｐゴシック" pitchFamily="34" charset="-128"/>
              </a:rPr>
              <a:t> or </a:t>
            </a:r>
            <a:r>
              <a:rPr lang="en-US" sz="2000" b="1" dirty="0" smtClean="0">
                <a:solidFill>
                  <a:srgbClr val="000099"/>
                </a:solidFill>
                <a:ea typeface="ＭＳ Ｐゴシック" pitchFamily="34" charset="-128"/>
              </a:rPr>
              <a:t>composite </a:t>
            </a:r>
            <a:endParaRPr lang="en-US" altLang="en-US" sz="2000" b="1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Multi-valued: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Some attributes have multiple values. E.g., Umpire - TV,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Refree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Reserve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Umpire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Single Valued : </a:t>
            </a:r>
            <a:r>
              <a:rPr lang="en-US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regno</a:t>
            </a:r>
            <a:endParaRPr lang="en-US" alt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Stored :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Attribute values that are related. E.g., Players Career, Batting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Derived: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Value for this type of attribute can be derived from the values of other related attributes or entities. E.g.,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Age derived from DOB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Required: Necessary. E.g., match ID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Optional: It may or may not be necessary. E.g.,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attribute takes a null value when an entity does not have a value for </a:t>
            </a:r>
            <a:r>
              <a:rPr lang="en-IN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3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>
          <a:xfrm>
            <a:off x="752476" y="104775"/>
            <a:ext cx="8391525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0070C0"/>
                </a:solidFill>
                <a:ea typeface="+mj-ea"/>
              </a:rPr>
              <a:t>Composite Attributes</a:t>
            </a:r>
          </a:p>
        </p:txBody>
      </p:sp>
      <p:pic>
        <p:nvPicPr>
          <p:cNvPr id="2150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5164" y="1330327"/>
            <a:ext cx="8093075" cy="255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80657" y="4161878"/>
            <a:ext cx="73763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altLang="en-US" sz="2400" b="1" dirty="0" smtClean="0"/>
              <a:t>Simple : attributes not sub divided </a:t>
            </a:r>
            <a:r>
              <a:rPr lang="en-IN" altLang="en-US" sz="2400" b="1" dirty="0" err="1" smtClean="0"/>
              <a:t>Eg</a:t>
            </a:r>
            <a:r>
              <a:rPr lang="en-IN" altLang="en-US" sz="2400" b="1" dirty="0" smtClean="0"/>
              <a:t>: country, place of birth</a:t>
            </a:r>
          </a:p>
          <a:p>
            <a:r>
              <a:rPr lang="en-IN" altLang="en-US" sz="2400" b="1" dirty="0" smtClean="0"/>
              <a:t>Composite : attributes that are sub divided </a:t>
            </a:r>
            <a:r>
              <a:rPr lang="en-IN" altLang="en-US" sz="2400" b="1" dirty="0" err="1" smtClean="0"/>
              <a:t>Eg</a:t>
            </a:r>
            <a:r>
              <a:rPr lang="en-IN" altLang="en-US" sz="2400" b="1" dirty="0" smtClean="0"/>
              <a:t>: </a:t>
            </a:r>
            <a:r>
              <a:rPr lang="en-IN" altLang="en-US" sz="2400" b="1" dirty="0" err="1" smtClean="0"/>
              <a:t>dob,Name</a:t>
            </a:r>
            <a:endParaRPr lang="en-I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0652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7">
            <a:extLst>
              <a:ext uri="{FF2B5EF4-FFF2-40B4-BE49-F238E27FC236}">
                <a16:creationId xmlns:a16="http://schemas.microsoft.com/office/drawing/2014/main" id="{8E6CAF0D-E7B1-4CB6-BB58-D93ED89C8B2E}"/>
              </a:ext>
            </a:extLst>
          </p:cNvPr>
          <p:cNvSpPr/>
          <p:nvPr/>
        </p:nvSpPr>
        <p:spPr>
          <a:xfrm>
            <a:off x="1664991" y="836141"/>
            <a:ext cx="4212241" cy="2401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F2416D8-0C35-492D-8004-F5E52FED506A}"/>
              </a:ext>
            </a:extLst>
          </p:cNvPr>
          <p:cNvSpPr/>
          <p:nvPr/>
        </p:nvSpPr>
        <p:spPr>
          <a:xfrm>
            <a:off x="1735746" y="3356640"/>
            <a:ext cx="4212241" cy="26095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52476" y="104775"/>
            <a:ext cx="8391525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solidFill>
                  <a:srgbClr val="0070C0"/>
                </a:solidFill>
                <a:ea typeface="+mj-ea"/>
              </a:rPr>
              <a:t>Composite Attributes</a:t>
            </a:r>
          </a:p>
        </p:txBody>
      </p:sp>
    </p:spTree>
    <p:extLst>
      <p:ext uri="{BB962C8B-B14F-4D97-AF65-F5344CB8AC3E}">
        <p14:creationId xmlns:p14="http://schemas.microsoft.com/office/powerpoint/2010/main" val="201980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Mapping Cardinality Constraints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Mapping Cardinality or Cardinality Ratios e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xpress the number of entities to which another entity can be associated via a relationship set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Maximum number of relationship instances that an entity can participate in. E.g., Employee and Office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Most useful in describing binary relationship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For a binary relationship set the mapping cardinality must be one of the following types: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2" descr="Image result for one to one relationship employee and office">
            <a:extLst>
              <a:ext uri="{FF2B5EF4-FFF2-40B4-BE49-F238E27FC236}">
                <a16:creationId xmlns:a16="http://schemas.microsoft.com/office/drawing/2014/main" id="{85C371A2-8A0F-4F2A-A805-60111E47A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950" y="4717988"/>
            <a:ext cx="3690099" cy="1519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67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Mapping Cardinality Constraints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One to One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en-US" sz="20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Many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to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One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38235" r="66721" b="30882"/>
          <a:stretch/>
        </p:blipFill>
        <p:spPr bwMode="auto">
          <a:xfrm>
            <a:off x="6100537" y="2149116"/>
            <a:ext cx="3007967" cy="1855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456607"/>
            <a:ext cx="3600400" cy="1700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75109" y="1628800"/>
            <a:ext cx="345088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2" indent="-342900"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One to Many</a:t>
            </a:r>
          </a:p>
          <a:p>
            <a:endParaRPr lang="en-US" altLang="en-US" sz="20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en-US" sz="20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en-US" sz="20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en-US" sz="20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Many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to Many </a:t>
            </a:r>
            <a:endParaRPr lang="en-IN" sz="2000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9" t="39522" r="52252" b="44718"/>
          <a:stretch/>
        </p:blipFill>
        <p:spPr bwMode="auto">
          <a:xfrm>
            <a:off x="6084168" y="4509120"/>
            <a:ext cx="3041830" cy="955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5" t="44853" r="50000" b="42146"/>
          <a:stretch/>
        </p:blipFill>
        <p:spPr bwMode="auto">
          <a:xfrm>
            <a:off x="1369968" y="2090713"/>
            <a:ext cx="3634080" cy="690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88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326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Start by identifying those entity sets that should be included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Choose the appropriate attributes for entity sets. E.g., instructor entity set, we will include the attributes ID, name,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name, and salary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relationship sets among the various entities are formed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These relationship sets may result in a situation where attributes in the various entity sets are redundant and need to be removed from the original entity sets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9" y="4247713"/>
            <a:ext cx="4832973" cy="2006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971" y="4343119"/>
            <a:ext cx="4311027" cy="203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4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56" y="1171939"/>
            <a:ext cx="7992888" cy="254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836789"/>
            <a:ext cx="7886700" cy="1680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819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-18002" y="1052736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One-to-Many Relationship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 smtClean="0">
              <a:latin typeface="Arial" panose="020B0604020202020204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Many-to-One Relationship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b="1" dirty="0" smtClean="0">
              <a:latin typeface="Arial" panose="020B0604020202020204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Many-to-Many Relationship</a:t>
            </a:r>
            <a:endParaRPr lang="en-IN" sz="2000" b="1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b="1" dirty="0">
              <a:latin typeface="Arial" panose="020B0604020202020204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000" b="1" dirty="0" smtClean="0">
              <a:latin typeface="Arial" panose="020B0604020202020204" pitchFamily="34" charset="0"/>
              <a:cs typeface="Arial" pitchFamily="34" charset="0"/>
            </a:endParaRPr>
          </a:p>
        </p:txBody>
      </p:sp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59" b="44698"/>
          <a:stretch>
            <a:fillRect/>
          </a:stretch>
        </p:blipFill>
        <p:spPr bwMode="auto">
          <a:xfrm>
            <a:off x="198537" y="1632281"/>
            <a:ext cx="3581375" cy="860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37" y="4365104"/>
            <a:ext cx="3581375" cy="839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2095150"/>
            <a:ext cx="4808308" cy="27020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37" y="2996952"/>
            <a:ext cx="3629025" cy="866775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05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Total Participation </a:t>
            </a: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(indicated by double line)</a:t>
            </a:r>
            <a:endParaRPr lang="en-IN" altLang="en-US" sz="2000" b="1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Arial" panose="020B0604020202020204" pitchFamily="34" charset="0"/>
              </a:rPr>
              <a:t>Every entity in the entity set participates in at least one relationship in the relationship set.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Arial" panose="020B0604020202020204" pitchFamily="34" charset="0"/>
              </a:rPr>
              <a:t>E.g., Participation of student in advisor relation is total - Every student must have an associated instructor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Partial Participation </a:t>
            </a: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(indicated by single line)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Arial" panose="020B0604020202020204" pitchFamily="34" charset="0"/>
              </a:rPr>
              <a:t>Some entities may not participate in any relationship in the relationship set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Arial" panose="020B0604020202020204" pitchFamily="34" charset="0"/>
              </a:rPr>
              <a:t>E.g., Participation of instructor in advisor is partial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74" y="4797152"/>
            <a:ext cx="5832648" cy="70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533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1"/>
          <p:cNvGrpSpPr>
            <a:grpSpLocks/>
          </p:cNvGrpSpPr>
          <p:nvPr/>
        </p:nvGrpSpPr>
        <p:grpSpPr bwMode="auto">
          <a:xfrm>
            <a:off x="107504" y="1052736"/>
            <a:ext cx="8928993" cy="5256585"/>
            <a:chOff x="514350" y="431801"/>
            <a:chExt cx="8326438" cy="5801716"/>
          </a:xfrm>
        </p:grpSpPr>
        <p:pic>
          <p:nvPicPr>
            <p:cNvPr id="12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350" y="431801"/>
              <a:ext cx="8326438" cy="4725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4725" y="5157192"/>
              <a:ext cx="7512050" cy="10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59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796" y="980728"/>
            <a:ext cx="8244407" cy="5345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389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Redundant Attributes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Each instructor has an associated department using a relationship set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inst_dept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and attribute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appears in both entity sets as shown: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instructor, with attributes: 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ID, name,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dept_name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salary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department, with attributes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: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dept_name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building, budget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As it is the primary key for the entity set department, it replicates information present in the relationship and is therefore redundant in the entity set instructor and needs to be removed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When converting back to tables, in some cases the attribute gets reintroduced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32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Weak Entity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Entity set that does not have sufficient attributes to form a primary key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Entity set that has a primary key is termed a strong entity set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Consider a section entity, which is uniquely identified by a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course_id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semester, year, and </a:t>
            </a:r>
            <a:r>
              <a:rPr lang="en-US" altLang="en-US" sz="2000" dirty="0" err="1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sec_id</a:t>
            </a:r>
            <a:endParaRPr lang="en-US" altLang="en-US" sz="2000" dirty="0">
              <a:solidFill>
                <a:srgbClr val="FF0000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Clearly, section entities are related to course entities. Suppose a relationship set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sec_course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is created between entity sets section and course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Here, </a:t>
            </a:r>
            <a:r>
              <a:rPr lang="en-US" altLang="en-US" sz="2000" dirty="0" err="1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sec_course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is redundant, since section already has an attribute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which identifies the course with which the section is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related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One option to deal with this redundancy is to get rid of the relationship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sec_course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; however, by doing so the relationship between section and course becomes implicit in an attribute, which is not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desirable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23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Weak Entity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An alternative way to deal with this redundancy is to not store the attribute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in the section entity and to only store the remaining attributes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section_id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 year, and semester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entity set section does not have enough attributes to identify a particular section entity uniquely; although each section entity is distinct, sections for different courses may share the same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section_id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year, and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semester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To deal with this problem, the relationship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sec_course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is treated as a special relationship that provides extra information, in this case, the </a:t>
            </a:r>
            <a:r>
              <a:rPr lang="en-US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required to identify section entities uniquely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notion of weak entity set formalizes the above intuition and a weak entity set is depicted via a double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rectangle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08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Weak Entity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</a:t>
            </a: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discriminator of a weak entity set is shown with a dashed line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relationship set connecting the weak entity set to the identifying strong entity set is depicted by a double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diamond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Key will be </a:t>
            </a:r>
            <a:r>
              <a:rPr lang="en-US" alt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- </a:t>
            </a:r>
            <a:r>
              <a:rPr lang="en-US" altLang="en-US" sz="2000" dirty="0" err="1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course_id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, semester, year, and </a:t>
            </a:r>
            <a:r>
              <a:rPr lang="en-US" altLang="en-US" sz="2000" dirty="0" err="1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sec_id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Unary Relationship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 role indicators course_ id and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prereq_id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between the course entity set and the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prereq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relationship set are indicated as </a:t>
            </a:r>
            <a:r>
              <a:rPr lang="en-IN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shown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176213"/>
            <a:ext cx="91440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02239" y="2367609"/>
            <a:ext cx="3833918" cy="994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2" t="50000" r="29722" b="30699"/>
          <a:stretch/>
        </p:blipFill>
        <p:spPr bwMode="auto">
          <a:xfrm>
            <a:off x="3923928" y="5373216"/>
            <a:ext cx="2627784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357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b="1" dirty="0" err="1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Nonbinary</a:t>
            </a: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Relationship Sets (</a:t>
            </a:r>
            <a:r>
              <a:rPr lang="en-IN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ernary relationship</a:t>
            </a:r>
            <a:r>
              <a:rPr lang="en-US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Consists of the three entity sets instructor, student, and project, related through the relationship set </a:t>
            </a:r>
            <a:r>
              <a:rPr lang="en-IN" alt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proj_guide</a:t>
            </a:r>
            <a:endParaRPr lang="en-US" alt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Extended E-R Features: Specialization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entity set may include subgroupings of entities that are distinct in some way from other entities in the set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process of designating subgroupings within an entity set is called specialization. E.g., person may be further classified as one of the following:</a:t>
            </a:r>
          </a:p>
          <a:p>
            <a:pPr marL="74295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</a:p>
          <a:p>
            <a:pPr marL="74295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44" t="24632" r="24761" b="42831"/>
          <a:stretch/>
        </p:blipFill>
        <p:spPr bwMode="auto">
          <a:xfrm>
            <a:off x="5004048" y="1916832"/>
            <a:ext cx="3672408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2411" y="4755136"/>
            <a:ext cx="3539178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915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Extended E-R Features: Generalization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 bottom-up design process – combine a number of entity sets that share the same features into a higher-level entity set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The commonality can be expressed by generalization, which is a containment relationship that exists between a higher-level entity set and one or more lower-level entity sets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Specialization and generalization are simple inversions of each other; they are represented in an E-R diagram in the same way and they are used </a:t>
            </a:r>
            <a:r>
              <a:rPr lang="en-US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interchangeably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2072" y="4997975"/>
            <a:ext cx="3119855" cy="102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2564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Aggregation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An abstraction through which relationships are treated as higher-level entities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To record evaluations of a student by a guide on a </a:t>
            </a:r>
            <a:r>
              <a:rPr lang="en-IN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project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 dirty="0" smtClean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Eliminate this redundancy via aggregation without introducing redundancy, the following diagram represents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 student is guided by a particular instructor on a particular project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 student, instructor, project combination may have an associated </a:t>
            </a:r>
            <a:r>
              <a:rPr lang="en-IN" altLang="en-US" sz="2000" dirty="0" smtClean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evaluation</a:t>
            </a:r>
            <a:endParaRPr lang="en-IN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4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71224" y="2996952"/>
            <a:ext cx="3365548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766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Aggregation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Relationship sets </a:t>
            </a:r>
            <a:r>
              <a:rPr lang="en-IN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eval_for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and </a:t>
            </a:r>
            <a:r>
              <a:rPr lang="en-IN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proj_guide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represent overlapping information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Every </a:t>
            </a:r>
            <a:r>
              <a:rPr lang="en-IN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eval_for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relationship corresponds to a </a:t>
            </a:r>
            <a:r>
              <a:rPr lang="en-IN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proj_guide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relationship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However, some </a:t>
            </a:r>
            <a:r>
              <a:rPr lang="en-IN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proj_guide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relationships may not correspond to any </a:t>
            </a:r>
            <a:r>
              <a:rPr lang="en-IN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eval_for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relationships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So it is not possible to discard the </a:t>
            </a:r>
            <a:r>
              <a:rPr lang="en-IN" altLang="en-US" sz="2000" dirty="0" err="1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proj_guide</a:t>
            </a: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relationship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This redundancy can be eliminated via aggregation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Treat relationship as an abstract entity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Allows relationships between relationships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Abstraction of relationship into new entity</a:t>
            </a:r>
            <a:endParaRPr lang="en-US" altLang="en-US" sz="2000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3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0295" y="4290363"/>
            <a:ext cx="3472185" cy="2090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2486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Makes the requirement simple and easily understandable by representing simple diagrams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One can convert ER diagrams into record based data model easily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Easy to understand ER diagrams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Disadvantages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No standard notations are available for ER diagram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Flexibility in the notation depends upon the designer, how he draws it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Meant for high level designs which cannot be simplified for low level design like coding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Relationship (ER)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89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Considers each object in the world as objects and isolates it from each other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Groups its related functionalities together and allows inheriting its functionality to other related sub-groups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Encapsulation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Binds the features in one class and hides it from other classes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Only visible to its objects and any inherited classes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Oriented (OO)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3753579"/>
            <a:ext cx="6840760" cy="262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5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Inheritance property – Attributes and functionalities can be re-used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Reduces the cost of maintaining the same data multiple times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More flexible in the case of any changes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Codes are re-used and OO model is more understandable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Disadvantages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Not widely developed and complete to use it in the database systems. Hence not accepted by the users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Not a technology but a approach for solving the requirement. Hence, fails to put it in the DBMS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Oriented (OO)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4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326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Defines the actual relationship between the data in the entities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Based on application and user levels of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Modeled considering the logical structure of the objects in the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Types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Hierarchical Data Models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Network Data Models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Relational Data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Models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 Based Data Models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2626" y="4221088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Record Based Data Models: </a:t>
            </a:r>
          </a:p>
        </p:txBody>
      </p:sp>
      <p:pic>
        <p:nvPicPr>
          <p:cNvPr id="16" name="Picture 15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4221088"/>
            <a:ext cx="576064" cy="49183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622870"/>
            <a:ext cx="4161475" cy="203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5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Data is organized into a tree-like structure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 is stored as records which are connected to one another through links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record is a collection of fields, with each field containing only one value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Entities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are represented in a hierarchical fashion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Here a parent entity and its child entity are identified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Again drill down is to be done to identify next level of child entity and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soon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492896"/>
            <a:ext cx="3781425" cy="216024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105" y="2353072"/>
            <a:ext cx="4524375" cy="230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Helps to address the issues of flat file data storage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In flat files, data will be scattered and there will not be any proper structuring of the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Groups the related data into tables and defines the relationship between the tables, which is not addressed in flat files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Disadvantages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Fails to handle many to many relationships efficiently. It results in redundancy and confusion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Fetching through this model becomes bit difficult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86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Enhanced version of hierarchical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Helps to address M:N relationship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Also represented as hierarchical data model, but this model will not have single parent concept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Any child in the tree can have multiple parents here</a:t>
            </a:r>
            <a:endParaRPr lang="en-IN" sz="2000" dirty="0">
              <a:solidFill>
                <a:srgbClr val="FF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88" y="3456570"/>
            <a:ext cx="5019823" cy="22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4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Accessing the records in the tables is easy since it addresses many to many relationships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One can easily navigate among the tables and get any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Designed based on database standards – ANSI/SPARC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Disadvantages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No independence between any objects. Hence any changes to any of the object will need changes to the whole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Little difficult to design the relationship between the entities, since all the entities are related in someway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03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Define how they are structured in the database physically and how they are inter-related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Based on how the records in each table are related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Isolates physical structure from the logical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structure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relational data model revolves around 5 important rules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Order of rows/records in the table is not important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Each record in the table is unique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Each column/attribute will have single value in a row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All attributes should be from same domain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Table names in the database should be unique 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4653136"/>
            <a:ext cx="3329862" cy="177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8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Structural Independence - Any changes to the database structure, does not affect the way of accessing the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Simplicity - Designed based on logical data and does not consider how data are stored physically in the memory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Easy to maintain and access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Supports Structured Query Language (SQL)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Disadvantages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High hardware cost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Lead to complexity in the database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itle 1"/>
          <p:cNvSpPr txBox="1">
            <a:spLocks/>
          </p:cNvSpPr>
          <p:nvPr/>
        </p:nvSpPr>
        <p:spPr>
          <a:xfrm>
            <a:off x="0" y="332656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Data Model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29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4316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Steps in ER Model to Relational Model Mapping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3888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7-Step Process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3888" indent="-5143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 Regular Entity Types</a:t>
            </a:r>
          </a:p>
          <a:p>
            <a:pPr marL="623888" indent="-5143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 Weak Entity Types</a:t>
            </a:r>
          </a:p>
          <a:p>
            <a:pPr marL="623888" indent="-5143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 Binary 1:1 Relation Types</a:t>
            </a:r>
          </a:p>
          <a:p>
            <a:pPr marL="623888" indent="-5143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 Binary 1:N Relationship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3888" indent="-5143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 Binary M:N Relationship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3888" indent="-5143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 Multivalued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3888" indent="-5143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Map N-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Relationship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8002" y="532327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ER Model to Relational Model Mapping:        </a:t>
            </a:r>
          </a:p>
        </p:txBody>
      </p:sp>
      <p:pic>
        <p:nvPicPr>
          <p:cNvPr id="12" name="Picture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874" y="5301208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3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556792"/>
            <a:ext cx="9144000" cy="4892352"/>
          </a:xfrm>
          <a:prstGeom prst="rect">
            <a:avLst/>
          </a:prstGeom>
        </p:spPr>
      </p:pic>
      <p:sp>
        <p:nvSpPr>
          <p:cNvPr id="19" name="Title 1"/>
          <p:cNvSpPr txBox="1">
            <a:spLocks/>
          </p:cNvSpPr>
          <p:nvPr/>
        </p:nvSpPr>
        <p:spPr>
          <a:xfrm>
            <a:off x="611560" y="68850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4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ER Model </a:t>
            </a:r>
            <a:endParaRPr lang="en-IN" sz="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65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1 - Mapping of Regular Entity 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each regular (strong) entity type E in the ER schema, create a relation R that includes all the simple attributes of E</a:t>
            </a: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Choose one of the key attributes of E as the primary key for R</a:t>
            </a: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the chosen key of E is composite, the set of simple attributes that form it will together form the primary key of R</a:t>
            </a: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 EMPLOYEE, DEPARTMENT, and PROJECT in the relational schema corresponding to the regular entities in the ER diagram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1 - Mapping of Regular </a:t>
            </a:r>
            <a:r>
              <a:rPr lang="en-IN" sz="2000" b="1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Entity </a:t>
            </a:r>
            <a:r>
              <a:rPr lang="en-IN" sz="2000" b="1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Types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28" y="2132857"/>
            <a:ext cx="5062844" cy="4320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16542" y="1628800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Content Placeholder 3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088" y="2201996"/>
            <a:ext cx="3600400" cy="30272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07722" y="1628800"/>
            <a:ext cx="2532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84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3854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2 - Mapping of Weak Entity 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each weak entity type W in the ER schema with owner entity type E, create a relation R &amp; include all simple attributes (or simple components of composite attributes) of W as attributes of R</a:t>
            </a: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Also, include as foreign key attributes of R the primary key attribute(s) of the relation(s) that correspond to the owner entity type(s)</a:t>
            </a: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primary key of R is the combination of the primary key(s) of the owner(s) and the partial key of the weak entity type W, if any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7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2 - Mapping of Weak Entity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00918"/>
            <a:ext cx="5112567" cy="4280410"/>
          </a:xfrm>
          <a:prstGeom prst="rect">
            <a:avLst/>
          </a:prstGeom>
        </p:spPr>
      </p:pic>
      <p:pic>
        <p:nvPicPr>
          <p:cNvPr id="17" name="Content Placeholder 3" descr="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69159" y="2132856"/>
            <a:ext cx="3695329" cy="31683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16542" y="1628800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07722" y="1628800"/>
            <a:ext cx="2532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25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3 - Mapping of Binary 1:1 Relation 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7038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1:1 relationship key propagation may be used</a:t>
            </a:r>
          </a:p>
          <a:p>
            <a:pPr marL="427038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Relationship can be represented either putting the primary key of the first entity in the second entity or vice versa</a:t>
            </a:r>
          </a:p>
          <a:p>
            <a:pPr marL="427038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some situations when mapping 1:1 relationship between entities, both entities and the relationship may be merged into one and represented by one relation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14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3 - Mapping of Binary 1:1 Relation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100919"/>
            <a:ext cx="4968553" cy="4208402"/>
          </a:xfrm>
          <a:prstGeom prst="rect">
            <a:avLst/>
          </a:prstGeom>
        </p:spPr>
      </p:pic>
      <p:pic>
        <p:nvPicPr>
          <p:cNvPr id="17" name="Content Placeholder 3" descr="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081" y="2140457"/>
            <a:ext cx="3672408" cy="30887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16542" y="1628800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07722" y="1628800"/>
            <a:ext cx="2532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83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4 - Mapping of Binary 1:N Relation 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One instance of the first entity may be related to a number of instances of the second entity 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But each instance of the second entity is related to only one instance of the first entity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Key propagation is possible in 1:N  relationship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Propagation of primary key of first entity will happens.(E.g., From Department to Project)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3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4 - Mapping of Binary 1:N Relation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2079419"/>
            <a:ext cx="4968552" cy="4334378"/>
          </a:xfrm>
          <a:prstGeom prst="rect">
            <a:avLst/>
          </a:prstGeom>
        </p:spPr>
      </p:pic>
      <p:pic>
        <p:nvPicPr>
          <p:cNvPr id="17" name="Content Placeholder 3" descr="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99843" y="2045361"/>
            <a:ext cx="3936653" cy="30696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63688" y="1628800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07722" y="1628800"/>
            <a:ext cx="2532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1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3854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5 - Mapping of Binary M:N Relation 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Key Propagation is not possible in many-to-many relationship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Many-to-Many relationships must be represented by a separate table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primary keys of each of the entities that participates in the relationship are included in this relation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combination of the primary keys of entity will form the primary key of relation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Any attributes of the relationship can be included in this relation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49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5 - Mapping of Binary M:N Relation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Types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6" y="2107978"/>
            <a:ext cx="4815266" cy="4273350"/>
          </a:xfrm>
          <a:prstGeom prst="rect">
            <a:avLst/>
          </a:prstGeom>
        </p:spPr>
      </p:pic>
      <p:pic>
        <p:nvPicPr>
          <p:cNvPr id="17" name="Content Placeholder 3" descr="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56728" y="2144109"/>
            <a:ext cx="3807760" cy="33011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16542" y="1628800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07722" y="1628800"/>
            <a:ext cx="2532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96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6 -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Mapping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of Multivalued Attributes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multivalued attribute A, create a new relation R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relation R will include an attribute corresponding to A, plus the primary key attribute K-as a foreign key in R-of the relation that represents the entity type of relationship type that has A as an attribute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primary key of R is the combination of A and K</a:t>
            </a:r>
          </a:p>
          <a:p>
            <a:pPr marL="444500" lvl="1" indent="-444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the multivalued attribute is composite, include its simple components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5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6 -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Mapping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of Multivalued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Attributes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59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034850"/>
            <a:ext cx="4884574" cy="4263218"/>
          </a:xfrm>
          <a:prstGeom prst="rect">
            <a:avLst/>
          </a:prstGeom>
        </p:spPr>
      </p:pic>
      <p:pic>
        <p:nvPicPr>
          <p:cNvPr id="17" name="Content Placeholder 3" descr="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2060848"/>
            <a:ext cx="3854896" cy="3384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16542" y="1628800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07722" y="1628800"/>
            <a:ext cx="2532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33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52736"/>
            <a:ext cx="912599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8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Step 7 - Mapping of N-</a:t>
            </a:r>
            <a:r>
              <a:rPr lang="en-IN" sz="2000" b="1" dirty="0" err="1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ary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Relationship Types </a:t>
            </a:r>
            <a:endParaRPr lang="en-IN" sz="2000" b="1" dirty="0" smtClean="0">
              <a:solidFill>
                <a:schemeClr val="tx2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each n-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relationship type R, where n&gt;2, create a new relationship S to represent R</a:t>
            </a: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Include as foreign key attributes in S the primary keys of the relations that represent the participating entity types</a:t>
            </a: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Also include any simple attributes of the n-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relationship type (or simple components of composite attributes) as attributes of 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365104"/>
            <a:ext cx="3888432" cy="170824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495306" y="5301208"/>
            <a:ext cx="16446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4293096"/>
            <a:ext cx="3960440" cy="1832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9"/>
          <p:cNvSpPr/>
          <p:nvPr/>
        </p:nvSpPr>
        <p:spPr>
          <a:xfrm>
            <a:off x="6579477" y="5301208"/>
            <a:ext cx="24570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 Model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65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61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– Relational Query Languages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-18002" y="332656"/>
            <a:ext cx="916200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en-US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to Relational Model Mapping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611560" y="68850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Relational Model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4" y="1556792"/>
            <a:ext cx="8568952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532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1556792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Summary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499956"/>
            <a:ext cx="9144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Types of 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Physical 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Object Based Data Models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Entity Relationship (ER)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Object Oriented (OO) 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Record Based Data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Models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08512" y="2492896"/>
            <a:ext cx="453548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Hierarchical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Network Data Model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Relational Data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ER Model to Relational Model Mapping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832520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Introductions to Data Models-Hierarchical Model, Network Model, Object Oriented Model, Entity–Relationship Model, Relational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92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1556792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499956"/>
            <a:ext cx="9144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Draw an ER diagram for a University </a:t>
            </a:r>
            <a:r>
              <a:rPr lang="en-IN" sz="2000" dirty="0" err="1">
                <a:latin typeface="Arial" panose="020B0604020202020204" pitchFamily="34" charset="0"/>
                <a:cs typeface="Arial" pitchFamily="34" charset="0"/>
              </a:rPr>
              <a:t>DataBase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Draw a OO Data Model with the classes Person and Student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Draw a Hierarchical Data Model for a Customer </a:t>
            </a:r>
            <a:r>
              <a:rPr lang="en-IN" sz="2000" dirty="0" err="1">
                <a:latin typeface="Arial" panose="020B0604020202020204" pitchFamily="34" charset="0"/>
                <a:cs typeface="Arial" pitchFamily="34" charset="0"/>
              </a:rPr>
              <a:t>DataBase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Draw a Network Data Model for a School </a:t>
            </a:r>
            <a:r>
              <a:rPr lang="en-IN" sz="2000" dirty="0" err="1">
                <a:latin typeface="Arial" panose="020B0604020202020204" pitchFamily="34" charset="0"/>
                <a:cs typeface="Arial" pitchFamily="34" charset="0"/>
              </a:rPr>
              <a:t>DataBase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Draw a Relational Data Model for a College </a:t>
            </a:r>
            <a:r>
              <a:rPr lang="en-IN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832520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Introductions to Data Models-Hierarchical Model, Network Model, Object Oriented Model, Entity–Relationship Model, Relational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58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1556792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832520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Introductions to Data Models-Hierarchical Model, Network Model, Object Oriented Model, Entity–Relationship Model, Relational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18002" y="244295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Convert the following ER Model to Relational Schema:</a:t>
            </a:r>
          </a:p>
        </p:txBody>
      </p:sp>
      <p:pic>
        <p:nvPicPr>
          <p:cNvPr id="14" name="Picture 1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6562" y="3007191"/>
            <a:ext cx="5730875" cy="3446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304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1556792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832520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Models – Introduction, Benefits, and Phases, ER Diagrams – Symbols, Components,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Relationships, Weak entities, Attributes, Cardinality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18002" y="244295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Convert the following ER Model to Relational Schema:</a:t>
            </a:r>
          </a:p>
        </p:txBody>
      </p:sp>
      <p:pic>
        <p:nvPicPr>
          <p:cNvPr id="15" name="Picture 1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914" y="2997155"/>
            <a:ext cx="6610171" cy="324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4535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160" y="2891609"/>
            <a:ext cx="91440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Session 4 -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Algebra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, Domain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Calculus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Tuple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Calculus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b="1" dirty="0">
              <a:solidFill>
                <a:srgbClr val="C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67544" y="184448"/>
            <a:ext cx="8172908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6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5371</TotalTime>
  <Words>4897</Words>
  <Application>Microsoft Office PowerPoint</Application>
  <PresentationFormat>On-screen Show (4:3)</PresentationFormat>
  <Paragraphs>877</Paragraphs>
  <Slides>66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ＭＳ Ｐゴシック</vt:lpstr>
      <vt:lpstr>Arial</vt:lpstr>
      <vt:lpstr>Calibri</vt:lpstr>
      <vt:lpstr>Symbol</vt:lpstr>
      <vt:lpstr>Times New Roman</vt:lpstr>
      <vt:lpstr>Wingdings</vt:lpstr>
      <vt:lpstr>Office Theme</vt:lpstr>
      <vt:lpstr>Title of Topic: Data Models – Introduction, Benefits, and Phases, ER Diagrams – Symbols, Components, Relationships, Weak entities, Attributes, Cardinality Course Code: 23IT201 Course Title: Database Management Systems Academic Year: 2024 - 2025 (Even Sem)</vt:lpstr>
      <vt:lpstr>1. Introduction to DBMS, Characteristics of DBMS, DBMS vs File Systems, need for DBMS. 2. Three Level DBMS Architecture. 3. Data Models, Introduction, Benefits, and Phases. ER Diagrams – Symbols, Components, Relationships, Weak entities, Attributes, Cardinality. 4.Relational Algebra, Domain Relational Calculus, Tuple Relational Calculus,  5. Keys - primary Key, Foreign Key.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Composite Attributes</vt:lpstr>
      <vt:lpstr>Composite Attributes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18CS056 – THEORY OF COMPUTATION</dc:title>
  <dc:creator>Rose</dc:creator>
  <cp:lastModifiedBy>user</cp:lastModifiedBy>
  <cp:revision>741</cp:revision>
  <dcterms:created xsi:type="dcterms:W3CDTF">2020-05-18T09:43:19Z</dcterms:created>
  <dcterms:modified xsi:type="dcterms:W3CDTF">2025-01-11T04:55:32Z</dcterms:modified>
</cp:coreProperties>
</file>