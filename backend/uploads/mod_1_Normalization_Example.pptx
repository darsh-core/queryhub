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57" r:id="rId12"/>
    <p:sldId id="258" r:id="rId13"/>
    <p:sldId id="259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4-20T07:20:31.7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4966 6682 1937,'0'0'1,"0"0"9,0 0 13,0 0 14,0 0 25,0 0 7,0 0 1,0 0 0,0 0-22,0 0-14,0 0-12,0 0-2,0 0 8,0 0 12,0 0 13,0 0 4,-16 0 2,16 0-6,0 0 6,0 0-2,0 0-7,0 0 3,0 0-8,0 0 5,0 0 6,-9 0-2,9 0-1,0 0-4,0 0-5,0 0-6,0 0 2,0 0-6,0 0 0,0 0 8,0 0 2,0 0-8,0 0 6,0 0-11,0 0-10,0 0-1,0 0-8,0 0-2,0 0 1,0 0-1,0 0-6,0 0-4,0 0-2,0 0 0,0 0 2,0 0 4,0 0-1,0 0-1,0 0 10,0 0 8,0 0 10,0 0 7,0 0-1,0 0-6,0 0-6,0 0 0,0 0-4,0 0-6,0 0-5,0 0-1,0 0 2,0 0 1,0 0-4,0 0 3,0 0-12,0 0 2,0 0 5,0 0-6,0 0 6,0 0-4,0 0-3,0 0 4,0 0 2,0 0 9,0 0 11,0 0 8,0 0 5,0 0 0,0 0-3,0 0-10,0 0 0,0 0 0,0 0 3,0 0-6,0 0 2,0 0-8,0 0-3,0 0 5,0 0-10,0 0 1,0 0-10,0 0 6,0 0-1,0 0-3,0 0 9,0 0-8,0 0 0,0 0 1,0 0 2,0 0-1,0 0-5,0 0 4,0 0-2,0 0 3,0 0-3,0 0 4,0 0-9,0 0-2,0 0 9,0 0 0,0 0 3,0 0 1,0 0-4,0 0-5,0 0 2,0 0-1,0 0-1,0 0 7,0 0-5,0 0 3,0 0 2,0 0-11,0 0 1,0 0 8,0 0-2,0 0 4,0 0 4,0 0-12,0 0 8,0 0-4,0 0 2,0 0 2,0 0-6,0 0 0,0 0 3,0 0-5,0 0-1,0 0 9,0 0-3,0 0 3,0 0-2,0 0-3,0 0-4,0 0-1,0 0 4,0 0 2,0 0-2,0 0 2,0 0 2,0 0-2,0 0 2,0 0-2,0 0-1,0 0 2,0 0-6,0 0 6,0 0-3,0 0-1,0 0 10,0 0-6,0 0 1,0 0 1,0 0-6,0 0 6,0 0-7,0 0 3,0 0 2,0 0-8,0 0-1,0 0-17,0 0-17,0 0-17,0 0-11,0 0-12,0 0-14,0 0-13,0 0-18,0 0-24,0 0-18,0 0-20,0 0-5,0 0 5,0 0 6,0 0 3,0 0-11,0 0-22,0 15-32,0-15-49,0 14-94,25-14-56,-25 0 74</inkml:trace>
  <inkml:trace contextRef="#ctx0" brushRef="#br0" timeOffset="1091.9682">16480 6314 2545,'3'-2'15,"1"2"25,-3 0 14,1 0 20,0-1 7,-2 1 8,0 0 8,2-2-6,-2 0-17,0 2-30,0 0-20,0 0-13,0-3-8,0 3-4,0 0-7,0 0-19,0 0-13,0 0-20,0 0-75,0 0-65,0 0-79,0 0-136,0-4-165,0-1-6,-18-2 96</inkml:trace>
  <inkml:trace contextRef="#ctx0" brushRef="#br0" timeOffset="1871.9901">6025 6116 2194,'0'0'8,"0"2"29,-2-2 21,0 5 34,-1-3 24,2 1 3,-3-1 12,-2 0-2,4 2-17,-2-2-20,0 1-12,0-2-17,3 0 3,-1-1-6,0 2-17,2-2-11,-1 0-19,1 0-8,-1 0-3,1 0-2,0 0-2,0 0-5,0 0-10,0 0-19,0 0-26,0 0-25,0 0-32,0 0-30,0 0-16,0 0-23,0 0-27,0 0-14,23 0-48,-23 0-78,20-24-123,-4 24 27,2-25 93</inkml:trace>
  <inkml:trace contextRef="#ctx0" brushRef="#br0" timeOffset="3732.3788">10673 6317 2286,'-1'3'8,"1"-3"18,-4 1 20,4 0 22,0-1 11,0 0 10,0 0 3,0 0 2,0 0-6,0 0-13,0 0-10,0 0-15,0 0 4,0 0-4,0 0 6,0 0-3,0 0-1,0 0 0,0 0-16,0 0 2,0 0-15,0 0 6,0 0-1,0 0-1,0 0 9,0 0-11,0 0-1,0 0-8,0 0-4,0 0 1,0 0 2,0 0 2,0 0-3,0 0-4,0 0-5,-14 0 1,14 0 1,0 0 2,0 0 5,0 0-6,0 0 0,0 0-4,0 0-7,0 0 0,0 0 3,0 0-7,0 0 5,0 0 0,0 0-5,0 0 15,0 0 1,0 0 0,0 0 4,0 0-7,0 0 0,0 0 1,0 0-3,0 0 4,0 0 2,0 0 1,0 0-1,0 0-2,0 0 7,0 0 3,0 0 4,0 0-2,0 0-9,0 0 0,0 0-7,0 0 1,0 0 4,0 0-2,0 0 4,0 0 0,0 0-2,0 0 0,0 0-2,0 0-2,0 0 2,0 0-4,0 0 0,0 0 3,0 0-5,0 0 7,0 0-1,0 0-4,0 0 3,0 0-6,0 0 2,0 0 4,0 0-10,0 0 6,0 0 4,0 0-6,0 0 0,0 0 0,0 0-8,0 0 0,0 0 10,0 0-2,0 0 1,0 0 0,0 0 2,0 0-7,0 0 1,0 0-1,0 0 6,0 0-5,0 0-2,0 0 10,0 0-13,0 0 11,0 0 4,0 0-7,0 0 5,0 0 0,0 0-2,0 0-1,0 0 2,0 0-1,0 0 1,0 0 2,0 0 0,0 0 7,0 0-1,0 0-8,0 0 0,0 0-6,0 0-5,0 0 15,0 0-8,0 0-3,0 0 11,0 0-12,0 0 4,0 0 10,0 0-5,0 0 7,0 0 1,0 0-4,0 0 1,0 0-1,0 0 6,0 0-13,0 0 12,0 0-16,0 0-7,0 0 23,0 0-19,0 0 17,0 0 5,0 0-11,0 0 2,0 0-5,0 0 1,0 0-1,0 0 2,0 0-1,0 0-6,0 0 1,0 0-1,0 0 2,0 0-3,0 0 4,0 0 1,0 0 1,0 0 4,0 0-10,0 0 1,0 0 0,0 0 1,0 0 1,0 0 1,0 0-3,0 0 1,0 0 4,0 0 2,0 0 0,0 0 5,0 0-2,0 0-4,0 0 3,0 0-4,0 0 3,0 0-4,0 0 5,0 0 0,0 0-3,19 0 4,-19 0-7,0-22-4,0 22 3,0 0-5,0 0-2,0 0 9,0 0-1,0 0 2,0 0-1,0 0-4,0 0-5,0 0 5,0 0 3,0 0-2,0 0 1,0 0 3,0 0 1,0 0-5,0 0-2,0 0 1,0 0-1,0 0 4,0 0 5,0 0-8,0 0 2,0 0-1,0 0 1,0 0 2,0 0-5,0 0 8,0 0-2,0 0-5,0 0 6,0 0-7,0 0 7,0 0 1,0 0-4,0 0-2,0 0 0,0 0 1,0 0 4,0 0 2,0 0-6,0 0 3,0 0-5,0 0 1,0 0 5,0 0-9,0 0 5,0 0 2,0 0-7,0 0 10,0 0-5,0 0 2,0 0 4,0 0-7,0 0 8,0 0-11,0 0-1,0 0 4,0 0-12,0 0 13,0 0 5,0 0-6,0 0 4,0 0 0,0 0-5,0 0 4,0 0 0,0 0-4,0 0-4,0 0-2,0 0 4,0 0 0,0 0-3,0 0-2,0 0-12,0 0-1,0 0 2,0 0-4,0 0 6,0 0-19,0 0-11,0 0-11,0 0-19,0 0-6,0 0-23,0 0-26,0 0-23,0 0-54,0 0-52,0 0-48,0 0-48,0 0-91,0 0-161,0 0 47,0-22 95</inkml:trace>
  <inkml:trace contextRef="#ctx0" brushRef="#br0" timeOffset="13125.9993">10694 6292 2554,'0'0'14,"0"0"21,0 0 26,0 0 34,-29 0 21,29-21 12,0 21 1,-17 0-12,17 0-19,0 0-32,-16 0-24,16 0-13,0 0-18,0 0 7,-8 0 9,8 0-5,0 0 6,0 0-6,0 0-2,0 0 4,-4 0 8,4 0 8,0 0-2,0 0 4,0 0-2,-2 0-6,2 0-7,0 0-27,0 0 8,0 0 2,-2 0 4,2 0 13,0 0-11,0 0 0,0 0 1,0 0 7,0 0 1,0 0-8,0 0-1,0 0-6,0 0-4,0 0 3,0 0-10,0 0 5,0 0-4,0 0-1,0 0 4,0 0-3,0 0-2,0 0-1,0 0 0,0 0-2,0 0 3,0 0 3,0 0 4,0 0 0,0 0 0,0 0-1,0 0 1,0 0 0,0 0 2,0 0-6,0 17 4,0-17-2,0 0-5,0 0 4,-22 0-2,22 0-2,0 0 6,0 0-3,0 9-6,0-9 2,0 0 5,-14 0-2,14 0 3,0 0-1,0 5-5,0-5 2,0 0 2,0 0 4,-7 0-5,7 0 8,0 0-6,0 0-1,0 0 6,0 0-11,0 0 5,-4 2-4,4-2 2,0 0-4,-1 0 1,-1 0-7,1 0-14,0 0-11,1 0-30,-1 0-22,-3 0-27,0 0-36,-3 0-30,-2 0-43,-4 0-40,-5 0-41,-3-25-65,-5 25-115,-3-22-156,-8 4 96</inkml:trace>
  <inkml:trace contextRef="#ctx0" brushRef="#br0" timeOffset="16518.0068">6182 5966 1825,'0'0'39,"0"-13"26,0 13 11,0 0 18,0 0-12,0-7-2,0 7-3,0 0-13,0 0-19,0 0-16,0 0-4,0 0 12,0 0-17,0 0 7,0 0 10,0 0-1,0 0 19,0 0 1,0 0 0,0 0-5,0 0 3,0 0-2,0 0-10,0 0-2,0 0-5,0 0-8,0 0 6,0 0-3,0 0-1,0 0-2,0 0-3,0 0-1,0 0-6,0 0 0,0 0 3,0 0-4,0 0 6,0 0 0,0 0-6,0 0-1,0 0 0,0 0 0,0 0-6,0 0-3,0 0-4,0 0-2,0 0 7,0 0 1,0 0 3,0 0-3,0 0 6,0 0-3,0 0 2,0 0 7,0 0-9,0 0 9,0 0-5,0 0-6,0 0 4,0 0-4,0 0-4,0 0-3,0 0-3,0 0-1,0 0 2,0 0 2,0 0-6,0 0 2,0 0 0,0 0-1,0 0 10,0 0-2,0 0 0,0 0 2,0 0-3,0 0 3,0 0 0,0 0 0,0 0 0,0 0-9,0 0 4,0 0 0,0 0-1,0 0 4,0 0-3,0 0-7,0 0 3,-11 0-1,11 0 1,0-14 0,0 14 0,0 0 7,0 0-8,0 0 8,0 0-8,0 0 1,0-10 10,0 10-10,0-5 5,0 5-5,0-2-6,0-1 16,0 3-4,0-4-1,0 4-1,0-1-9,0-2 5,0 2-3,0-2 3,0 3 3,0-2-3,0 2 4,0 0-5,0 0 1,0 0 4,0 0-4,0 0-1,0 0 0,0 0-1,0 0 7,0 0-3,0 0 3,0 0-3,0 0-5,0 0 10,0 0-3,0 0-2,0 0 7,0 0-7,0 0-3,0 0 3,0 0-2,0 0 4,0 0 0,0 0-7,0 0 7,0 0-6,0 0 6,0 0 7,0 0-11,0 0 6,0 0-6,0 0 10,0 0 0,0 0 1,0 0-4,0 0-15,0 0 0,0 0 0,0 0 10,0 0 11,0 0-16,0 0 9,0 0-11,0 0-5,0 0 28,0 0-14,0 0 1,0 0 2,0 0-15,0 0 15,0 0-4,0 0 8,0 0-4,0 0-6,0 0 19,0 0-19,0 0 13,0 0-26,0 0-13,0 0 39,0 0-27,0 0 28,0 0-23,0 0-12,0 0 10,0 0-6,0 0 47,0 0-26,0 0 9,0 0 1,0 0-17,0 0 4,0 0 6,0 0 1,0 0-13,0 0 13,0 0-7,0 0-7,0 0 19,0 0-15,0 0-2,0 0 1,0 0-4,0 0 5,0 0 5,0 0 4,0 0-2,0 0-8,0 0 5,0 0-7,0 0 2,0 0 14,0 0-14,0 0 1,0 0 6,0 0-9,0 0 10,0 0-3,0 0-5,0 0 1,0 0 3,0 0 13,0 0-27,0 0 15,0 0-21,0 0-7,0 0 39,0 0 2,0 0 5,0 0 1,0 0-5,0 0-44,0 0 37,0 0 10,0 0-40,0 0 30,0-22-31,0 22 11,0 0 17,0 0 8,0 0 0,0 0-26,0 0 18,0 0-5,0 0 4,0 0 4,0 0-3,0 0-7,0 0 2,0 0-1,0 0-8,0 0 6,0 0 5,0 0 3,0 0-3,0 0-1,0 0 3,0 0-9,0 0 8,0 0-9,0 0-2,0 0-8,0 0 13,0 0 2,0 0-7,0 0 22,0 0-14,0 0-3,0 0 9,0 0-4,0 0-3,0 0 1,0 0-9,0 0 10,0 0-17,0 0 23,0 0 5,0 0-17,0 0 25,0 0-22,0 0 5,0 0-1,0 0-11,0 0 7,0 0-4,0 0 3,0 0 6,0 0 5,0 0-6,0 0 0,0 0 2,0 0-8,0 0 0,0 0 0,0 0 2,0 0-3,0 0 10,0 0-3,0 0-7,0 0 13,0 0-6,0 0-2,0 0 2,0 0-5,0 0 1,0 0 3,0 0-4,0 0 5,0 0-10,0 0 10,0 0 0,0 0-11,0 0 13,0 0-4,0 0 2,0 0 1,0 0-3,0 0-9,0 0 0,0 0 18,0 0-16,0 0 20,0 0-15,0 0-10,0 0 17,0 0-14,0 0 18,0 0-9,0 0 8,0 0 2,0 0-10,0 0-18,0 0 21,0 0-6,0 0 20,0 0 3,0 0-30,0 0 12,0 0-12,0 0 16,0 0-5,0 0-10,0 0 11,0 0-1,0 0 1,0 0 5,0 0-17,0 0 12,0 0-1,0 0-1,0 0 5,0 0-12,0 0 11,0 0-9,0 0 1,0 0 15,0 0-17,0 0 18,0 0-12,0 0-6,0 0 9,0 0-17,0 0 11,0 0 4,0 0-5,0 0-2,0 0 5,0 0 1,0 0 15,0 0 0,0 0-5,0 0-35,0 0 13,0 0 9,0 0-10,0 0 35,0 0-22,0 0-1,0 0 9,0 0-8,0 0-6,0 0-2,0 0 9,0 0 3,0 0-3,0 0 3,0 0-6,0 0-12,0 0 9,0 0 4,0 0-1,0 0 4,0 0-1,0 0-4,0 0-6,0 0 7,0 0 5,0 0-3,0 0 0,0 0 1,0 0 1,0 0-4,0 0 9,0 0-13,0 0 0,0 0 6,0 0-15,0 0 27,0 0-19,0 0-1,0 0 16,0 0-21,0 0-12,0 0 32,0 0-12,0 0 20,0 0-3,0 0-17,0 0 19,0 0-33,0 0 31,0 0-13,0 0-14,0 0 24,0 0-4,0 0-4,0 18-6,0-18 3,0 0-4,0 0 9,0 0-1,0 0-8,0 0 2,0 0 2,0 0 1,0 0 5,0 0 3,0 0-8,0 0 12,0 0-13,0 0 12,0 0-5,0 0-10,0 0 8,0 0-12,0 0 9,0 0-9,0 0 6,0 0-2,0 0-11,0 0 20,0 0-4,0 0 1,0 0 12,0 0-33,0 0 34,0 0-14,0 0 2,0 0 23,0 0-41,0 0 18,0 0-14,0 0 10,0 0 10,0 0-10,0 0 7,0 0-7,0 0-3,0 0 5,0 0 0,0 0 0,0 0-1,0 0 1,0 0 16,0 0-20,0 0 6,0 0-12,0 0-9,0 0 12,0 0 0,0 0 10,0 0 17,0 0-5,0 0-15,0 0 7,0 0-16,0 0 1,0 0 7,0 0 25,0 0-34,0 0 19,0 0 3,0 0-38,0 0 26,0 0 0,0 0-9,0 0 16,0 0-9,0 0-3,0 0 1,0 0-4,0 0 9,0 0-1,0 0 13,0 0-11,0 0 7,0 0-12,0 0-5,0 0 6,0 0-2,0 0 4,0 0 1,0 0 19,0 0-13,0 0 2,0 0-8,0 0-18,0 0 8,0 0 9,0 0-6,0 0 12,0 0-9,0 0-11,0 0 21,0 0-10,0 0 8,0 0 2,0 0 5,0 0-17,0 0 2,0 0-2,0 0-4,0 0 12,0 0 2,0 0 5,0 0-15,0 0 1,0 0-1,0 0 7,0 0 11,0 0-11,0 0 0,0 0-7,0 0-4,0 0 14,0 0 0,0 0 1,0 0-1,0 0-7,0 0 2,0 0-6,0 0-1,0 0 9,0 0-5,0 0 8,0 0-5,0 0-5,0 0 8,0 0-9,0 0 12,0 0-1,0 0-1,0 0-8,0 0 5,0 0-1,0 0-12,0 0 20,0 0-9,0 0 15,0 0-8,0 0-9,0 0-3,0 0-4,0-18 7,0 18-5,0 0 11,0 0-5,0 0 10,0 0-1,0 0-7,0 0-7,0 0 5,0 0 8,0 0-10,0 0 6,0 0-12,0 0 9,0 0 3,0 0 5,0 0 0,0 0-5,0 0 3,0 0-14,0 0 8,0 0 1,0 0-4,0 0 6,0 0 0,0 0-12,0 0 8,0-17 1,0 17-5,0 0 16,0 0-5,0 0 1,0 0-6,0 0-9,0 0 15,0 0-4,0 0-6,0 0 13,0-10-12,0 10-4,0 0 16,0 0-18,0-4 3,0 4-12,0 0 18,0 0 8,0 0-20,0 0 23,0 0-10,0 0-20,0 0 50,0 0-24,0 0 6,0 0-4,0 0-28,0 0 37,0 0-41,0 0 30,0 0-25,0 0 8,0 0 19,0-17-6,0 17 17,0 0-27,0 0 0,0 0 9,0 0 0,0 0 3,0 0 0,0 0-10,0 0 6,0 0-10,0 0 15,0 0-10,0 0 3,0 0 12,0 0-13,0 0 6,0 0-6,0 0 3,0 0 2,0 0 2,0 0 0,0 0-11,0 0-4,0 0 7,0-20-5,0 20-8,0 0 19,0 0-14,0-14-2,0 14 22,0 0-11,0 0-1,0 0 18,0 0-19,0 0 4,0 0 18,0-8-14,0 8 0,0 0 1,0-4-9,0-1 4,0 2 6,0 2-12,0 1 5,0-1-3,0-1 2,0-1 0,0 3-8,0 0-6,0 0-16,0 0 5,0 0-6,0 0-4,0 0 1,0 0-12,0 0 3,0 0 6,0 0 10,0 0 11,0 0 11,0 0 3,0 0 6,0 0 3,0 0-5,0 0 0,0 0-7,0 0 0,0 0 5,0 0 0,0 0 6,0 0-10,0 0-26,0 0-26,0 0-36,0 0-23,0 0-1,0 0-6,0 0-6,0 0-11,0 0-56,0 0-45,0 15-51,0-15-47,0 0-96,0 17 49,0-17 89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E201-ECF2-4ECD-96F8-F061A4E3E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D6C66-27F0-4A50-AC50-C5A1B64B3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1D7CF-3488-4F7D-91BB-44397529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3DA2-72C8-4000-915B-008A3FC21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EEE84-4906-4FC1-9FCC-0F1948C6B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243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9A6B-BF15-4530-88CF-7018DFD4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F009-EA36-46B5-B93E-4A47314A9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217A1-395B-42CB-BA34-0E5D1AA8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0FAE5-7DDC-4617-BEF0-996B0902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7EC41-4840-4F0A-B655-3EFB752B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9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8559-E7D4-41E6-AA21-8EEC161F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6C8D6-71CD-4114-9164-2811F3A97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64C4A-D4E3-4362-9712-E02FC233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EB23A-F9AD-4A60-8B34-911151D90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D0CA9-DF44-47C3-BC7C-3C8370C8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0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C3E0-A83A-467D-B900-69394B43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5837-C9F2-4C00-BF95-6A4D51CAE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C366C-2748-4B8B-BE11-A16CAB3F9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F55C9-9AEB-4B40-9225-F7DE814E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F4B0-B837-4BBE-8973-3BA7F22C3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C55D4-AAF0-4CCF-8B80-4FE75940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15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C79-FD89-435D-8ED7-0CB9A44F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BEB7B-8F9E-41C6-B08E-F9397D05A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16D38-AFD6-4849-A663-C33B53258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DF15A-F731-40FB-8360-A05048628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D09D04-5B33-4579-8340-DA8D453DF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4792F7-F856-47D0-A9FC-9011F1E6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A67745-4B5B-43F2-8D79-6644496F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2129C7-477A-485F-9211-FDDE86FB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81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456B-1524-4BC7-BA4A-296B974E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809AA-8373-41A0-812C-3EDBAC04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1492-A2A5-4E49-BD08-2EB5069E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82315-8F48-4620-B1E2-97D3658B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10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4EBDB-77EF-4042-81D8-C5E3543FF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079828-6B65-42B5-8494-2397CC47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6F35C-5CF5-43A9-8005-A4383728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022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7CB5-5B18-4CA2-BEB5-99D92944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9C8AA-6EEF-4A9E-AFF3-C8B3ABF47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03F99-2344-43DB-BA16-CD75401E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6E9F2-5184-42DD-9369-2BDA64A2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16668-B419-459B-BD8A-ABA5A3D1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8A0D3-6729-457D-8878-F779BAFC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90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AEA5-3D3A-4B7F-BF39-30797AA01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AF08E9-DD24-4DB6-B361-186477EC6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0DC7C-8CC4-4989-80BE-FF110B0F0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31A80-4FEA-40A9-BC46-3DE2509B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AF2C3-50DC-4F63-9933-B0B31A44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8020B-8E93-4A0B-ABCA-97DAC3ACE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286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E80E7-37F5-448F-B151-A8177BCE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D29DF-FA64-441C-8D23-8B34983AD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46321-FF94-4945-B02A-AFC46381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94D4F-311B-4576-A67C-0714C9C0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4847F-2BAA-45DA-89DD-9EA59173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28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9FCFD-E42F-4361-A7E1-1109E79842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D1B9B-137C-497F-9FE0-BE0A97ECD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612F6-B29A-4300-B7A6-7BAB065E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F309-E910-4CFB-AEDA-29029A03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5BC53-EA8C-4046-8264-55C5DE37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16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042EF-127B-4EE8-B906-6BD07700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179CA-8AD9-455E-A75D-D2FC1A62C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AF95C-C6C5-475B-975D-F74F728F5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89898-DF6C-4DFB-A081-98F8BA9EB7D6}" type="datetimeFigureOut">
              <a:rPr lang="en-IN" smtClean="0"/>
              <a:pPr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E876A-8960-4945-A8AC-21603DC5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AB135-C8C2-45B5-9006-6745DA71B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0D21A-04C7-4E8D-94E4-0E3BB80079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79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11F1-A042-4BEF-A0F7-2253626DC6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CC"/>
                </a:solidFill>
              </a:rPr>
              <a:t>NORMALIZATION EXAMPLE</a:t>
            </a:r>
          </a:p>
        </p:txBody>
      </p:sp>
    </p:spTree>
    <p:extLst>
      <p:ext uri="{BB962C8B-B14F-4D97-AF65-F5344CB8AC3E}">
        <p14:creationId xmlns:p14="http://schemas.microsoft.com/office/powerpoint/2010/main" val="246100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solidFill>
                  <a:srgbClr val="C00000"/>
                </a:solidFill>
              </a:rPr>
              <a:t>Not in 1NF</a:t>
            </a:r>
            <a:endParaRPr lang="en-IN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520648" cy="373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0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8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emp_id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err="1">
                          <a:latin typeface="Times New Roman"/>
                          <a:ea typeface="Times New Roman"/>
                          <a:cs typeface="Times New Roman"/>
                        </a:rPr>
                        <a:t>emp_name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emp_address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emp_mobile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8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101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Herschel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New Delhi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8912312390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102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Jon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Kanpur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8812121212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9900012222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8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103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Ron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Chennai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7778881212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2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104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Lester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Bangalore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9990000123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8123450987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1NF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938656" cy="4013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4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4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3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emp_id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emp_name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emp_address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emp_mobile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3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101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Herschel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New Delhi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8912312390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3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102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Jon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Kanpur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8812121212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3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102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Jon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Kanpur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9900012222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3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103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Ron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Chennai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7778881212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3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104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Lester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Bangalore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9990000123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3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104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Times New Roman"/>
                          <a:ea typeface="Times New Roman"/>
                          <a:cs typeface="Times New Roman"/>
                        </a:rPr>
                        <a:t>Lester</a:t>
                      </a:r>
                      <a:endParaRPr lang="en-IN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Bangalore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</a:rPr>
                        <a:t>8123450987</a:t>
                      </a:r>
                      <a:endParaRPr lang="en-IN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Candidate Keys</a:t>
            </a:r>
            <a:r>
              <a:rPr lang="en-IN" dirty="0" smtClean="0"/>
              <a:t>: {</a:t>
            </a:r>
            <a:r>
              <a:rPr lang="en-IN" dirty="0" err="1" smtClean="0"/>
              <a:t>teacher_id</a:t>
            </a:r>
            <a:r>
              <a:rPr lang="en-IN" dirty="0" smtClean="0"/>
              <a:t>, subject}</a:t>
            </a:r>
            <a:br>
              <a:rPr lang="en-IN" dirty="0" smtClean="0"/>
            </a:br>
            <a:r>
              <a:rPr lang="en-IN" b="1" dirty="0" smtClean="0"/>
              <a:t>Non prime attribute</a:t>
            </a:r>
            <a:r>
              <a:rPr lang="en-IN" dirty="0" smtClean="0"/>
              <a:t>: </a:t>
            </a:r>
            <a:r>
              <a:rPr lang="en-IN" dirty="0" err="1" smtClean="0"/>
              <a:t>teacher_age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873342" cy="3974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38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 err="1">
                          <a:latin typeface="Times New Roman"/>
                          <a:ea typeface="Times New Roman"/>
                          <a:cs typeface="Times New Roman"/>
                        </a:rPr>
                        <a:t>teacher_id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subject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teacher_age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38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111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Maths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38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111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Physics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38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222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Biology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38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333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Physics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40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38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333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</a:rPr>
                        <a:t>Chemistry</a:t>
                      </a:r>
                      <a:endParaRPr lang="en-IN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latin typeface="Times New Roman"/>
                          <a:ea typeface="Times New Roman"/>
                          <a:cs typeface="Times New Roman"/>
                        </a:rPr>
                        <a:t>40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2NF-Full functional dependency</a:t>
            </a:r>
            <a:endParaRPr lang="en-IN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164874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91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 err="1">
                          <a:latin typeface="Times New Roman"/>
                          <a:ea typeface="Times New Roman"/>
                          <a:cs typeface="Times New Roman"/>
                        </a:rPr>
                        <a:t>teacher_id</a:t>
                      </a:r>
                      <a:endParaRPr lang="en-IN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teacher_age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91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111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91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222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91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333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40</a:t>
                      </a:r>
                      <a:endParaRPr lang="en-IN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32400" y="1751633"/>
          <a:ext cx="5413828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6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6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 err="1">
                          <a:latin typeface="Times New Roman"/>
                          <a:ea typeface="Times New Roman"/>
                          <a:cs typeface="Times New Roman"/>
                        </a:rPr>
                        <a:t>teacher_id</a:t>
                      </a:r>
                      <a:endParaRPr lang="en-IN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subject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111</a:t>
                      </a:r>
                      <a:endParaRPr lang="en-IN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Maths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111</a:t>
                      </a:r>
                      <a:endParaRPr lang="en-IN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Physics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222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Biology</a:t>
                      </a:r>
                      <a:endParaRPr lang="en-IN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latin typeface="Times New Roman"/>
                          <a:ea typeface="Times New Roman"/>
                          <a:cs typeface="Times New Roman"/>
                        </a:rPr>
                        <a:t>333</a:t>
                      </a:r>
                      <a:endParaRPr lang="en-IN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Physics</a:t>
                      </a:r>
                      <a:endParaRPr lang="en-IN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333</a:t>
                      </a:r>
                      <a:endParaRPr lang="en-IN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latin typeface="Times New Roman"/>
                          <a:ea typeface="Times New Roman"/>
                          <a:cs typeface="Times New Roman"/>
                        </a:rPr>
                        <a:t>Chemistry</a:t>
                      </a:r>
                      <a:endParaRPr lang="en-IN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752709" y="4393866"/>
            <a:ext cx="2259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teacher_details</a:t>
            </a:r>
            <a:r>
              <a:rPr lang="en-IN" b="1" dirty="0" smtClean="0"/>
              <a:t> table:</a:t>
            </a:r>
            <a:endParaRPr lang="en-IN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883279" y="5487937"/>
            <a:ext cx="39661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teacher_subject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table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778760" y="2076120"/>
              <a:ext cx="4159440" cy="340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8680" y="2067480"/>
                <a:ext cx="4177800" cy="35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Third Normal form (3NF)-Transitive dependency</a:t>
            </a:r>
            <a:br>
              <a:rPr lang="en-IN" b="1" dirty="0" smtClean="0"/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1107167"/>
          <a:ext cx="1113173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5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5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5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emp_id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emp_name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emp_zip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emp_state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emp_city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emp_district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282005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Agra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Dayal</a:t>
                      </a:r>
                      <a:r>
                        <a:rPr lang="en-IN" sz="2000" dirty="0"/>
                        <a:t> </a:t>
                      </a:r>
                      <a:r>
                        <a:rPr lang="en-IN" sz="2000" dirty="0" err="1"/>
                        <a:t>Bagh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Ajeet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222008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M-City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/>
                        <a:t>1006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282007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Urrapakkam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Lilly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292008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UK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Pauri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Bhagwan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/>
                        <a:t>1201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Steve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222999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Gwalior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Ratan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3581124"/>
            <a:ext cx="114822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Candidate Keys: </a:t>
            </a:r>
            <a:r>
              <a:rPr lang="en-IN" sz="2400" dirty="0" smtClean="0"/>
              <a:t>{emp_id}</a:t>
            </a:r>
            <a:r>
              <a:rPr lang="en-IN" sz="2400" b="1" dirty="0" smtClean="0"/>
              <a:t/>
            </a:r>
            <a:br>
              <a:rPr lang="en-IN" sz="2400" b="1" dirty="0" smtClean="0"/>
            </a:br>
            <a:r>
              <a:rPr lang="en-IN" sz="2400" b="1" dirty="0" smtClean="0"/>
              <a:t>Non-prime attributes: </a:t>
            </a:r>
            <a:r>
              <a:rPr lang="en-IN" sz="2400" dirty="0" smtClean="0"/>
              <a:t>all attributes except emp_id are non-prime as they are not part of any candidate keys.</a:t>
            </a:r>
          </a:p>
          <a:p>
            <a:r>
              <a:rPr lang="en-IN" sz="2400" dirty="0" smtClean="0"/>
              <a:t>Here, </a:t>
            </a:r>
            <a:r>
              <a:rPr lang="en-IN" sz="2400" dirty="0" err="1" smtClean="0"/>
              <a:t>emp_state</a:t>
            </a:r>
            <a:r>
              <a:rPr lang="en-IN" sz="2400" dirty="0" smtClean="0"/>
              <a:t>, </a:t>
            </a:r>
            <a:r>
              <a:rPr lang="en-IN" sz="2400" dirty="0" err="1" smtClean="0"/>
              <a:t>emp_city</a:t>
            </a:r>
            <a:r>
              <a:rPr lang="en-IN" sz="2400" dirty="0" smtClean="0"/>
              <a:t> &amp; </a:t>
            </a:r>
            <a:r>
              <a:rPr lang="en-IN" sz="2400" dirty="0" err="1" smtClean="0"/>
              <a:t>emp_district</a:t>
            </a:r>
            <a:r>
              <a:rPr lang="en-IN" sz="2400" dirty="0" smtClean="0"/>
              <a:t> dependent on </a:t>
            </a:r>
            <a:r>
              <a:rPr lang="en-IN" sz="2400" dirty="0" err="1" smtClean="0"/>
              <a:t>emp_zip</a:t>
            </a:r>
            <a:r>
              <a:rPr lang="en-IN" sz="2400" dirty="0" smtClean="0"/>
              <a:t>. </a:t>
            </a:r>
          </a:p>
          <a:p>
            <a:r>
              <a:rPr lang="en-IN" sz="2400" dirty="0" smtClean="0"/>
              <a:t>And, </a:t>
            </a:r>
            <a:r>
              <a:rPr lang="en-IN" sz="2400" dirty="0" err="1" smtClean="0"/>
              <a:t>emp_zip</a:t>
            </a:r>
            <a:r>
              <a:rPr lang="en-IN" sz="2400" dirty="0" smtClean="0"/>
              <a:t> is dependent on emp_id that makes non-prime attributes (</a:t>
            </a:r>
            <a:r>
              <a:rPr lang="en-IN" sz="2400" dirty="0" err="1" smtClean="0"/>
              <a:t>emp_state</a:t>
            </a:r>
            <a:r>
              <a:rPr lang="en-IN" sz="2400" dirty="0" smtClean="0"/>
              <a:t>, </a:t>
            </a:r>
            <a:r>
              <a:rPr lang="en-IN" sz="2400" dirty="0" err="1" smtClean="0"/>
              <a:t>emp_city</a:t>
            </a:r>
            <a:r>
              <a:rPr lang="en-IN" sz="2400" dirty="0" smtClean="0"/>
              <a:t> &amp; </a:t>
            </a:r>
            <a:r>
              <a:rPr lang="en-IN" sz="2400" dirty="0" err="1" smtClean="0"/>
              <a:t>emp_district</a:t>
            </a:r>
            <a:r>
              <a:rPr lang="en-IN" sz="2400" dirty="0" smtClean="0"/>
              <a:t>) transitively dependent on super key (emp_id). This violates the rule of 3NF.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1" y="1825625"/>
          <a:ext cx="3962400" cy="325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032">
                <a:tc>
                  <a:txBody>
                    <a:bodyPr/>
                    <a:lstStyle/>
                    <a:p>
                      <a:r>
                        <a:rPr lang="en-IN" sz="2400" dirty="0"/>
                        <a:t>emp_id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emp_name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emp_zip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32">
                <a:tc>
                  <a:txBody>
                    <a:bodyPr/>
                    <a:lstStyle/>
                    <a:p>
                      <a:r>
                        <a:rPr lang="en-IN" sz="2400" dirty="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282005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32">
                <a:tc>
                  <a:txBody>
                    <a:bodyPr/>
                    <a:lstStyle/>
                    <a:p>
                      <a:r>
                        <a:rPr lang="en-IN" sz="2400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Ajeet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222008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32">
                <a:tc>
                  <a:txBody>
                    <a:bodyPr/>
                    <a:lstStyle/>
                    <a:p>
                      <a:r>
                        <a:rPr lang="en-IN" sz="2400"/>
                        <a:t>1006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282007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032">
                <a:tc>
                  <a:txBody>
                    <a:bodyPr/>
                    <a:lstStyle/>
                    <a:p>
                      <a:r>
                        <a:rPr lang="en-IN" sz="2400"/>
                        <a:t>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Lilly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292008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032">
                <a:tc>
                  <a:txBody>
                    <a:bodyPr/>
                    <a:lstStyle/>
                    <a:p>
                      <a:r>
                        <a:rPr lang="en-IN" sz="2400"/>
                        <a:t>1201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Steve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222999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442662" y="5164574"/>
            <a:ext cx="1730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employee table: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87388" y="1905311"/>
          <a:ext cx="6166096" cy="3997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IN" sz="2400" dirty="0" err="1"/>
                        <a:t>emp_zip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emp_state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emp_city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emp_district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42">
                <a:tc>
                  <a:txBody>
                    <a:bodyPr/>
                    <a:lstStyle/>
                    <a:p>
                      <a:r>
                        <a:rPr lang="en-IN" sz="2400" dirty="0"/>
                        <a:t>282005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Agra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Dayal Bagh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42">
                <a:tc>
                  <a:txBody>
                    <a:bodyPr/>
                    <a:lstStyle/>
                    <a:p>
                      <a:r>
                        <a:rPr lang="en-IN" sz="2400"/>
                        <a:t>222008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M-City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42">
                <a:tc>
                  <a:txBody>
                    <a:bodyPr/>
                    <a:lstStyle/>
                    <a:p>
                      <a:r>
                        <a:rPr lang="en-IN" sz="2400"/>
                        <a:t>282007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Chennai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Urrapakkam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42">
                <a:tc>
                  <a:txBody>
                    <a:bodyPr/>
                    <a:lstStyle/>
                    <a:p>
                      <a:r>
                        <a:rPr lang="en-IN" sz="2400"/>
                        <a:t>292008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UK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Pauri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Bhagwan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42">
                <a:tc>
                  <a:txBody>
                    <a:bodyPr/>
                    <a:lstStyle/>
                    <a:p>
                      <a:r>
                        <a:rPr lang="en-IN" sz="2400"/>
                        <a:t>222999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Gwalior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Ratan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31086" y="5827963"/>
            <a:ext cx="10583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Emp_zip</a:t>
            </a:r>
            <a:r>
              <a:rPr lang="en-IN" b="1" dirty="0" smtClean="0"/>
              <a:t>: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Boyce </a:t>
            </a:r>
            <a:r>
              <a:rPr lang="en-IN" b="1" dirty="0" err="1" smtClean="0"/>
              <a:t>Codd</a:t>
            </a:r>
            <a:r>
              <a:rPr lang="en-IN" b="1" dirty="0" smtClean="0"/>
              <a:t> normal form (BCNF)</a:t>
            </a:r>
            <a:br>
              <a:rPr lang="en-IN" b="1" dirty="0" smtClean="0"/>
            </a:br>
            <a:r>
              <a:rPr lang="en-IN" b="1" dirty="0" smtClean="0"/>
              <a:t>It is an advance version of 3NF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6777445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5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emp_id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emp_nationality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emp_dept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dept_type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dept_no_of_emp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Austrian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Production and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Austrian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stores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American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design and technical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D134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American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Purchasing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D134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15943" y="1585184"/>
            <a:ext cx="403091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Functional dependencies in the table above</a:t>
            </a:r>
            <a:r>
              <a:rPr lang="en-IN" sz="2400" dirty="0" smtClean="0"/>
              <a:t>:</a:t>
            </a:r>
            <a:br>
              <a:rPr lang="en-IN" sz="2400" dirty="0" smtClean="0"/>
            </a:br>
            <a:r>
              <a:rPr lang="en-IN" sz="2400" dirty="0" smtClean="0"/>
              <a:t>emp_id -&gt; </a:t>
            </a:r>
            <a:r>
              <a:rPr lang="en-IN" sz="2400" dirty="0" err="1" smtClean="0"/>
              <a:t>emp_nationality</a:t>
            </a:r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err="1" smtClean="0"/>
              <a:t>emp_dept</a:t>
            </a:r>
            <a:r>
              <a:rPr lang="en-IN" sz="2400" dirty="0" smtClean="0"/>
              <a:t> -&gt; {</a:t>
            </a:r>
            <a:r>
              <a:rPr lang="en-IN" sz="2400" dirty="0" err="1" smtClean="0"/>
              <a:t>dept_type</a:t>
            </a:r>
            <a:r>
              <a:rPr lang="en-IN" sz="2400" dirty="0" smtClean="0"/>
              <a:t>, </a:t>
            </a:r>
            <a:r>
              <a:rPr lang="en-IN" sz="2400" dirty="0" err="1" smtClean="0"/>
              <a:t>dept_no_of_emp</a:t>
            </a:r>
            <a:r>
              <a:rPr lang="en-IN" sz="2400" dirty="0" smtClean="0"/>
              <a:t>}</a:t>
            </a:r>
          </a:p>
          <a:p>
            <a:endParaRPr lang="en-IN" sz="2400" dirty="0" smtClean="0"/>
          </a:p>
          <a:p>
            <a:r>
              <a:rPr lang="en-IN" sz="2400" b="1" dirty="0" smtClean="0"/>
              <a:t>Candidate key</a:t>
            </a:r>
            <a:r>
              <a:rPr lang="en-IN" sz="2400" dirty="0" smtClean="0"/>
              <a:t>: </a:t>
            </a:r>
            <a:r>
              <a:rPr lang="en-IN" sz="2400" dirty="0" smtClean="0">
                <a:solidFill>
                  <a:srgbClr val="FF0000"/>
                </a:solidFill>
              </a:rPr>
              <a:t>{emp_id, </a:t>
            </a:r>
            <a:r>
              <a:rPr lang="en-IN" sz="2400" dirty="0" err="1" smtClean="0">
                <a:solidFill>
                  <a:srgbClr val="FF0000"/>
                </a:solidFill>
              </a:rPr>
              <a:t>emp_dept</a:t>
            </a:r>
            <a:r>
              <a:rPr lang="en-IN" sz="2400" dirty="0" smtClean="0">
                <a:solidFill>
                  <a:srgbClr val="FF0000"/>
                </a:solidFill>
              </a:rPr>
              <a:t>}</a:t>
            </a:r>
          </a:p>
          <a:p>
            <a:r>
              <a:rPr lang="en-IN" sz="2400" dirty="0" smtClean="0"/>
              <a:t>The table is not in BCNF as neither emp_id nor </a:t>
            </a:r>
            <a:r>
              <a:rPr lang="en-IN" sz="2400" dirty="0" err="1" smtClean="0"/>
              <a:t>emp_dept</a:t>
            </a:r>
            <a:r>
              <a:rPr lang="en-IN" sz="2400" dirty="0" smtClean="0"/>
              <a:t> alone are keys.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42703" y="689156"/>
          <a:ext cx="322435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emp_id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emp_nationality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Austrian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American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17859" y="2512814"/>
            <a:ext cx="236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emp_nationality</a:t>
            </a:r>
            <a:r>
              <a:rPr lang="en-IN" b="1" dirty="0" smtClean="0"/>
              <a:t> table: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34185" y="548639"/>
          <a:ext cx="5178695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0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1" dirty="0" err="1"/>
                        <a:t>emp_dept</a:t>
                      </a:r>
                      <a:endParaRPr lang="en-IN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 err="1"/>
                        <a:t>dept_type</a:t>
                      </a:r>
                      <a:endParaRPr lang="en-IN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dept_no_of_emp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/>
                        <a:t>Production and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/>
                        <a:t>stores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/>
                        <a:t>design and technical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D134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/>
                        <a:t>Purchasing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D134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4639" y="3279986"/>
          <a:ext cx="533545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0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1" dirty="0"/>
                        <a:t>emp_id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 err="1"/>
                        <a:t>emp_dept</a:t>
                      </a:r>
                      <a:endParaRPr lang="en-IN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Production and 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/>
                        <a:t>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stores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design and technical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/>
                        <a:t>1002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Purchasing department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466959" y="6482172"/>
            <a:ext cx="2723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emp_dept_mapping</a:t>
            </a:r>
            <a:r>
              <a:rPr lang="en-IN" b="1" dirty="0" smtClean="0"/>
              <a:t> table: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8619554" y="6297506"/>
            <a:ext cx="1771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/>
              <a:t>emp_dept</a:t>
            </a:r>
            <a:r>
              <a:rPr lang="en-IN" b="1" dirty="0" smtClean="0"/>
              <a:t> table: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Functional dependencies</a:t>
            </a:r>
            <a:r>
              <a:rPr lang="en-IN" dirty="0" smtClean="0"/>
              <a:t>:</a:t>
            </a:r>
            <a:br>
              <a:rPr lang="en-IN" dirty="0" smtClean="0"/>
            </a:br>
            <a:r>
              <a:rPr lang="en-IN" dirty="0" smtClean="0"/>
              <a:t>emp_id -&gt; </a:t>
            </a:r>
            <a:r>
              <a:rPr lang="en-IN" dirty="0" err="1" smtClean="0"/>
              <a:t>emp_nationality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err="1" smtClean="0"/>
              <a:t>emp_dept</a:t>
            </a:r>
            <a:r>
              <a:rPr lang="en-IN" dirty="0" smtClean="0"/>
              <a:t> -&gt; {</a:t>
            </a:r>
            <a:r>
              <a:rPr lang="en-IN" dirty="0" err="1" smtClean="0"/>
              <a:t>dept_type</a:t>
            </a:r>
            <a:r>
              <a:rPr lang="en-IN" dirty="0" smtClean="0"/>
              <a:t>, </a:t>
            </a:r>
            <a:r>
              <a:rPr lang="en-IN" dirty="0" err="1" smtClean="0"/>
              <a:t>dept_no_of_emp</a:t>
            </a:r>
            <a:r>
              <a:rPr lang="en-IN" dirty="0" smtClean="0"/>
              <a:t>}</a:t>
            </a:r>
          </a:p>
          <a:p>
            <a:endParaRPr lang="en-IN" dirty="0" smtClean="0"/>
          </a:p>
          <a:p>
            <a:r>
              <a:rPr lang="en-IN" b="1" dirty="0" smtClean="0"/>
              <a:t>Candidate keys</a:t>
            </a:r>
            <a:r>
              <a:rPr lang="en-IN" dirty="0" smtClean="0"/>
              <a:t>:</a:t>
            </a:r>
            <a:br>
              <a:rPr lang="en-IN" dirty="0" smtClean="0"/>
            </a:br>
            <a:r>
              <a:rPr lang="en-IN" dirty="0" smtClean="0"/>
              <a:t>For first table: emp_id</a:t>
            </a:r>
            <a:br>
              <a:rPr lang="en-IN" dirty="0" smtClean="0"/>
            </a:br>
            <a:r>
              <a:rPr lang="en-IN" dirty="0" smtClean="0"/>
              <a:t>For second table: </a:t>
            </a:r>
            <a:r>
              <a:rPr lang="en-IN" dirty="0" err="1" smtClean="0"/>
              <a:t>emp_dept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For third table: {emp_id, </a:t>
            </a:r>
            <a:r>
              <a:rPr lang="en-IN" dirty="0" err="1" smtClean="0"/>
              <a:t>emp_dept</a:t>
            </a:r>
            <a:r>
              <a:rPr lang="en-IN" dirty="0" smtClean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46957-CF21-412A-8F59-5A9123B8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Sales Records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2444B1-C749-4102-BE94-D6F0F92F7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054159"/>
              </p:ext>
            </p:extLst>
          </p:nvPr>
        </p:nvGraphicFramePr>
        <p:xfrm>
          <a:off x="886691" y="1825624"/>
          <a:ext cx="10321091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2368">
                  <a:extLst>
                    <a:ext uri="{9D8B030D-6E8A-4147-A177-3AD203B41FA5}">
                      <a16:colId xmlns:a16="http://schemas.microsoft.com/office/drawing/2014/main" val="1479134332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1464564787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4233670716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3672306955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638095550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3864304530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351717503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1101819551"/>
                    </a:ext>
                  </a:extLst>
                </a:gridCol>
              </a:tblGrid>
              <a:tr h="639495">
                <a:tc>
                  <a:txBody>
                    <a:bodyPr/>
                    <a:lstStyle/>
                    <a:p>
                      <a:r>
                        <a:rPr lang="en-IN" b="1" dirty="0"/>
                        <a:t>Cust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Cust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Shipping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Newsletter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Supplier 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91833"/>
                  </a:ext>
                </a:extLst>
              </a:tr>
              <a:tr h="639495">
                <a:tc>
                  <a:txBody>
                    <a:bodyPr/>
                    <a:lstStyle/>
                    <a:p>
                      <a:r>
                        <a:rPr lang="en-IN" dirty="0" err="1"/>
                        <a:t>at_smith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Alan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Xbox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 Palm 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Xbox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(800) Buy- XBOX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374333"/>
                  </a:ext>
                </a:extLst>
              </a:tr>
              <a:tr h="639495">
                <a:tc>
                  <a:txBody>
                    <a:bodyPr/>
                    <a:lstStyle/>
                    <a:p>
                      <a:r>
                        <a:rPr lang="en-IN" dirty="0"/>
                        <a:t>roger25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Roger Banks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 Camp 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(800) Buy- 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5347"/>
                  </a:ext>
                </a:extLst>
              </a:tr>
              <a:tr h="639495">
                <a:tc>
                  <a:txBody>
                    <a:bodyPr/>
                    <a:lstStyle/>
                    <a:p>
                      <a:r>
                        <a:rPr lang="en-IN" dirty="0"/>
                        <a:t>wilson44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Evan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Xbox One</a:t>
                      </a:r>
                    </a:p>
                    <a:p>
                      <a:r>
                        <a:rPr lang="en-IN" dirty="0"/>
                        <a:t>PS Vista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 Rock Av.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Xbox News, PS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Microsoft, Sony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(800) Buy- XBOX, (800) Buy- 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230649"/>
                  </a:ext>
                </a:extLst>
              </a:tr>
              <a:tr h="9135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am_smith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Alan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47 Camp Rd.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PS News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Sony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(800) Buy- SONY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046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684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75E2-A9E8-4BFE-8492-5F352E22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1NF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4A95308-B234-47EC-913F-6FCF4BB24D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6250823"/>
              </p:ext>
            </p:extLst>
          </p:nvPr>
        </p:nvGraphicFramePr>
        <p:xfrm>
          <a:off x="838200" y="1479260"/>
          <a:ext cx="10321091" cy="43882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2368">
                  <a:extLst>
                    <a:ext uri="{9D8B030D-6E8A-4147-A177-3AD203B41FA5}">
                      <a16:colId xmlns:a16="http://schemas.microsoft.com/office/drawing/2014/main" val="1479134332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1464564787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4233670716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3672306955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638095550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3864304530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351717503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1101819551"/>
                    </a:ext>
                  </a:extLst>
                </a:gridCol>
              </a:tblGrid>
              <a:tr h="639495">
                <a:tc>
                  <a:txBody>
                    <a:bodyPr/>
                    <a:lstStyle/>
                    <a:p>
                      <a:r>
                        <a:rPr lang="en-IN" b="1" dirty="0"/>
                        <a:t>Cust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Cust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Shipping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Newsletter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Supplier 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91833"/>
                  </a:ext>
                </a:extLst>
              </a:tr>
              <a:tr h="639495">
                <a:tc>
                  <a:txBody>
                    <a:bodyPr/>
                    <a:lstStyle/>
                    <a:p>
                      <a:r>
                        <a:rPr lang="en-IN" dirty="0" err="1"/>
                        <a:t>at_smith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Alan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Xbox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 Palm 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Xbox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(800) Buy- XBOX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374333"/>
                  </a:ext>
                </a:extLst>
              </a:tr>
              <a:tr h="639495">
                <a:tc>
                  <a:txBody>
                    <a:bodyPr/>
                    <a:lstStyle/>
                    <a:p>
                      <a:r>
                        <a:rPr lang="en-IN" dirty="0"/>
                        <a:t>roger25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Roger Banks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 Camp 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(800) Buy- 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5347"/>
                  </a:ext>
                </a:extLst>
              </a:tr>
              <a:tr h="639495">
                <a:tc>
                  <a:txBody>
                    <a:bodyPr/>
                    <a:lstStyle/>
                    <a:p>
                      <a:r>
                        <a:rPr lang="en-IN" dirty="0"/>
                        <a:t>wilson44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Evan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Xbox One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 Rock Av.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Xbox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(800) Buy- XBOX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230649"/>
                  </a:ext>
                </a:extLst>
              </a:tr>
              <a:tr h="913564">
                <a:tc>
                  <a:txBody>
                    <a:bodyPr/>
                    <a:lstStyle/>
                    <a:p>
                      <a:r>
                        <a:rPr lang="en-IN" dirty="0"/>
                        <a:t>wilson44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Evan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  <a:p>
                      <a:r>
                        <a:rPr lang="en-IN" dirty="0"/>
                        <a:t>PS Vista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 Rock Av.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 PS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(800) Buy- 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010561"/>
                  </a:ext>
                </a:extLst>
              </a:tr>
              <a:tr h="9135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am_smith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Alan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47 Camp Rd.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PS News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Sony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(800) Buy- SONY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046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59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75E2-A9E8-4BFE-8492-5F352E22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113" y="167944"/>
            <a:ext cx="10515600" cy="1325563"/>
          </a:xfrm>
        </p:spPr>
        <p:txBody>
          <a:bodyPr/>
          <a:lstStyle/>
          <a:p>
            <a:r>
              <a:rPr lang="en-IN" b="1" dirty="0"/>
              <a:t>2NF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4A95308-B234-47EC-913F-6FCF4BB24D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8966343"/>
              </p:ext>
            </p:extLst>
          </p:nvPr>
        </p:nvGraphicFramePr>
        <p:xfrm>
          <a:off x="567486" y="1343891"/>
          <a:ext cx="6013427" cy="46833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9023">
                  <a:extLst>
                    <a:ext uri="{9D8B030D-6E8A-4147-A177-3AD203B41FA5}">
                      <a16:colId xmlns:a16="http://schemas.microsoft.com/office/drawing/2014/main" val="1479134332"/>
                    </a:ext>
                  </a:extLst>
                </a:gridCol>
                <a:gridCol w="1033975">
                  <a:extLst>
                    <a:ext uri="{9D8B030D-6E8A-4147-A177-3AD203B41FA5}">
                      <a16:colId xmlns:a16="http://schemas.microsoft.com/office/drawing/2014/main" val="1464564787"/>
                    </a:ext>
                  </a:extLst>
                </a:gridCol>
                <a:gridCol w="1230143">
                  <a:extLst>
                    <a:ext uri="{9D8B030D-6E8A-4147-A177-3AD203B41FA5}">
                      <a16:colId xmlns:a16="http://schemas.microsoft.com/office/drawing/2014/main" val="3672306955"/>
                    </a:ext>
                  </a:extLst>
                </a:gridCol>
                <a:gridCol w="1230143">
                  <a:extLst>
                    <a:ext uri="{9D8B030D-6E8A-4147-A177-3AD203B41FA5}">
                      <a16:colId xmlns:a16="http://schemas.microsoft.com/office/drawing/2014/main" val="638095550"/>
                    </a:ext>
                  </a:extLst>
                </a:gridCol>
                <a:gridCol w="1230143">
                  <a:extLst>
                    <a:ext uri="{9D8B030D-6E8A-4147-A177-3AD203B41FA5}">
                      <a16:colId xmlns:a16="http://schemas.microsoft.com/office/drawing/2014/main" val="1919119124"/>
                    </a:ext>
                  </a:extLst>
                </a:gridCol>
              </a:tblGrid>
              <a:tr h="683123">
                <a:tc>
                  <a:txBody>
                    <a:bodyPr/>
                    <a:lstStyle/>
                    <a:p>
                      <a:r>
                        <a:rPr lang="en-IN" b="1" dirty="0"/>
                        <a:t>Cust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Cust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Shipping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Newsletter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91833"/>
                  </a:ext>
                </a:extLst>
              </a:tr>
              <a:tr h="683123">
                <a:tc>
                  <a:txBody>
                    <a:bodyPr/>
                    <a:lstStyle/>
                    <a:p>
                      <a:r>
                        <a:rPr lang="en-IN" dirty="0" err="1"/>
                        <a:t>at_smith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Alan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 Palm 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Xbox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Xbox 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374333"/>
                  </a:ext>
                </a:extLst>
              </a:tr>
              <a:tr h="683123">
                <a:tc>
                  <a:txBody>
                    <a:bodyPr/>
                    <a:lstStyle/>
                    <a:p>
                      <a:r>
                        <a:rPr lang="en-IN" dirty="0"/>
                        <a:t>roger25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Roger Banks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 Camp 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5347"/>
                  </a:ext>
                </a:extLst>
              </a:tr>
              <a:tr h="683123">
                <a:tc>
                  <a:txBody>
                    <a:bodyPr/>
                    <a:lstStyle/>
                    <a:p>
                      <a:r>
                        <a:rPr lang="en-IN" dirty="0"/>
                        <a:t>wilson44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Evan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 Rock Av.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Xbox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Xbox 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230649"/>
                  </a:ext>
                </a:extLst>
              </a:tr>
              <a:tr h="975000">
                <a:tc>
                  <a:txBody>
                    <a:bodyPr/>
                    <a:lstStyle/>
                    <a:p>
                      <a:r>
                        <a:rPr lang="en-IN" dirty="0"/>
                        <a:t>wilson44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Evan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 Rock Av.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 PS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  <a:p>
                      <a:r>
                        <a:rPr lang="en-IN" dirty="0"/>
                        <a:t>PS Vista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010561"/>
                  </a:ext>
                </a:extLst>
              </a:tr>
              <a:tr h="9758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am_smith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Alan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47 Camp Rd.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PS News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046439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90C062-85C2-4EE2-A87C-BCDD688C4F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3950290"/>
              </p:ext>
            </p:extLst>
          </p:nvPr>
        </p:nvGraphicFramePr>
        <p:xfrm>
          <a:off x="6723467" y="2012098"/>
          <a:ext cx="4706533" cy="28338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8389">
                  <a:extLst>
                    <a:ext uri="{9D8B030D-6E8A-4147-A177-3AD203B41FA5}">
                      <a16:colId xmlns:a16="http://schemas.microsoft.com/office/drawing/2014/main" val="4233670716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3864304530"/>
                    </a:ext>
                  </a:extLst>
                </a:gridCol>
                <a:gridCol w="1308389">
                  <a:extLst>
                    <a:ext uri="{9D8B030D-6E8A-4147-A177-3AD203B41FA5}">
                      <a16:colId xmlns:a16="http://schemas.microsoft.com/office/drawing/2014/main" val="351717503"/>
                    </a:ext>
                  </a:extLst>
                </a:gridCol>
                <a:gridCol w="781366">
                  <a:extLst>
                    <a:ext uri="{9D8B030D-6E8A-4147-A177-3AD203B41FA5}">
                      <a16:colId xmlns:a16="http://schemas.microsoft.com/office/drawing/2014/main" val="1101819551"/>
                    </a:ext>
                  </a:extLst>
                </a:gridCol>
              </a:tblGrid>
              <a:tr h="639495">
                <a:tc>
                  <a:txBody>
                    <a:bodyPr/>
                    <a:lstStyle/>
                    <a:p>
                      <a:r>
                        <a:rPr lang="en-IN" b="1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Supplier 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91833"/>
                  </a:ext>
                </a:extLst>
              </a:tr>
              <a:tr h="639495">
                <a:tc>
                  <a:txBody>
                    <a:bodyPr/>
                    <a:lstStyle/>
                    <a:p>
                      <a:r>
                        <a:rPr lang="en-IN" dirty="0"/>
                        <a:t>Xbox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(800) Buy- XBOX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374333"/>
                  </a:ext>
                </a:extLst>
              </a:tr>
              <a:tr h="639495"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(800) Buy- 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5347"/>
                  </a:ext>
                </a:extLst>
              </a:tr>
              <a:tr h="9135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  <a:p>
                      <a:r>
                        <a:rPr lang="en-IN" dirty="0"/>
                        <a:t>PS Vista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(800) Buy- 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010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858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75E2-A9E8-4BFE-8492-5F352E22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09049"/>
            <a:ext cx="10515600" cy="1325563"/>
          </a:xfrm>
        </p:spPr>
        <p:txBody>
          <a:bodyPr/>
          <a:lstStyle/>
          <a:p>
            <a:r>
              <a:rPr lang="en-IN" b="1" dirty="0"/>
              <a:t>3NF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4A95308-B234-47EC-913F-6FCF4BB24D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5574009"/>
              </p:ext>
            </p:extLst>
          </p:nvPr>
        </p:nvGraphicFramePr>
        <p:xfrm>
          <a:off x="277092" y="1190921"/>
          <a:ext cx="6151422" cy="4795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7934">
                  <a:extLst>
                    <a:ext uri="{9D8B030D-6E8A-4147-A177-3AD203B41FA5}">
                      <a16:colId xmlns:a16="http://schemas.microsoft.com/office/drawing/2014/main" val="1479134332"/>
                    </a:ext>
                  </a:extLst>
                </a:gridCol>
                <a:gridCol w="1258372">
                  <a:extLst>
                    <a:ext uri="{9D8B030D-6E8A-4147-A177-3AD203B41FA5}">
                      <a16:colId xmlns:a16="http://schemas.microsoft.com/office/drawing/2014/main" val="1464564787"/>
                    </a:ext>
                  </a:extLst>
                </a:gridCol>
                <a:gridCol w="1258372">
                  <a:extLst>
                    <a:ext uri="{9D8B030D-6E8A-4147-A177-3AD203B41FA5}">
                      <a16:colId xmlns:a16="http://schemas.microsoft.com/office/drawing/2014/main" val="3672306955"/>
                    </a:ext>
                  </a:extLst>
                </a:gridCol>
                <a:gridCol w="1258372">
                  <a:extLst>
                    <a:ext uri="{9D8B030D-6E8A-4147-A177-3AD203B41FA5}">
                      <a16:colId xmlns:a16="http://schemas.microsoft.com/office/drawing/2014/main" val="638095550"/>
                    </a:ext>
                  </a:extLst>
                </a:gridCol>
                <a:gridCol w="1258372">
                  <a:extLst>
                    <a:ext uri="{9D8B030D-6E8A-4147-A177-3AD203B41FA5}">
                      <a16:colId xmlns:a16="http://schemas.microsoft.com/office/drawing/2014/main" val="1919119124"/>
                    </a:ext>
                  </a:extLst>
                </a:gridCol>
              </a:tblGrid>
              <a:tr h="683123">
                <a:tc>
                  <a:txBody>
                    <a:bodyPr/>
                    <a:lstStyle/>
                    <a:p>
                      <a:r>
                        <a:rPr lang="en-IN" b="1" dirty="0"/>
                        <a:t>Cust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Cust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Shipping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Newsletter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91833"/>
                  </a:ext>
                </a:extLst>
              </a:tr>
              <a:tr h="683123">
                <a:tc>
                  <a:txBody>
                    <a:bodyPr/>
                    <a:lstStyle/>
                    <a:p>
                      <a:r>
                        <a:rPr lang="en-IN" dirty="0" err="1"/>
                        <a:t>at_smith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Alan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 Palm 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Xbox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Xbox 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374333"/>
                  </a:ext>
                </a:extLst>
              </a:tr>
              <a:tr h="795075">
                <a:tc>
                  <a:txBody>
                    <a:bodyPr/>
                    <a:lstStyle/>
                    <a:p>
                      <a:r>
                        <a:rPr lang="en-IN" dirty="0"/>
                        <a:t>roger25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Roger Banks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 Camp 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5347"/>
                  </a:ext>
                </a:extLst>
              </a:tr>
              <a:tr h="683123">
                <a:tc>
                  <a:txBody>
                    <a:bodyPr/>
                    <a:lstStyle/>
                    <a:p>
                      <a:r>
                        <a:rPr lang="en-IN" dirty="0"/>
                        <a:t>wilson44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Evan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 Rock Av.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Xbox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Xbox 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230649"/>
                  </a:ext>
                </a:extLst>
              </a:tr>
              <a:tr h="975000">
                <a:tc>
                  <a:txBody>
                    <a:bodyPr/>
                    <a:lstStyle/>
                    <a:p>
                      <a:r>
                        <a:rPr lang="en-IN" dirty="0"/>
                        <a:t>wilson44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Evan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 Rock Av.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 PS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  <a:p>
                      <a:r>
                        <a:rPr lang="en-IN" dirty="0"/>
                        <a:t>PS Vista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010561"/>
                  </a:ext>
                </a:extLst>
              </a:tr>
              <a:tr h="9758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am_smith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Alan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47 Camp Rd.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PS News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046439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90C062-85C2-4EE2-A87C-BCDD688C4F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7116077"/>
              </p:ext>
            </p:extLst>
          </p:nvPr>
        </p:nvGraphicFramePr>
        <p:xfrm>
          <a:off x="6571067" y="868679"/>
          <a:ext cx="3192195" cy="25603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5683">
                  <a:extLst>
                    <a:ext uri="{9D8B030D-6E8A-4147-A177-3AD203B41FA5}">
                      <a16:colId xmlns:a16="http://schemas.microsoft.com/office/drawing/2014/main" val="4233670716"/>
                    </a:ext>
                  </a:extLst>
                </a:gridCol>
                <a:gridCol w="1195683">
                  <a:extLst>
                    <a:ext uri="{9D8B030D-6E8A-4147-A177-3AD203B41FA5}">
                      <a16:colId xmlns:a16="http://schemas.microsoft.com/office/drawing/2014/main" val="3864304530"/>
                    </a:ext>
                  </a:extLst>
                </a:gridCol>
                <a:gridCol w="800829">
                  <a:extLst>
                    <a:ext uri="{9D8B030D-6E8A-4147-A177-3AD203B41FA5}">
                      <a16:colId xmlns:a16="http://schemas.microsoft.com/office/drawing/2014/main" val="1101819551"/>
                    </a:ext>
                  </a:extLst>
                </a:gridCol>
              </a:tblGrid>
              <a:tr h="560282">
                <a:tc>
                  <a:txBody>
                    <a:bodyPr/>
                    <a:lstStyle/>
                    <a:p>
                      <a:r>
                        <a:rPr lang="en-IN" b="1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91833"/>
                  </a:ext>
                </a:extLst>
              </a:tr>
              <a:tr h="560282">
                <a:tc>
                  <a:txBody>
                    <a:bodyPr/>
                    <a:lstStyle/>
                    <a:p>
                      <a:r>
                        <a:rPr lang="en-IN" dirty="0"/>
                        <a:t>Xbox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374333"/>
                  </a:ext>
                </a:extLst>
              </a:tr>
              <a:tr h="560282">
                <a:tc>
                  <a:txBody>
                    <a:bodyPr/>
                    <a:lstStyle/>
                    <a:p>
                      <a:r>
                        <a:rPr lang="en-IN" dirty="0"/>
                        <a:t>PS4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5347"/>
                  </a:ext>
                </a:extLst>
              </a:tr>
              <a:tr h="799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  <a:p>
                      <a:r>
                        <a:rPr lang="en-IN" dirty="0"/>
                        <a:t>PS Vista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01056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9640644-5FAB-46C2-BB9B-7266EFFDDD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176656"/>
              </p:ext>
            </p:extLst>
          </p:nvPr>
        </p:nvGraphicFramePr>
        <p:xfrm>
          <a:off x="6695206" y="3782287"/>
          <a:ext cx="3626430" cy="2106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3215">
                  <a:extLst>
                    <a:ext uri="{9D8B030D-6E8A-4147-A177-3AD203B41FA5}">
                      <a16:colId xmlns:a16="http://schemas.microsoft.com/office/drawing/2014/main" val="3864304530"/>
                    </a:ext>
                  </a:extLst>
                </a:gridCol>
                <a:gridCol w="1813215">
                  <a:extLst>
                    <a:ext uri="{9D8B030D-6E8A-4147-A177-3AD203B41FA5}">
                      <a16:colId xmlns:a16="http://schemas.microsoft.com/office/drawing/2014/main" val="351717503"/>
                    </a:ext>
                  </a:extLst>
                </a:gridCol>
              </a:tblGrid>
              <a:tr h="826838">
                <a:tc>
                  <a:txBody>
                    <a:bodyPr/>
                    <a:lstStyle/>
                    <a:p>
                      <a:r>
                        <a:rPr lang="en-IN" b="1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Supplier 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91833"/>
                  </a:ext>
                </a:extLst>
              </a:tr>
              <a:tr h="572475">
                <a:tc>
                  <a:txBody>
                    <a:bodyPr/>
                    <a:lstStyle/>
                    <a:p>
                      <a:r>
                        <a:rPr lang="en-IN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(800) Buy- XBOX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374333"/>
                  </a:ext>
                </a:extLst>
              </a:tr>
              <a:tr h="507637">
                <a:tc>
                  <a:txBody>
                    <a:bodyPr/>
                    <a:lstStyle/>
                    <a:p>
                      <a:r>
                        <a:rPr lang="en-IN" dirty="0"/>
                        <a:t>Sony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(800) Buy- SONY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5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92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697</Words>
  <Application>Microsoft Office PowerPoint</Application>
  <PresentationFormat>Widescreen</PresentationFormat>
  <Paragraphs>438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NORMALIZATION EXAMPLE</vt:lpstr>
      <vt:lpstr>Not in 1NF</vt:lpstr>
      <vt:lpstr>1NF</vt:lpstr>
      <vt:lpstr>Candidate Keys: {teacher_id, subject} Non prime attribute: teacher_age </vt:lpstr>
      <vt:lpstr>2NF-Full functional dependency</vt:lpstr>
      <vt:lpstr>Third Normal form (3NF)-Transitive dependency </vt:lpstr>
      <vt:lpstr>PowerPoint Presentation</vt:lpstr>
      <vt:lpstr>Boyce Codd normal form (BCNF) It is an advance version of 3NF </vt:lpstr>
      <vt:lpstr>PowerPoint Presentation</vt:lpstr>
      <vt:lpstr>PowerPoint Presentation</vt:lpstr>
      <vt:lpstr>Sales Records</vt:lpstr>
      <vt:lpstr>1NF</vt:lpstr>
      <vt:lpstr>2NF</vt:lpstr>
      <vt:lpstr>3NF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AARTHI</dc:creator>
  <cp:lastModifiedBy>user</cp:lastModifiedBy>
  <cp:revision>30</cp:revision>
  <dcterms:created xsi:type="dcterms:W3CDTF">2019-02-05T14:53:04Z</dcterms:created>
  <dcterms:modified xsi:type="dcterms:W3CDTF">2025-03-05T04:08:25Z</dcterms:modified>
</cp:coreProperties>
</file>