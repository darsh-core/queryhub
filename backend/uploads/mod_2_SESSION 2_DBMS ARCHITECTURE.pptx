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10" r:id="rId2"/>
    <p:sldId id="258" r:id="rId3"/>
    <p:sldId id="413" r:id="rId4"/>
    <p:sldId id="483" r:id="rId5"/>
    <p:sldId id="531" r:id="rId6"/>
    <p:sldId id="559" r:id="rId7"/>
    <p:sldId id="554" r:id="rId8"/>
    <p:sldId id="555" r:id="rId9"/>
    <p:sldId id="556" r:id="rId10"/>
    <p:sldId id="542" r:id="rId11"/>
    <p:sldId id="543" r:id="rId12"/>
    <p:sldId id="544" r:id="rId13"/>
    <p:sldId id="545" r:id="rId14"/>
    <p:sldId id="546" r:id="rId15"/>
    <p:sldId id="549" r:id="rId16"/>
    <p:sldId id="550" r:id="rId17"/>
    <p:sldId id="551" r:id="rId18"/>
    <p:sldId id="552" r:id="rId19"/>
    <p:sldId id="553" r:id="rId20"/>
    <p:sldId id="558" r:id="rId21"/>
    <p:sldId id="528" r:id="rId22"/>
    <p:sldId id="411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24" autoAdjust="0"/>
    <p:restoredTop sz="87971" autoAdjust="0"/>
  </p:normalViewPr>
  <p:slideViewPr>
    <p:cSldViewPr>
      <p:cViewPr varScale="1">
        <p:scale>
          <a:sx n="73" d="100"/>
          <a:sy n="73" d="100"/>
        </p:scale>
        <p:origin x="96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58763" units="1/cm"/>
        </inkml:channelProperties>
      </inkml:inkSource>
      <inkml:timestamp xml:id="ts0" timeString="2022-02-26T04:10:05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13320 16619</inkml:trace>
  <inkml:trace contextRef="#ctx0" brushRef="#br0" timeOffset="1685.9884">13320 16619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39.7093" units="1/cm"/>
          <inkml:channelProperty channel="Y" name="resolution" value="39.58763" units="1/cm"/>
        </inkml:channelProperties>
      </inkml:inkSource>
      <inkml:timestamp xml:id="ts0" timeString="2022-03-01T04:59:34.9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16371 15106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0B9AE-A6FD-4340-8796-B3DD08C49BFA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DDBCF-62DD-41D3-BF56-2DCC1369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6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F7F5A-C11F-41DC-8103-F9FFE06AE4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78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DDDBCF-62DD-41D3-BF56-2DCC136966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4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1A8E1-26E0-49DB-AC7E-2EF92CC601DA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0C967-BB2F-4E2B-BD5F-30068A8ED89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7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7700-F1ED-428F-B552-7FEC0EA1E817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5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98B2-5E35-4EE6-89C9-61C3AEB0E92F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58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7B0B-6576-4AE5-8659-D0607FB34AE6}" type="datetime1">
              <a:rPr lang="en-IN" smtClean="0"/>
              <a:t>11-01-2025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7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EBDC-738C-4FFA-8183-317ADFC99BC3}" type="datetime1">
              <a:rPr lang="en-IN" smtClean="0"/>
              <a:t>11-01-2025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6F79-9F22-4D00-B288-E7577EAC9FBB}" type="datetime1">
              <a:rPr lang="en-IN" smtClean="0"/>
              <a:t>11-01-2025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3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8742-CBA0-479C-AE2A-0007ABD6031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3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5703-5067-4702-B21A-A755B6F0527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1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EBF32-5D0C-4656-BF58-4A5C319433D1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3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689C9-C399-4532-B87C-B30B3FFA1D3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4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8F396-2623-48A1-A9CB-3F7AFE6DE5C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RHsEFWJgKIWZNA2QXTnbp0uuEPUzE2sW/view?usp=sharing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-Kbw2lEDCrjcq3PBnWVulCKGVVr1k9e/view?usp=sharin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FLuyaQ9C7r2PbG-Nkgob4jOWQArXGGIj/view?usp=shari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emf"/><Relationship Id="rId5" Type="http://schemas.openxmlformats.org/officeDocument/2006/relationships/customXml" Target="../ink/ink2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00808"/>
            <a:ext cx="9144000" cy="34563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Title of Topic: </a:t>
            </a:r>
            <a:r>
              <a:rPr lang="en-US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Three Level DBMS Architecture </a:t>
            </a:r>
            <a:r>
              <a:rPr lang="en-US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Code: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23IT201</a:t>
            </a:r>
            <a:r>
              <a:rPr lang="en-IN" sz="22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Course Title: </a:t>
            </a:r>
            <a:r>
              <a:rPr lang="en-IN" sz="22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DataBase</a:t>
            </a: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Management Systems</a:t>
            </a:r>
            <a:b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Session Number: 2</a:t>
            </a:r>
            <a:b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Academic Year: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2024 - 2025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(Even </a:t>
            </a:r>
            <a:r>
              <a:rPr lang="en-IN" sz="22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Sem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IN" sz="22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6492875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25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0105"/>
            <a:ext cx="9131374" cy="600913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tabLst>
                <a:tab pos="1527175" algn="l"/>
              </a:tabLst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 to DBMS, Characteristics of DBMS, DBMS vs File Systems, need for DBMS.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Three Level DBMS Architecture</a:t>
            </a:r>
            <a:b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Data Models Introduction, Benefits, and Phases</a:t>
            </a:r>
            <a:b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ER Diagrams – Symbols, Components, Relationships, Weak entities, Attributes, Cardinality.</a:t>
            </a:r>
            <a:b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Relational Algebra, Domain Relational Calculus, Tuple Relational 6.Calculus Keys - primary Key, Foreign Key.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1792" y="645854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560" y="328464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MODULE 1-INTRODUCTION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1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90872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Topics to be Covered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803588"/>
            <a:ext cx="9144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Data Abstraction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Levels of Data Abstraction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Data Independence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Types of Data Independence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Data Independence in File System vs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DBMS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Architecture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 System Architecture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Level DBMS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33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Abstraction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12626" y="748292"/>
            <a:ext cx="913137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The process of hiding certain details of database from user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Hides some details like how data is stored and </a:t>
            </a:r>
            <a:r>
              <a:rPr lang="en-US" altLang="en-US" sz="28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created    Provides </a:t>
            </a:r>
            <a:r>
              <a:rPr lang="en-US" altLang="en-US" sz="28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only the required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 database system that is able to separate the three different views is likely to be flexible and adaptable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This flexibility and adaptability is called data abstraction</a:t>
            </a:r>
            <a:endParaRPr lang="en-US" altLang="en-US" sz="2800" dirty="0">
              <a:latin typeface="Arial" pitchFamily="34" charset="0"/>
              <a:ea typeface="ＭＳ Ｐゴシック" panose="020B0600070205080204" pitchFamily="34" charset="-128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85" y="6326652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Data Abstraction: </a:t>
            </a:r>
          </a:p>
        </p:txBody>
      </p:sp>
      <p:pic>
        <p:nvPicPr>
          <p:cNvPr id="12" name="Picture 11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238" y="6456771"/>
            <a:ext cx="576064" cy="4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7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IN" sz="2000" dirty="0">
                <a:latin typeface="Arial" pitchFamily="34" charset="0"/>
                <a:cs typeface="Arial" pitchFamily="34" charset="0"/>
              </a:rPr>
              <a:t>Architecture based on user view (or) functions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IN" sz="2000" dirty="0" smtClean="0">
                <a:latin typeface="Arial" pitchFamily="34" charset="0"/>
                <a:cs typeface="Arial" pitchFamily="34" charset="0"/>
              </a:rPr>
              <a:t>ANSI/SPARC produced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an architectural framework for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databases with three </a:t>
            </a:r>
            <a:r>
              <a:rPr lang="en-IN" sz="2000" dirty="0">
                <a:latin typeface="Arial" pitchFamily="34" charset="0"/>
                <a:cs typeface="Arial" pitchFamily="34" charset="0"/>
              </a:rPr>
              <a:t>different views of the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data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Used for describing the structure of specific database systems</a:t>
            </a:r>
            <a:endParaRPr lang="en-IN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1"/>
          <p:cNvSpPr/>
          <p:nvPr/>
        </p:nvSpPr>
        <p:spPr>
          <a:xfrm>
            <a:off x="1691680" y="2852935"/>
            <a:ext cx="5760640" cy="3024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15682" y="5877253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Architecture: </a:t>
            </a:r>
          </a:p>
        </p:txBody>
      </p:sp>
      <p:pic>
        <p:nvPicPr>
          <p:cNvPr id="17" name="Picture 16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5889489"/>
            <a:ext cx="576064" cy="49183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 of Data Abstraction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671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6</a:t>
            </a:fld>
            <a:endParaRPr lang="en-IN"/>
          </a:p>
        </p:txBody>
      </p:sp>
      <p:sp>
        <p:nvSpPr>
          <p:cNvPr id="5" name="object 11"/>
          <p:cNvSpPr/>
          <p:nvPr/>
        </p:nvSpPr>
        <p:spPr>
          <a:xfrm>
            <a:off x="251520" y="188640"/>
            <a:ext cx="8784976" cy="60486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4795200" y="5982840"/>
              <a:ext cx="360" cy="3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85840" y="59734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942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13335" algn="just">
              <a:lnSpc>
                <a:spcPct val="150000"/>
              </a:lnSpc>
              <a:buSzPct val="144444"/>
              <a:tabLst>
                <a:tab pos="299720" algn="l"/>
              </a:tabLst>
            </a:pPr>
            <a:r>
              <a:rPr lang="en-IN" sz="2000" b="1" dirty="0">
                <a:latin typeface="Arial" pitchFamily="34" charset="0"/>
                <a:cs typeface="Arial" pitchFamily="34" charset="0"/>
              </a:rPr>
              <a:t>Internal/Physical View at Internal/Physical Level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Lowest level of data abstraction which has the knowledge about s/w and h/w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Describes what data is stored in the database system and how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Describes complex low-level data structures in detail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Keeps the information about the actual representation of the entire database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Closest to the physical storage and does not deal with the physical devices directly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Instead it views a physical device as a collection of physical pages and allocates space in terms of logical pages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Also considers file organization, storage allocation, access paths of indexes, data compression and encryption techniques and record placement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 of Data Abstraction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80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13335" algn="just">
              <a:lnSpc>
                <a:spcPct val="150000"/>
              </a:lnSpc>
              <a:buSzPct val="144444"/>
              <a:tabLst>
                <a:tab pos="299720" algn="l"/>
              </a:tabLst>
            </a:pPr>
            <a:r>
              <a:rPr lang="en-IN" sz="2000" b="1" dirty="0">
                <a:latin typeface="Arial" pitchFamily="34" charset="0"/>
                <a:cs typeface="Arial" pitchFamily="34" charset="0"/>
              </a:rPr>
              <a:t>Conceptual View at Logical Level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Next higher level of abstraction (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Inbetween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user level and physical level)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spc="-35" dirty="0">
                <a:latin typeface="Arial" pitchFamily="34" charset="0"/>
                <a:cs typeface="Arial" pitchFamily="34" charset="0"/>
              </a:rPr>
              <a:t>Describes what data are stored in the database and what relationship exist among these data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spc="-35" dirty="0">
                <a:latin typeface="Arial" pitchFamily="34" charset="0"/>
                <a:cs typeface="Arial" pitchFamily="34" charset="0"/>
              </a:rPr>
              <a:t>Describes entire database in terms of small number of relatively simple structures and </a:t>
            </a:r>
            <a:r>
              <a:rPr lang="en-US" sz="2000" spc="-95" dirty="0">
                <a:latin typeface="Arial" pitchFamily="34" charset="0"/>
                <a:cs typeface="Arial" pitchFamily="34" charset="0"/>
              </a:rPr>
              <a:t>more </a:t>
            </a:r>
            <a:r>
              <a:rPr lang="en-US" sz="2000" spc="-25" dirty="0">
                <a:latin typeface="Arial" pitchFamily="34" charset="0"/>
                <a:cs typeface="Arial" pitchFamily="34" charset="0"/>
              </a:rPr>
              <a:t>stable </a:t>
            </a:r>
            <a:r>
              <a:rPr lang="en-US" sz="2000" spc="-65" dirty="0">
                <a:latin typeface="Arial" pitchFamily="34" charset="0"/>
                <a:cs typeface="Arial" pitchFamily="34" charset="0"/>
              </a:rPr>
              <a:t>than </a:t>
            </a:r>
            <a:r>
              <a:rPr lang="en-US" sz="2000" spc="-25" dirty="0">
                <a:latin typeface="Arial" pitchFamily="34" charset="0"/>
                <a:cs typeface="Arial" pitchFamily="34" charset="0"/>
              </a:rPr>
              <a:t>other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two</a:t>
            </a:r>
            <a:r>
              <a:rPr lang="en-US" sz="2000" spc="-105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spc="5" dirty="0">
                <a:latin typeface="Arial" pitchFamily="34" charset="0"/>
                <a:cs typeface="Arial" pitchFamily="34" charset="0"/>
              </a:rPr>
              <a:t>views </a:t>
            </a:r>
            <a:endParaRPr lang="en-US" sz="2000" spc="-35" dirty="0">
              <a:latin typeface="Arial" pitchFamily="34" charset="0"/>
              <a:cs typeface="Arial" pitchFamily="34" charset="0"/>
            </a:endParaRP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Hides the details of physical storage structures and concentrates on describing entities, data types, relationships, user operations and constraints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spc="-35" dirty="0">
                <a:latin typeface="Arial" pitchFamily="34" charset="0"/>
                <a:cs typeface="Arial" pitchFamily="34" charset="0"/>
              </a:rPr>
              <a:t>Consists of conceptual schema which can be changed without changing anything in the application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 of Data Abstraction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13335" algn="just">
              <a:lnSpc>
                <a:spcPct val="150000"/>
              </a:lnSpc>
              <a:buSzPct val="144444"/>
              <a:tabLst>
                <a:tab pos="299720" algn="l"/>
              </a:tabLst>
            </a:pPr>
            <a:r>
              <a:rPr lang="en-IN" sz="2000" b="1" dirty="0">
                <a:latin typeface="Arial" pitchFamily="34" charset="0"/>
                <a:cs typeface="Arial" pitchFamily="34" charset="0"/>
              </a:rPr>
              <a:t>External View at External Level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Highest or Top level of data abstraction (No knowledge of DBMS s/w, h/w or physical storage) concerned with the user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Describes only part of the entire database that a particular user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interested in and hides the rest of the database from user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There can be n number of external views for database where n is the number of users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E.g.,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An accounts department is only interested in the student fee details. It does not have any interest in the personal information about students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All the database users work on external level of DBMS</a:t>
            </a:r>
          </a:p>
          <a:p>
            <a:pPr marL="355600" marR="13335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Views of individual users are defined by means of external schemas</a:t>
            </a:r>
            <a:endParaRPr lang="en-IN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Levels of Data Abstraction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60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20" y="980728"/>
            <a:ext cx="913137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just">
              <a:lnSpc>
                <a:spcPct val="150000"/>
              </a:lnSpc>
              <a:buSzPct val="144444"/>
              <a:tabLst>
                <a:tab pos="299720" algn="l"/>
              </a:tabLst>
            </a:pPr>
            <a:r>
              <a:rPr lang="en-IN" sz="2000" b="1" dirty="0">
                <a:latin typeface="Arial" pitchFamily="34" charset="0"/>
                <a:cs typeface="Arial" pitchFamily="34" charset="0"/>
              </a:rPr>
              <a:t>3</a:t>
            </a:r>
            <a:r>
              <a:rPr lang="en-IN" sz="2000" b="1" dirty="0" smtClean="0">
                <a:latin typeface="Arial" pitchFamily="34" charset="0"/>
                <a:cs typeface="Arial" pitchFamily="34" charset="0"/>
              </a:rPr>
              <a:t>-Tier Architecture</a:t>
            </a:r>
            <a:endParaRPr lang="en-IN" sz="2000" b="1" dirty="0">
              <a:latin typeface="Arial" pitchFamily="34" charset="0"/>
              <a:cs typeface="Arial" pitchFamily="34" charset="0"/>
            </a:endParaRP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Application program runs on client side and Database is stored on server</a:t>
            </a: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An intermediate layer called application layer is stored on a separate server </a:t>
            </a: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This layer stores the programs that access the database from database server</a:t>
            </a:r>
          </a:p>
          <a:p>
            <a:pPr marL="299085" marR="13335" indent="-286385" algn="just">
              <a:lnSpc>
                <a:spcPct val="150000"/>
              </a:lnSpc>
              <a:buSzPct val="144444"/>
              <a:buFont typeface="Arial"/>
              <a:buChar char="•"/>
              <a:tabLst>
                <a:tab pos="299720" algn="l"/>
              </a:tabLst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297" y="2209403"/>
            <a:ext cx="2409825" cy="2371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2" y="1916832"/>
            <a:ext cx="6610350" cy="2880320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90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20" y="980728"/>
            <a:ext cx="913137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just">
              <a:lnSpc>
                <a:spcPct val="150000"/>
              </a:lnSpc>
              <a:buSzPct val="144444"/>
              <a:tabLst>
                <a:tab pos="299720" algn="l"/>
              </a:tabLst>
            </a:pPr>
            <a:r>
              <a:rPr lang="en-IN" sz="2000" b="1" dirty="0">
                <a:latin typeface="Arial" pitchFamily="34" charset="0"/>
                <a:cs typeface="Arial" pitchFamily="34" charset="0"/>
              </a:rPr>
              <a:t>3</a:t>
            </a:r>
            <a:r>
              <a:rPr lang="en-IN" sz="2000" b="1" dirty="0" smtClean="0">
                <a:latin typeface="Arial" pitchFamily="34" charset="0"/>
                <a:cs typeface="Arial" pitchFamily="34" charset="0"/>
              </a:rPr>
              <a:t>-Tier Architecture</a:t>
            </a:r>
            <a:endParaRPr lang="en-IN" sz="2000" b="1" dirty="0">
              <a:latin typeface="Arial" pitchFamily="34" charset="0"/>
              <a:cs typeface="Arial" pitchFamily="34" charset="0"/>
            </a:endParaRP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Application layer presents the data to the user in a required form</a:t>
            </a: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Three layer work together to create 3-Tier Architecture</a:t>
            </a: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Each of the layer can be operated and managed individually</a:t>
            </a:r>
          </a:p>
          <a:p>
            <a:pPr marL="299085" marR="13335" indent="-286385" algn="just">
              <a:lnSpc>
                <a:spcPct val="150000"/>
              </a:lnSpc>
              <a:buSzPct val="100000"/>
              <a:buFont typeface="Arial"/>
              <a:buChar char="•"/>
              <a:tabLst>
                <a:tab pos="299720" algn="l"/>
              </a:tabLst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E.g.,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Web Application such as E-Commerce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" y="3381385"/>
            <a:ext cx="7781925" cy="30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87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20" y="980728"/>
            <a:ext cx="91313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just">
              <a:lnSpc>
                <a:spcPct val="150000"/>
              </a:lnSpc>
              <a:buSzPct val="144444"/>
              <a:tabLst>
                <a:tab pos="299720" algn="l"/>
              </a:tabLst>
            </a:pPr>
            <a:r>
              <a:rPr lang="en-IN" sz="2000" b="1" dirty="0" smtClean="0">
                <a:latin typeface="Arial" pitchFamily="34" charset="0"/>
                <a:cs typeface="Arial" pitchFamily="34" charset="0"/>
              </a:rPr>
              <a:t>N-Tier Architecture</a:t>
            </a:r>
            <a:endParaRPr lang="en-IN" sz="2000" b="1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itchFamily="34" charset="0"/>
                <a:cs typeface="Arial" pitchFamily="34" charset="0"/>
              </a:rPr>
              <a:t>Used in web based application with three </a:t>
            </a:r>
            <a:r>
              <a:rPr lang="en-IN" sz="2000" dirty="0" smtClean="0">
                <a:latin typeface="Arial" pitchFamily="34" charset="0"/>
                <a:cs typeface="Arial" pitchFamily="34" charset="0"/>
              </a:rPr>
              <a:t>layers/tiers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N-Tier architecture begins as a 3-Tier model</a:t>
            </a:r>
            <a:endParaRPr lang="en-IN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E.g.,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Any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large website on the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internet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2996952"/>
            <a:ext cx="6467475" cy="252703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54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20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Middle Tier (Application Layer)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Contains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logic and communicates between the client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server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Holds the application server and the programs that access the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End users are unaware of any existence of the database beyond the application tier and not aware of any other user beyond the application tier</a:t>
            </a: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Also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processes functional logic, constraint, and rules before passing data to the user or down to the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DBMS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Data Tier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Manages the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Databases resides along with its query processing languages and the respective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relations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28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20" y="980728"/>
            <a:ext cx="913137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Presentation Tier (Client Layer)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user and the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Contains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GUI part of the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system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(your PC, Tablet, Mobile,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etc…)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All end users operate on this tier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Multiple views of the database can be provided by the application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All views are generated by the application that reside in the application tier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cs typeface="Arial" pitchFamily="34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Easy to maintain and modify without affecting other modules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Improved Security as client cannot access the database easily</a:t>
            </a: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Improved Performance and Data Integrity, also Fast Communication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DBMS 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10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18002" y="980728"/>
            <a:ext cx="9144000" cy="958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9525" lvl="1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444500" algn="l"/>
              </a:tabLst>
            </a:pPr>
            <a:r>
              <a:rPr lang="en-IN"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Allows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communication </a:t>
            </a:r>
            <a:r>
              <a:rPr lang="en-IN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  <a:r>
              <a:rPr lang="en-IN" sz="2000" spc="-15" dirty="0">
                <a:latin typeface="Arial" panose="020B0604020202020204" pitchFamily="34" charset="0"/>
                <a:cs typeface="Arial" panose="020B0604020202020204" pitchFamily="34" charset="0"/>
              </a:rPr>
              <a:t>different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types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user with </a:t>
            </a:r>
            <a:r>
              <a:rPr lang="en-IN" sz="2000" spc="-15" dirty="0">
                <a:latin typeface="Arial" panose="020B0604020202020204" pitchFamily="34" charset="0"/>
                <a:cs typeface="Arial" panose="020B0604020202020204" pitchFamily="34" charset="0"/>
              </a:rPr>
              <a:t>physical </a:t>
            </a: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DB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IN"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endParaRPr lang="en-IN" sz="2000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583" y="1460058"/>
            <a:ext cx="7645869" cy="4873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5797152" y="5877253"/>
            <a:ext cx="331135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Architecture: </a:t>
            </a:r>
          </a:p>
        </p:txBody>
      </p:sp>
      <p:pic>
        <p:nvPicPr>
          <p:cNvPr id="15" name="Picture 14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5889489"/>
            <a:ext cx="576064" cy="491839"/>
          </a:xfrm>
          <a:prstGeom prst="rect">
            <a:avLst/>
          </a:prstGeom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552573" y="-14287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5893560" y="543816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84200" y="54288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714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9525" lvl="1" algn="just">
              <a:lnSpc>
                <a:spcPct val="150000"/>
              </a:lnSpc>
              <a:buSzPct val="100000"/>
              <a:tabLst>
                <a:tab pos="444500" algn="l"/>
              </a:tabLst>
            </a:pPr>
            <a:r>
              <a:rPr lang="en-US" sz="2000" b="1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User Communication, Authentication and Authorization</a:t>
            </a:r>
            <a:endParaRPr lang="en-IN" sz="2000" b="1" spc="-15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Deals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wit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h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IN" sz="2000" spc="-35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hen he/she communicates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with the</a:t>
            </a:r>
            <a:r>
              <a:rPr lang="en-IN" sz="20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DBMS</a:t>
            </a:r>
            <a:endParaRPr lang="en-IN" sz="2000" spc="-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IN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uni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IN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IN" sz="2000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dep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s on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kin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d of </a:t>
            </a: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DBMS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(2-TIER </a:t>
            </a: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or 3-tier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User first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lo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IN" sz="2000" spc="-3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IN" sz="2000" spc="-3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IN" sz="2000" spc="-35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IN" sz="2000" spc="-3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2000" spc="-1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d has </a:t>
            </a:r>
            <a:r>
              <a:rPr lang="en-IN" sz="2000" spc="-3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be </a:t>
            </a: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authenticated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Once the user is </a:t>
            </a:r>
            <a:r>
              <a:rPr lang="en-IN" sz="2000" spc="-15" dirty="0">
                <a:latin typeface="Arial" panose="020B0604020202020204" pitchFamily="34" charset="0"/>
                <a:cs typeface="Arial" panose="020B0604020202020204" pitchFamily="34" charset="0"/>
              </a:rPr>
              <a:t>allowed to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access the</a:t>
            </a:r>
            <a:r>
              <a:rPr lang="en-IN" sz="2000" spc="2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database, the </a:t>
            </a:r>
            <a:r>
              <a:rPr lang="en-IN" sz="2000" spc="-20" dirty="0">
                <a:latin typeface="Arial" panose="020B0604020202020204" pitchFamily="34" charset="0"/>
                <a:cs typeface="Arial" panose="020B0604020202020204" pitchFamily="34" charset="0"/>
              </a:rPr>
              <a:t>system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will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check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user’s</a:t>
            </a:r>
            <a:r>
              <a:rPr lang="en-IN"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credentials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Naive users use application interfaces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Application programmers write application programs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Sophisticated users use query tools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Database Administrators use administration tools</a:t>
            </a:r>
            <a:endParaRPr lang="en-IN" sz="2000" spc="-1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25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980728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9525" lvl="1" algn="just">
              <a:lnSpc>
                <a:spcPct val="150000"/>
              </a:lnSpc>
              <a:buSzPct val="100000"/>
              <a:tabLst>
                <a:tab pos="444500" algn="l"/>
              </a:tabLst>
            </a:pPr>
            <a:r>
              <a:rPr lang="en-US" sz="2000" b="1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Query Processor (</a:t>
            </a:r>
            <a:r>
              <a:rPr lang="en-US" sz="2000" b="1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pt-BR" sz="20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xecutes of DDL and DML statements)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Application program object code - Directly connected with application interface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5" dirty="0">
                <a:latin typeface="Arial" panose="020B0604020202020204" pitchFamily="34" charset="0"/>
                <a:cs typeface="Arial" panose="020B0604020202020204" pitchFamily="34" charset="0"/>
              </a:rPr>
              <a:t>Compiler </a:t>
            </a:r>
            <a:r>
              <a:rPr lang="en-US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- Connected </a:t>
            </a:r>
            <a:r>
              <a:rPr lang="en-US" sz="2000" spc="-5" dirty="0">
                <a:latin typeface="Arial" panose="020B0604020202020204" pitchFamily="34" charset="0"/>
                <a:cs typeface="Arial" panose="020B0604020202020204" pitchFamily="34" charset="0"/>
              </a:rPr>
              <a:t>with application program will compile them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5" dirty="0">
                <a:latin typeface="Arial" panose="020B0604020202020204" pitchFamily="34" charset="0"/>
                <a:cs typeface="Arial" panose="020B0604020202020204" pitchFamily="34" charset="0"/>
              </a:rPr>
              <a:t>DML Queries </a:t>
            </a:r>
            <a:r>
              <a:rPr lang="en-US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- Connected </a:t>
            </a:r>
            <a:r>
              <a:rPr lang="en-US" sz="2000" spc="-5" dirty="0">
                <a:latin typeface="Arial" panose="020B0604020202020204" pitchFamily="34" charset="0"/>
                <a:cs typeface="Arial" panose="020B0604020202020204" pitchFamily="34" charset="0"/>
              </a:rPr>
              <a:t>with query tools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10" dirty="0">
                <a:latin typeface="Arial" panose="020B0604020202020204" pitchFamily="34" charset="0"/>
                <a:cs typeface="Arial" panose="020B0604020202020204" pitchFamily="34" charset="0"/>
              </a:rPr>
              <a:t>DDL Interpreter – Interprets DDL statements into a set of tables containing metadata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10" dirty="0">
                <a:latin typeface="Arial" panose="020B0604020202020204" pitchFamily="34" charset="0"/>
                <a:cs typeface="Arial" panose="020B0604020202020204" pitchFamily="34" charset="0"/>
              </a:rPr>
              <a:t>DML Compiler and Organizer – Translates DML statements into low level instructions that the query evaluation engine understands</a:t>
            </a:r>
          </a:p>
          <a:p>
            <a:pPr marL="342900" marR="10160" lvl="1" indent="-342900" algn="just">
              <a:lnSpc>
                <a:spcPct val="15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spc="-10" dirty="0">
                <a:latin typeface="Arial" panose="020B0604020202020204" pitchFamily="34" charset="0"/>
                <a:cs typeface="Arial" panose="020B0604020202020204" pitchFamily="34" charset="0"/>
              </a:rPr>
              <a:t>Query Evaluation Engine – Executes low level instructions generated by DML </a:t>
            </a:r>
            <a:r>
              <a:rPr lang="en-US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compiler</a:t>
            </a:r>
            <a:endParaRPr lang="en-IN" sz="2000"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29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8002" y="98072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10160" lvl="1" algn="just">
              <a:lnSpc>
                <a:spcPct val="150000"/>
              </a:lnSpc>
              <a:buClr>
                <a:schemeClr val="tx1"/>
              </a:buClr>
              <a:buSzPct val="100000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b="1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Storage Manager</a:t>
            </a:r>
            <a:endParaRPr lang="en-IN" sz="2000" b="1" spc="-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IN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Provides interface between low-level data stored and application program or queries</a:t>
            </a: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Transaction Manager – Simply preserves atomicity (all or none) and controls concurrency (</a:t>
            </a:r>
            <a:r>
              <a:rPr lang="en-IN" sz="2000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coordination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simultaneous </a:t>
            </a:r>
            <a:r>
              <a:rPr lang="en-IN" sz="2000" spc="-15" dirty="0">
                <a:latin typeface="Arial" panose="020B0604020202020204" pitchFamily="34" charset="0"/>
                <a:cs typeface="Arial" panose="020B0604020202020204" pitchFamily="34" charset="0"/>
              </a:rPr>
              <a:t>execution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IN" sz="2000" spc="-10" dirty="0">
                <a:latin typeface="Arial" panose="020B0604020202020204" pitchFamily="34" charset="0"/>
                <a:cs typeface="Arial" panose="020B0604020202020204" pitchFamily="34" charset="0"/>
              </a:rPr>
              <a:t>transactions </a:t>
            </a:r>
            <a:r>
              <a:rPr lang="en-IN" sz="2000" spc="-5" dirty="0">
                <a:latin typeface="Arial" panose="020B0604020202020204" pitchFamily="34" charset="0"/>
                <a:cs typeface="Arial" panose="020B0604020202020204" pitchFamily="34" charset="0"/>
              </a:rPr>
              <a:t>in a multiprocessing </a:t>
            </a:r>
            <a:r>
              <a:rPr lang="en-IN" sz="20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database)</a:t>
            </a: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Authorization and Integrity Manager – Checks the authority of users to access data and integrity constraints</a:t>
            </a: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File Manager – Manages allocation of space on disk storage</a:t>
            </a: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Buffer Manager – Fetches data from disk storage to memory for being used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04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18002" y="98072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10160" lvl="1" algn="just">
              <a:lnSpc>
                <a:spcPct val="150000"/>
              </a:lnSpc>
              <a:buClr>
                <a:schemeClr val="tx1"/>
              </a:buClr>
              <a:buSzPct val="100000"/>
              <a:tabLst>
                <a:tab pos="515938" algn="l"/>
                <a:tab pos="3319463" algn="l"/>
                <a:tab pos="4324350" algn="l"/>
                <a:tab pos="5229225" algn="l"/>
                <a:tab pos="5934075" algn="l"/>
                <a:tab pos="6815138" algn="l"/>
              </a:tabLst>
            </a:pPr>
            <a:r>
              <a:rPr lang="en-US" sz="2000" b="1" spc="-15" dirty="0" smtClean="0">
                <a:latin typeface="Arial" panose="020B0604020202020204" pitchFamily="34" charset="0"/>
                <a:cs typeface="Arial" panose="020B0604020202020204" pitchFamily="34" charset="0"/>
              </a:rPr>
              <a:t>Disk Storage</a:t>
            </a:r>
            <a:endParaRPr lang="en-IN" sz="2000" b="1" spc="-1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Where the actual data is stored</a:t>
            </a: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Data Dictionary – Store metadata (data about data)</a:t>
            </a: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Indices – Provide faster access to data items</a:t>
            </a: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Data – Store user data (Nothing but warehouse)</a:t>
            </a:r>
          </a:p>
          <a:p>
            <a:pPr marL="355600" indent="-3429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tabLst>
                <a:tab pos="285750" algn="l"/>
              </a:tabLst>
            </a:pPr>
            <a:r>
              <a:rPr lang="en-US" sz="20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Statistical Data – Store statistical information about the data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48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90872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Summary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803588"/>
            <a:ext cx="9144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itchFamily="34" charset="0"/>
              </a:rPr>
              <a:t>Data Abstraction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Levels of Data Abstraction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Data Independence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Types of Data Independence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Data Independence in File System vs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 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DBMS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Architecture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Arial" panose="020B0604020202020204" pitchFamily="34" charset="0"/>
                <a:cs typeface="Arial" pitchFamily="34" charset="0"/>
              </a:rPr>
              <a:t>DataBase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 System Architecture</a:t>
            </a:r>
            <a:endParaRPr lang="en-IN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Level DBMS Architecture &amp; Data Abstraction, Data    </a:t>
            </a:r>
            <a:b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Independence, DB System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37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90872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803588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A learner of DBMS store and manipulate the data on the same system. Find the architecture used in this system.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If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you have used MySQL, then you must have seen 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PHPMyAdmin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. Identify which type of architecture is followed in this system.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Identify the architecture used in Desktop Games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Draw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the three-level data abstraction for </a:t>
            </a: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Customer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Database with the attributes such as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Cust_ID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F_Name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L_Name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, Contact Number, SSN, City. </a:t>
            </a: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Employee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Database with the attributes such as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Empl_No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F_Name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L_Name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, Age, Salary,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DoB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Branch_No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Level DBMS Architecture &amp; Data Abstraction, Data    </a:t>
            </a:r>
            <a:b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Independence, DB System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78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160" y="2891609"/>
            <a:ext cx="91440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Session 3 - 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Introductions to Data Models-Hierarchical Model, Network Model,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Object Oriented 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Model, Entity–Relationship Model, Relational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Model</a:t>
            </a:r>
            <a:endParaRPr lang="en-US" sz="2200" b="1" dirty="0">
              <a:solidFill>
                <a:srgbClr val="C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67544" y="184448"/>
            <a:ext cx="8172908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23IT201-DATABASE MANAGEMENT SYSTEMS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64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6573</TotalTime>
  <Words>1353</Words>
  <Application>Microsoft Office PowerPoint</Application>
  <PresentationFormat>On-screen Show (4:3)</PresentationFormat>
  <Paragraphs>267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ＭＳ Ｐゴシック</vt:lpstr>
      <vt:lpstr>Arial</vt:lpstr>
      <vt:lpstr>Calibri</vt:lpstr>
      <vt:lpstr>Cambria</vt:lpstr>
      <vt:lpstr>Wingdings</vt:lpstr>
      <vt:lpstr>Office Theme</vt:lpstr>
      <vt:lpstr>Title of Topic: Three Level DBMS Architecture  Course Code: 23IT201 Course Title: DataBase Management Systems Session Number: 2 Academic Year: 2024 - 2025 (Even Sem)</vt:lpstr>
      <vt:lpstr>1. Introduction to DBMS, Characteristics of DBMS, DBMS vs File Systems, need for DBMS. 2. Three Level DBMS Architecture 3. Data Models Introduction, Benefits, and Phases 4. ER Diagrams – Symbols, Components, Relationships, Weak entities, Attributes, Cardinality. 5. Relational Algebra, Domain Relational Calculus, Tuple Relational 6.Calculus Keys - primary Key, Foreign Key.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18CS056 – THEORY OF COMPUTATION</dc:title>
  <dc:creator>Rose</dc:creator>
  <cp:lastModifiedBy>user</cp:lastModifiedBy>
  <cp:revision>693</cp:revision>
  <dcterms:created xsi:type="dcterms:W3CDTF">2020-05-18T09:43:19Z</dcterms:created>
  <dcterms:modified xsi:type="dcterms:W3CDTF">2025-01-11T04:52:49Z</dcterms:modified>
</cp:coreProperties>
</file>