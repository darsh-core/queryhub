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9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97" r:id="rId26"/>
    <p:sldId id="298" r:id="rId27"/>
    <p:sldId id="299" r:id="rId28"/>
    <p:sldId id="300" r:id="rId29"/>
    <p:sldId id="301" r:id="rId30"/>
    <p:sldId id="303" r:id="rId31"/>
    <p:sldId id="304" r:id="rId32"/>
    <p:sldId id="302" r:id="rId33"/>
    <p:sldId id="282" r:id="rId34"/>
    <p:sldId id="283" r:id="rId35"/>
    <p:sldId id="284" r:id="rId36"/>
    <p:sldId id="285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286" r:id="rId46"/>
    <p:sldId id="287" r:id="rId47"/>
    <p:sldId id="288" r:id="rId48"/>
    <p:sldId id="289" r:id="rId49"/>
    <p:sldId id="290" r:id="rId50"/>
    <p:sldId id="294" r:id="rId51"/>
    <p:sldId id="291" r:id="rId52"/>
    <p:sldId id="295" r:id="rId53"/>
    <p:sldId id="292" r:id="rId54"/>
    <p:sldId id="29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877F4-D2E4-4367-9973-AC13356E6BC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927CD-6082-4638-A126-A128C5CA5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42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8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34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47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678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2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63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08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19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28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83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21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44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2D67D-FFE0-44B7-A297-41CAC8189E2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F76D-C207-473A-813A-24DA2F868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61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ql-between-in-operator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16628"/>
            <a:ext cx="9144000" cy="26243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 IN SQL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23IT201</a:t>
            </a:r>
            <a:b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Title: DataBase Management Systems</a:t>
            </a:r>
            <a:b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MODULE –II</a:t>
            </a:r>
            <a:b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Academic Year: 2024 - 2025 (Even </a:t>
            </a:r>
            <a:r>
              <a:rPr lang="en-IN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-117566" y="6492875"/>
            <a:ext cx="12309566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492876"/>
            <a:ext cx="21336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7464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14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Addition Operator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returns new column named </a:t>
            </a:r>
            <a:r>
              <a:rPr lang="en-US" b="1" dirty="0" err="1" smtClean="0"/>
              <a:t>total_amount</a:t>
            </a:r>
            <a:r>
              <a:rPr lang="en-US" b="1" dirty="0" smtClean="0"/>
              <a:t> which is  100 added to the amount field</a:t>
            </a:r>
          </a:p>
          <a:p>
            <a:pPr marL="0" indent="0">
              <a:buNone/>
            </a:pPr>
            <a:r>
              <a:rPr lang="en-US" dirty="0" smtClean="0"/>
              <a:t>SELECT item, amount, amount+100 AS </a:t>
            </a:r>
            <a:r>
              <a:rPr lang="en-US" dirty="0" err="1" smtClean="0"/>
              <a:t>total_amount</a:t>
            </a:r>
            <a:r>
              <a:rPr lang="en-US" dirty="0"/>
              <a:t> </a:t>
            </a:r>
            <a:r>
              <a:rPr lang="en-US" dirty="0" smtClean="0"/>
              <a:t> FROM Orders;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07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SUBTRACTION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new column named </a:t>
            </a:r>
            <a:r>
              <a:rPr lang="en-US" b="1" dirty="0" err="1" smtClean="0"/>
              <a:t>offer_price</a:t>
            </a:r>
            <a:r>
              <a:rPr lang="en-US" b="1" dirty="0" smtClean="0"/>
              <a:t> which is </a:t>
            </a:r>
          </a:p>
          <a:p>
            <a:pPr marL="0" indent="0">
              <a:buNone/>
            </a:pPr>
            <a:r>
              <a:rPr lang="en-US" b="1" dirty="0" smtClean="0"/>
              <a:t>-- 20 subtracted to the amount field</a:t>
            </a:r>
          </a:p>
          <a:p>
            <a:pPr marL="0" indent="0">
              <a:buNone/>
            </a:pPr>
            <a:r>
              <a:rPr lang="en-US" dirty="0" smtClean="0"/>
              <a:t>SELECT item, amount, amount-20 AS </a:t>
            </a:r>
            <a:r>
              <a:rPr lang="en-US" dirty="0" err="1" smtClean="0"/>
              <a:t>offer_price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Orders;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233645" y="3244334"/>
            <a:ext cx="5724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2 -CONSTRAINTS AND SQL COMMANDS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05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MULTIPLICATION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new column named </a:t>
            </a:r>
            <a:r>
              <a:rPr lang="en-US" b="1" dirty="0" err="1" smtClean="0"/>
              <a:t>total_amount</a:t>
            </a:r>
            <a:r>
              <a:rPr lang="en-US" b="1" dirty="0" smtClean="0"/>
              <a:t>  which is </a:t>
            </a:r>
          </a:p>
          <a:p>
            <a:pPr marL="0" indent="0">
              <a:buNone/>
            </a:pPr>
            <a:r>
              <a:rPr lang="en-US" b="1" dirty="0" smtClean="0"/>
              <a:t>-- 4 multiplied to the amount field</a:t>
            </a:r>
          </a:p>
          <a:p>
            <a:pPr marL="0" indent="0">
              <a:buNone/>
            </a:pPr>
            <a:r>
              <a:rPr lang="en-US" dirty="0" smtClean="0"/>
              <a:t>SELECT item, amount, amount*4 AS </a:t>
            </a:r>
            <a:r>
              <a:rPr lang="en-US" dirty="0" err="1" smtClean="0"/>
              <a:t>total_amount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Orders;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561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DIVISION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new column named </a:t>
            </a:r>
            <a:r>
              <a:rPr lang="en-US" b="1" dirty="0" err="1" smtClean="0"/>
              <a:t>half_amount</a:t>
            </a:r>
            <a:r>
              <a:rPr lang="en-US" b="1" dirty="0" smtClean="0"/>
              <a:t> which is </a:t>
            </a:r>
          </a:p>
          <a:p>
            <a:pPr marL="0" indent="0">
              <a:buNone/>
            </a:pPr>
            <a:r>
              <a:rPr lang="en-US" b="1" dirty="0" smtClean="0"/>
              <a:t>-- divided by 2 to the amount field</a:t>
            </a:r>
          </a:p>
          <a:p>
            <a:pPr marL="0" indent="0">
              <a:buNone/>
            </a:pPr>
            <a:r>
              <a:rPr lang="en-US" dirty="0" smtClean="0"/>
              <a:t>SELECT item, amount, amount/2 AS </a:t>
            </a:r>
            <a:r>
              <a:rPr lang="en-US" dirty="0" err="1" smtClean="0"/>
              <a:t>half_amount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Orders;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460388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MODULO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1 which is remainder</a:t>
            </a:r>
          </a:p>
          <a:p>
            <a:pPr marL="0" indent="0">
              <a:buNone/>
            </a:pPr>
            <a:r>
              <a:rPr lang="en-US" dirty="0" smtClean="0"/>
              <a:t>SELECT 10 % 3 AS result;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87072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EQUAL TO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records where </a:t>
            </a:r>
            <a:r>
              <a:rPr lang="en-US" b="1" dirty="0" err="1" smtClean="0"/>
              <a:t>customer_id</a:t>
            </a:r>
            <a:r>
              <a:rPr lang="en-US" b="1" dirty="0" smtClean="0"/>
              <a:t> is only 4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customer_id</a:t>
            </a:r>
            <a:r>
              <a:rPr lang="en-US" dirty="0" smtClean="0"/>
              <a:t> = 4;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65553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LESS THAN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records where amount is less than 400 (exclusive)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&lt; 400;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514473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GREATER THAN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records where amount is greater than 400 (exclusive)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&gt; 400;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5978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LESS THAN EQUAL TO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records where amount is less than or equal to 400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&lt;= 400;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33630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GREATER THAN EQUAL TO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records where amount is greater than or equal to 400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&gt;= 400;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723874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NOT EQUAL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returns records where amount is not equal to 400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!= 400;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order_id</a:t>
            </a:r>
            <a:r>
              <a:rPr lang="en-US" dirty="0" smtClean="0"/>
              <a:t>,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&lt;&gt; 400;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30936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5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964250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Teachers</a:t>
            </a:r>
          </a:p>
          <a:p>
            <a:pPr marL="0" indent="0">
              <a:buNone/>
            </a:pPr>
            <a:r>
              <a:rPr lang="en-US" dirty="0" smtClean="0"/>
              <a:t>WHERE age = ANY (</a:t>
            </a:r>
          </a:p>
          <a:p>
            <a:pPr marL="0" indent="0">
              <a:buNone/>
            </a:pPr>
            <a:r>
              <a:rPr lang="en-US" dirty="0" smtClean="0"/>
              <a:t>  SELECT age</a:t>
            </a:r>
          </a:p>
          <a:p>
            <a:pPr marL="0" indent="0">
              <a:buNone/>
            </a:pPr>
            <a:r>
              <a:rPr lang="en-US" dirty="0" smtClean="0"/>
              <a:t>  FROM Students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41795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66" y="143677"/>
            <a:ext cx="5217878" cy="6415424"/>
          </a:xfrm>
        </p:spPr>
      </p:pic>
    </p:spTree>
    <p:extLst>
      <p:ext uri="{BB962C8B-B14F-4D97-AF65-F5344CB8AC3E}">
        <p14:creationId xmlns:p14="http://schemas.microsoft.com/office/powerpoint/2010/main" val="2198729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 </a:t>
            </a:r>
          </a:p>
          <a:p>
            <a:pPr marL="0" indent="0">
              <a:buNone/>
            </a:pPr>
            <a:r>
              <a:rPr lang="en-US" dirty="0" smtClean="0"/>
              <a:t>FROM Teachers</a:t>
            </a:r>
          </a:p>
          <a:p>
            <a:pPr marL="0" indent="0">
              <a:buNone/>
            </a:pPr>
            <a:r>
              <a:rPr lang="en-US" dirty="0" smtClean="0"/>
              <a:t>WHERE age &gt;  ALL (</a:t>
            </a:r>
          </a:p>
          <a:p>
            <a:pPr marL="0" indent="0">
              <a:buNone/>
            </a:pPr>
            <a:r>
              <a:rPr lang="en-US" dirty="0" smtClean="0"/>
              <a:t>  SELECT age</a:t>
            </a:r>
          </a:p>
          <a:p>
            <a:pPr marL="0" indent="0">
              <a:buNone/>
            </a:pPr>
            <a:r>
              <a:rPr lang="en-US" dirty="0" smtClean="0"/>
              <a:t>  FROM Students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631870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51" y="120716"/>
            <a:ext cx="6017730" cy="6384860"/>
          </a:xfrm>
        </p:spPr>
      </p:pic>
    </p:spTree>
    <p:extLst>
      <p:ext uri="{BB962C8B-B14F-4D97-AF65-F5344CB8AC3E}">
        <p14:creationId xmlns:p14="http://schemas.microsoft.com/office/powerpoint/2010/main" val="3806719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the </a:t>
            </a:r>
            <a:r>
              <a:rPr lang="en-US" b="1" dirty="0" err="1" smtClean="0"/>
              <a:t>first_name</a:t>
            </a:r>
            <a:r>
              <a:rPr lang="en-US" b="1" dirty="0" smtClean="0"/>
              <a:t> and </a:t>
            </a:r>
            <a:r>
              <a:rPr lang="en-US" b="1" dirty="0" err="1" smtClean="0"/>
              <a:t>last_name</a:t>
            </a:r>
            <a:r>
              <a:rPr lang="en-US" b="1" dirty="0" smtClean="0"/>
              <a:t> of all customers</a:t>
            </a:r>
          </a:p>
          <a:p>
            <a:pPr marL="0" indent="0">
              <a:buNone/>
            </a:pPr>
            <a:r>
              <a:rPr lang="en-US" b="1" dirty="0" smtClean="0"/>
              <a:t>-- who live in 'USA' and have the last name 'Doe'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country = 'USA' AND </a:t>
            </a:r>
            <a:r>
              <a:rPr lang="en-US" dirty="0" err="1" smtClean="0"/>
              <a:t>last_name</a:t>
            </a:r>
            <a:r>
              <a:rPr lang="en-US" dirty="0" smtClean="0"/>
              <a:t> = 'Doe';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196545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first and last name of customers</a:t>
            </a:r>
          </a:p>
          <a:p>
            <a:pPr marL="0" indent="0">
              <a:buNone/>
            </a:pPr>
            <a:r>
              <a:rPr lang="en-US" b="1" dirty="0" smtClean="0"/>
              <a:t>-- who either live in the USA</a:t>
            </a:r>
          </a:p>
          <a:p>
            <a:pPr marL="0" indent="0">
              <a:buNone/>
            </a:pPr>
            <a:r>
              <a:rPr lang="en-US" b="1" dirty="0" smtClean="0"/>
              <a:t>-- or have the last name 'Doe'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country = 'USA' OR </a:t>
            </a:r>
            <a:r>
              <a:rPr lang="en-US" dirty="0" err="1" smtClean="0"/>
              <a:t>last_name</a:t>
            </a:r>
            <a:r>
              <a:rPr lang="en-US" dirty="0" smtClean="0"/>
              <a:t> = 'Doe';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114673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customers who don't live in the USA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NOT country = 'USA';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75736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MULTIPLE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customers who live in either USA or UK and whose age is less than 26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(country = 'USA' OR country = 'UK') AND age &lt; 26;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928605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MULTIPLE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exclude customers who are from the USA and have 'Doe' as their last name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NOT country = 'USA' AND NOT </a:t>
            </a:r>
            <a:r>
              <a:rPr lang="en-US" dirty="0" err="1" smtClean="0"/>
              <a:t>last_name</a:t>
            </a:r>
            <a:r>
              <a:rPr lang="en-US" dirty="0" smtClean="0"/>
              <a:t> = 'Doe';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587753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BETWEEEN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rows where the amount is between 200 and 600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item, amount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amount BETWEEN 200 AND 600;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770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customers from the USA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country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country IN ('USA');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009628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NOT 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rows where country is not UK or UAE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country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country NOT IN ('UK', 'UAE');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803380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EXISTS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EXISTS operator is used to test for the existence of any record in a subquery.</a:t>
            </a:r>
          </a:p>
          <a:p>
            <a:r>
              <a:rPr lang="en-US" dirty="0" smtClean="0"/>
              <a:t>The </a:t>
            </a:r>
            <a:r>
              <a:rPr lang="en-US" dirty="0"/>
              <a:t>EXISTS operator returns TRUE if the subquery returns one or more records.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4061818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EXISTS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pic>
        <p:nvPicPr>
          <p:cNvPr id="2050" name="Picture 2" descr="Lightbox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24" y="3618933"/>
            <a:ext cx="6902012" cy="299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ghtbo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435" y="365124"/>
            <a:ext cx="7005504" cy="21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6240" y="226524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273239"/>
                </a:solidFill>
                <a:latin typeface="Nunito"/>
              </a:rPr>
              <a:t>To fetch the first and last name </a:t>
            </a:r>
            <a:endParaRPr lang="en-US" sz="2400" b="1" dirty="0" smtClean="0">
              <a:solidFill>
                <a:srgbClr val="273239"/>
              </a:solidFill>
              <a:latin typeface="Nunito"/>
            </a:endParaRPr>
          </a:p>
          <a:p>
            <a:r>
              <a:rPr lang="en-US" sz="2400" b="1" dirty="0" smtClean="0">
                <a:solidFill>
                  <a:srgbClr val="273239"/>
                </a:solidFill>
                <a:latin typeface="Nunito"/>
              </a:rPr>
              <a:t>of </a:t>
            </a:r>
            <a:r>
              <a:rPr lang="en-US" sz="2400" b="1" dirty="0">
                <a:solidFill>
                  <a:srgbClr val="273239"/>
                </a:solidFill>
                <a:latin typeface="Nunito"/>
              </a:rPr>
              <a:t>the </a:t>
            </a:r>
            <a:r>
              <a:rPr lang="en-US" sz="2400" b="1" dirty="0" smtClean="0">
                <a:solidFill>
                  <a:srgbClr val="273239"/>
                </a:solidFill>
                <a:latin typeface="Nunito"/>
              </a:rPr>
              <a:t>customers</a:t>
            </a:r>
          </a:p>
          <a:p>
            <a:r>
              <a:rPr lang="en-US" sz="2400" b="1" dirty="0" smtClean="0">
                <a:solidFill>
                  <a:srgbClr val="273239"/>
                </a:solidFill>
                <a:latin typeface="Nunito"/>
              </a:rPr>
              <a:t>who </a:t>
            </a:r>
            <a:r>
              <a:rPr lang="en-US" sz="2400" b="1" dirty="0">
                <a:solidFill>
                  <a:srgbClr val="273239"/>
                </a:solidFill>
                <a:latin typeface="Nunito"/>
              </a:rPr>
              <a:t>placed </a:t>
            </a:r>
            <a:r>
              <a:rPr lang="en-US" sz="2400" b="1" dirty="0" err="1">
                <a:solidFill>
                  <a:srgbClr val="273239"/>
                </a:solidFill>
                <a:latin typeface="Nunito"/>
              </a:rPr>
              <a:t>atleast</a:t>
            </a:r>
            <a:r>
              <a:rPr lang="en-US" sz="2400" b="1" dirty="0">
                <a:solidFill>
                  <a:srgbClr val="273239"/>
                </a:solidFill>
                <a:latin typeface="Nunito"/>
              </a:rPr>
              <a:t> one order.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83618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EXISTS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257" y="1463902"/>
            <a:ext cx="10515600" cy="53026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, </a:t>
            </a:r>
            <a:r>
              <a:rPr lang="en-US" dirty="0" err="1"/>
              <a:t>lname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Customers </a:t>
            </a:r>
          </a:p>
          <a:p>
            <a:pPr marL="0" indent="0">
              <a:buNone/>
            </a:pPr>
            <a:r>
              <a:rPr lang="en-US" dirty="0"/>
              <a:t>WHERE EXISTS (SELECT * </a:t>
            </a:r>
            <a:r>
              <a:rPr lang="en-US" dirty="0" smtClean="0"/>
              <a:t>FROM </a:t>
            </a:r>
            <a:r>
              <a:rPr lang="en-US" dirty="0"/>
              <a:t>Orders </a:t>
            </a:r>
          </a:p>
          <a:p>
            <a:pPr marL="0" indent="0">
              <a:buNone/>
            </a:pPr>
            <a:r>
              <a:rPr lang="en-US" dirty="0"/>
              <a:t>              WHERE </a:t>
            </a:r>
            <a:r>
              <a:rPr lang="en-US" dirty="0" err="1"/>
              <a:t>Customers.customer_id</a:t>
            </a:r>
            <a:r>
              <a:rPr lang="en-US" dirty="0"/>
              <a:t> = </a:t>
            </a:r>
            <a:r>
              <a:rPr lang="en-US" dirty="0" err="1"/>
              <a:t>Orders.c_id</a:t>
            </a:r>
            <a:r>
              <a:rPr lang="en-US" dirty="0"/>
              <a:t>);</a:t>
            </a:r>
            <a:endParaRPr lang="en-IN" dirty="0"/>
          </a:p>
        </p:txBody>
      </p:sp>
      <p:pic>
        <p:nvPicPr>
          <p:cNvPr id="3075" name="Picture 3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995" y="3984171"/>
            <a:ext cx="4727471" cy="240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379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NOT </a:t>
            </a:r>
            <a:r>
              <a:rPr lang="en-IN" dirty="0" smtClean="0"/>
              <a:t>EXISTS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257" y="1463902"/>
            <a:ext cx="10515600" cy="53026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Fetch last and first name of the customers who has not placed any order.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/>
              <a:t>lname</a:t>
            </a:r>
            <a:r>
              <a:rPr lang="en-US" dirty="0"/>
              <a:t>, </a:t>
            </a:r>
            <a:r>
              <a:rPr lang="en-US" dirty="0" err="1"/>
              <a:t>fname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NOT EXISTS (SELECT * </a:t>
            </a:r>
            <a:r>
              <a:rPr lang="en-US" dirty="0" smtClean="0"/>
              <a:t>FROM </a:t>
            </a:r>
            <a:r>
              <a:rPr lang="en-US" dirty="0"/>
              <a:t>Orders </a:t>
            </a:r>
            <a:r>
              <a:rPr lang="en-US" dirty="0" smtClean="0"/>
              <a:t>   </a:t>
            </a:r>
            <a:r>
              <a:rPr lang="en-US" dirty="0"/>
              <a:t>WHERE </a:t>
            </a:r>
            <a:r>
              <a:rPr lang="en-US" dirty="0" err="1"/>
              <a:t>Customers.customer_id</a:t>
            </a:r>
            <a:r>
              <a:rPr lang="en-US" dirty="0"/>
              <a:t> = </a:t>
            </a:r>
            <a:r>
              <a:rPr lang="en-US" dirty="0" err="1"/>
              <a:t>Orders.c_id</a:t>
            </a: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760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EXISTS condition with DELETE statement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257" y="1463902"/>
            <a:ext cx="10515600" cy="530265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Delete </a:t>
            </a:r>
            <a:r>
              <a:rPr lang="en-US" b="1" dirty="0"/>
              <a:t>the record of all the customer from Order Table whose last name is ‘</a:t>
            </a:r>
            <a:r>
              <a:rPr lang="en-US" b="1" dirty="0" err="1"/>
              <a:t>Mehra</a:t>
            </a:r>
            <a:r>
              <a:rPr lang="en-US" b="1" dirty="0"/>
              <a:t>’.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DELETE </a:t>
            </a:r>
          </a:p>
          <a:p>
            <a:pPr marL="0" indent="0">
              <a:buNone/>
            </a:pPr>
            <a:r>
              <a:rPr lang="en-US" dirty="0"/>
              <a:t>FROM Orders</a:t>
            </a:r>
          </a:p>
          <a:p>
            <a:pPr marL="0" indent="0">
              <a:buNone/>
            </a:pPr>
            <a:r>
              <a:rPr lang="en-US" dirty="0"/>
              <a:t>WHERE EXISTS (SELECT *</a:t>
            </a:r>
          </a:p>
          <a:p>
            <a:pPr marL="0" indent="0">
              <a:buNone/>
            </a:pPr>
            <a:r>
              <a:rPr lang="en-US" dirty="0"/>
              <a:t>              FROM customers</a:t>
            </a:r>
          </a:p>
          <a:p>
            <a:pPr marL="0" indent="0">
              <a:buNone/>
            </a:pPr>
            <a:r>
              <a:rPr lang="en-US" dirty="0"/>
              <a:t>              WHERE </a:t>
            </a:r>
            <a:r>
              <a:rPr lang="en-US" dirty="0" err="1"/>
              <a:t>Customers.customer_id</a:t>
            </a:r>
            <a:r>
              <a:rPr lang="en-US" dirty="0"/>
              <a:t> = </a:t>
            </a:r>
            <a:r>
              <a:rPr lang="en-US" dirty="0" err="1"/>
              <a:t>Orders.c_id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AND </a:t>
            </a:r>
            <a:r>
              <a:rPr lang="en-US" dirty="0" err="1"/>
              <a:t>Customers.lname</a:t>
            </a:r>
            <a:r>
              <a:rPr lang="en-US" dirty="0"/>
              <a:t> = '</a:t>
            </a:r>
            <a:r>
              <a:rPr lang="en-US" dirty="0" err="1"/>
              <a:t>Mehra</a:t>
            </a:r>
            <a:r>
              <a:rPr lang="en-US" dirty="0"/>
              <a:t>');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984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When to Use SQL EXISTS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2012542"/>
            <a:ext cx="10515600" cy="3983309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The </a:t>
            </a:r>
            <a:r>
              <a:rPr lang="en-US" dirty="0"/>
              <a:t>EXISTS condition is particularly useful in the following scenarios:</a:t>
            </a:r>
          </a:p>
          <a:p>
            <a:pPr algn="just" fontAlgn="base"/>
            <a:r>
              <a:rPr lang="en-US" b="1" dirty="0"/>
              <a:t>Checking Data Existence:</a:t>
            </a:r>
            <a:r>
              <a:rPr lang="en-US" dirty="0"/>
              <a:t> You can use </a:t>
            </a:r>
            <a:r>
              <a:rPr lang="en-US" b="1" dirty="0"/>
              <a:t>EXISTS</a:t>
            </a:r>
            <a:r>
              <a:rPr lang="en-US" dirty="0"/>
              <a:t> to check if related data exists in another table before performing an action (e.g., selecting, updating, deleting).</a:t>
            </a:r>
          </a:p>
          <a:p>
            <a:pPr algn="just" fontAlgn="base"/>
            <a:r>
              <a:rPr lang="en-US" b="1" dirty="0"/>
              <a:t>Performance:</a:t>
            </a:r>
            <a:r>
              <a:rPr lang="en-US" dirty="0"/>
              <a:t> EXISTS is often more efficient than using </a:t>
            </a:r>
            <a:r>
              <a:rPr lang="en-US" u="sng" dirty="0">
                <a:hlinkClick r:id="rId2"/>
              </a:rPr>
              <a:t>IN </a:t>
            </a:r>
            <a:r>
              <a:rPr lang="en-US" dirty="0"/>
              <a:t>when dealing with large </a:t>
            </a:r>
            <a:r>
              <a:rPr lang="en-US" b="1" dirty="0"/>
              <a:t>datasets</a:t>
            </a:r>
            <a:r>
              <a:rPr lang="en-US" dirty="0"/>
              <a:t>, as it stops searching once a match is found.</a:t>
            </a:r>
          </a:p>
          <a:p>
            <a:pPr algn="just" fontAlgn="base"/>
            <a:r>
              <a:rPr lang="en-US" b="1" dirty="0"/>
              <a:t>Correlated Subqueries: </a:t>
            </a:r>
            <a:r>
              <a:rPr lang="en-US" dirty="0"/>
              <a:t>EXISTS is ideal for correlated </a:t>
            </a:r>
            <a:r>
              <a:rPr lang="en-US" b="1" dirty="0"/>
              <a:t>subqueries</a:t>
            </a:r>
            <a:r>
              <a:rPr lang="en-US" dirty="0"/>
              <a:t>, where the subquery refers to the outer query’s values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38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Differences Between EXISTS and IN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2" y="1829663"/>
            <a:ext cx="10515600" cy="3382418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EXISTS </a:t>
            </a:r>
            <a:r>
              <a:rPr lang="en-US" dirty="0"/>
              <a:t>is used for checking the existence of rows, while </a:t>
            </a:r>
            <a:r>
              <a:rPr lang="en-US" b="1" dirty="0"/>
              <a:t>IN </a:t>
            </a:r>
            <a:r>
              <a:rPr lang="en-US" dirty="0"/>
              <a:t>checks if a value matches any value from a list or </a:t>
            </a:r>
            <a:r>
              <a:rPr lang="en-US" b="1" dirty="0"/>
              <a:t>subquery </a:t>
            </a:r>
            <a:r>
              <a:rPr lang="en-US" dirty="0"/>
              <a:t>result.</a:t>
            </a:r>
          </a:p>
          <a:p>
            <a:pPr fontAlgn="base"/>
            <a:r>
              <a:rPr lang="en-US" dirty="0"/>
              <a:t>EXISTS is more efficient when the subquery results in a large number of rows.</a:t>
            </a:r>
          </a:p>
          <a:p>
            <a:pPr fontAlgn="base"/>
            <a:r>
              <a:rPr lang="en-US" dirty="0"/>
              <a:t>IN works well for </a:t>
            </a:r>
            <a:r>
              <a:rPr lang="en-US" b="1" dirty="0"/>
              <a:t>small datasets</a:t>
            </a:r>
            <a:r>
              <a:rPr lang="en-US" dirty="0"/>
              <a:t> or static lists of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12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EXISTS condition with UPDATE statement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257" y="1463903"/>
            <a:ext cx="10515600" cy="454501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Update </a:t>
            </a:r>
            <a:r>
              <a:rPr lang="en-US" b="1" dirty="0"/>
              <a:t>the </a:t>
            </a:r>
            <a:r>
              <a:rPr lang="en-US" b="1" dirty="0" err="1"/>
              <a:t>lname</a:t>
            </a:r>
            <a:r>
              <a:rPr lang="en-US" b="1" dirty="0"/>
              <a:t> as ‘</a:t>
            </a:r>
            <a:r>
              <a:rPr lang="en-US" b="1" dirty="0" err="1"/>
              <a:t>Kumari</a:t>
            </a:r>
            <a:r>
              <a:rPr lang="en-US" b="1" dirty="0"/>
              <a:t>’ of customer in Customer Table whose </a:t>
            </a:r>
            <a:r>
              <a:rPr lang="en-US" b="1" dirty="0" err="1"/>
              <a:t>customer_id</a:t>
            </a:r>
            <a:r>
              <a:rPr lang="en-US" b="1" dirty="0"/>
              <a:t> is 401.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UPDATE Customers</a:t>
            </a:r>
          </a:p>
          <a:p>
            <a:pPr marL="0" indent="0">
              <a:buNone/>
            </a:pPr>
            <a:r>
              <a:rPr lang="en-US" dirty="0"/>
              <a:t>SET </a:t>
            </a:r>
            <a:r>
              <a:rPr lang="en-US" dirty="0" err="1"/>
              <a:t>lname</a:t>
            </a:r>
            <a:r>
              <a:rPr lang="en-US" dirty="0"/>
              <a:t> = '</a:t>
            </a:r>
            <a:r>
              <a:rPr lang="en-US" dirty="0" err="1"/>
              <a:t>Kumari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WHERE EXISTS (SELECT *</a:t>
            </a:r>
          </a:p>
          <a:p>
            <a:pPr marL="0" indent="0">
              <a:buNone/>
            </a:pPr>
            <a:r>
              <a:rPr lang="en-US" dirty="0"/>
              <a:t>              FROM Customers</a:t>
            </a:r>
          </a:p>
          <a:p>
            <a:pPr marL="0" indent="0">
              <a:buNone/>
            </a:pPr>
            <a:r>
              <a:rPr lang="en-US" dirty="0"/>
              <a:t>              WHERE </a:t>
            </a:r>
            <a:r>
              <a:rPr lang="en-US" dirty="0" err="1"/>
              <a:t>customer_id</a:t>
            </a:r>
            <a:r>
              <a:rPr lang="en-US" dirty="0"/>
              <a:t> = 401);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0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LIKE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country LIKE 'U_';</a:t>
            </a:r>
          </a:p>
          <a:p>
            <a:pPr marL="0" indent="0">
              <a:buNone/>
            </a:pPr>
            <a:r>
              <a:rPr lang="en-US" b="1" dirty="0"/>
              <a:t>selects customers whose country name starts with U and is followed by only one character.</a:t>
            </a:r>
            <a:endParaRPr lang="en-IN" b="1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4091795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LIKE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country NOT LIKE 'USA';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957880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LIKE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last_name</a:t>
            </a:r>
            <a:r>
              <a:rPr lang="en-US" dirty="0" smtClean="0"/>
              <a:t> LIKE '</a:t>
            </a:r>
            <a:r>
              <a:rPr lang="en-US" dirty="0" err="1" smtClean="0"/>
              <a:t>R%t</a:t>
            </a:r>
            <a:r>
              <a:rPr lang="en-US" dirty="0" smtClean="0"/>
              <a:t>' OR </a:t>
            </a:r>
            <a:r>
              <a:rPr lang="en-US" dirty="0" err="1" smtClean="0"/>
              <a:t>last_name</a:t>
            </a:r>
            <a:r>
              <a:rPr lang="en-US" dirty="0" smtClean="0"/>
              <a:t> LIKE '%e';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55455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IS NULL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Employee</a:t>
            </a:r>
          </a:p>
          <a:p>
            <a:pPr marL="0" indent="0">
              <a:buNone/>
            </a:pPr>
            <a:r>
              <a:rPr lang="en-US" dirty="0" smtClean="0"/>
              <a:t>WHERE email IS NULL;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42436318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SET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There are the following 4 set operators in SQL Server:</a:t>
            </a:r>
          </a:p>
          <a:p>
            <a:pPr algn="just" fontAlgn="base"/>
            <a:r>
              <a:rPr lang="en-US" b="1" dirty="0"/>
              <a:t>UNION</a:t>
            </a:r>
            <a:r>
              <a:rPr lang="en-US" dirty="0"/>
              <a:t>: Combine two or more result sets into a single set without duplicates.</a:t>
            </a:r>
          </a:p>
          <a:p>
            <a:pPr algn="just" fontAlgn="base"/>
            <a:r>
              <a:rPr lang="en-US" b="1" dirty="0"/>
              <a:t>UNION ALL</a:t>
            </a:r>
            <a:r>
              <a:rPr lang="en-US" dirty="0"/>
              <a:t>: Combine two or more result sets into a single set, including all duplicates.</a:t>
            </a:r>
          </a:p>
          <a:p>
            <a:pPr algn="just" fontAlgn="base"/>
            <a:r>
              <a:rPr lang="en-US" b="1" dirty="0"/>
              <a:t>INTERSECT</a:t>
            </a:r>
            <a:r>
              <a:rPr lang="en-US" dirty="0"/>
              <a:t>: Takes the data from both result sets, which are in common.</a:t>
            </a:r>
          </a:p>
          <a:p>
            <a:pPr algn="just" fontAlgn="base"/>
            <a:r>
              <a:rPr lang="en-US" b="1" dirty="0"/>
              <a:t>EXCEPT</a:t>
            </a:r>
            <a:r>
              <a:rPr lang="en-US" dirty="0"/>
              <a:t>: Takes the data from the first result set but not in the second result set (i.e., no matching to each other)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410079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SET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Rules on Set Operations:</a:t>
            </a:r>
          </a:p>
          <a:p>
            <a:pPr fontAlgn="base"/>
            <a:r>
              <a:rPr lang="en-US" dirty="0"/>
              <a:t>The result sets of all queries must have the same number of columns.</a:t>
            </a:r>
          </a:p>
          <a:p>
            <a:pPr fontAlgn="base"/>
            <a:r>
              <a:rPr lang="en-US" dirty="0"/>
              <a:t>In every result set, the data type of each column must be compatible (well-matched) with the data type of its corresponding column in other result sets.</a:t>
            </a:r>
          </a:p>
          <a:p>
            <a:pPr fontAlgn="base"/>
            <a:r>
              <a:rPr lang="en-US" dirty="0"/>
              <a:t>An ORDER BY clause should be part of the last select statement to sort the result. The first select statement must find out the column names or aliases.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498656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The </a:t>
            </a:r>
            <a:r>
              <a:rPr lang="en-US" dirty="0"/>
              <a:t>Union operator will return all the unique rows from both queries. Notice that the duplicates are removed from the result set. </a:t>
            </a:r>
          </a:p>
          <a:p>
            <a:pPr fontAlgn="base"/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SELECT </a:t>
            </a:r>
            <a:r>
              <a:rPr lang="en-US" b="1" dirty="0"/>
              <a:t>ID, Name, Gender, Department FROM </a:t>
            </a:r>
            <a:r>
              <a:rPr lang="en-US" b="1" dirty="0" err="1"/>
              <a:t>TableA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UNION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SELECT ID, Name, Gender, Department FROM </a:t>
            </a:r>
            <a:r>
              <a:rPr lang="en-US" b="1" dirty="0" err="1"/>
              <a:t>TableB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44" y="4770755"/>
            <a:ext cx="3143250" cy="1724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894" y="4885055"/>
            <a:ext cx="3038475" cy="1609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857" y="4837429"/>
            <a:ext cx="31337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13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50000"/>
              </a:lnSpc>
            </a:pPr>
            <a:r>
              <a:rPr lang="en-US" b="1" dirty="0"/>
              <a:t>Purpose:</a:t>
            </a:r>
            <a:r>
              <a:rPr lang="en-US" dirty="0"/>
              <a:t> The UNION operator combines the result sets of two or more SELECT statements into a single result </a:t>
            </a:r>
            <a:r>
              <a:rPr lang="en-US" dirty="0" smtClean="0"/>
              <a:t>set.</a:t>
            </a:r>
          </a:p>
          <a:p>
            <a:pPr fontAlgn="base">
              <a:lnSpc>
                <a:spcPct val="150000"/>
              </a:lnSpc>
            </a:pPr>
            <a:r>
              <a:rPr lang="en-US" b="1" dirty="0" smtClean="0"/>
              <a:t>Distinct </a:t>
            </a:r>
            <a:r>
              <a:rPr lang="en-US" b="1" dirty="0"/>
              <a:t>Values:</a:t>
            </a:r>
            <a:r>
              <a:rPr lang="en-US" dirty="0"/>
              <a:t> It removes duplicate rows between the various SELECT </a:t>
            </a:r>
            <a:r>
              <a:rPr lang="en-US" dirty="0" smtClean="0"/>
              <a:t>statements.</a:t>
            </a:r>
          </a:p>
          <a:p>
            <a:pPr fontAlgn="base">
              <a:lnSpc>
                <a:spcPct val="150000"/>
              </a:lnSpc>
            </a:pPr>
            <a:r>
              <a:rPr lang="en-US" b="1" dirty="0" smtClean="0"/>
              <a:t>Use </a:t>
            </a:r>
            <a:r>
              <a:rPr lang="en-US" b="1" dirty="0"/>
              <a:t>Case:</a:t>
            </a:r>
            <a:r>
              <a:rPr lang="en-US" dirty="0"/>
              <a:t> You would use UNION when listing all distinct rows from multiple tables or queries.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154288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UNION ALL </a:t>
            </a:r>
            <a:r>
              <a:rPr lang="en-US" dirty="0" smtClean="0"/>
              <a:t>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The </a:t>
            </a:r>
            <a:r>
              <a:rPr lang="en-US" dirty="0"/>
              <a:t>UNION ALL operator returns all the rows from both queries, including the duplicates.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b="1" dirty="0" smtClean="0"/>
              <a:t>SELECT </a:t>
            </a:r>
            <a:r>
              <a:rPr lang="en-US" b="1" dirty="0"/>
              <a:t>ID, Name, Gender, Department FROM </a:t>
            </a:r>
            <a:r>
              <a:rPr lang="en-US" b="1" dirty="0" err="1"/>
              <a:t>TableA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UNION ALL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SELECT ID, Name, Gender, Department FROM </a:t>
            </a:r>
            <a:r>
              <a:rPr lang="en-US" b="1" dirty="0" err="1"/>
              <a:t>TableB</a:t>
            </a:r>
            <a:endParaRPr lang="en-US" b="1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914" y="3834266"/>
            <a:ext cx="4006759" cy="302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96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INTERSECT </a:t>
            </a:r>
            <a:r>
              <a:rPr lang="en-US" dirty="0" smtClean="0"/>
              <a:t>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The </a:t>
            </a:r>
            <a:r>
              <a:rPr lang="en-US" dirty="0"/>
              <a:t>INTERSECT operator retrieves the common unique rows from the left and right queries. Notice the duplicates are removed. </a:t>
            </a:r>
          </a:p>
          <a:p>
            <a:pPr marL="0" indent="0" fontAlgn="base">
              <a:buNone/>
            </a:pP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SELECT </a:t>
            </a:r>
            <a:r>
              <a:rPr lang="en-US" b="1" dirty="0"/>
              <a:t>ID, Name, Gender, Department FROM </a:t>
            </a:r>
            <a:r>
              <a:rPr lang="en-US" b="1" dirty="0" err="1"/>
              <a:t>TableA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INTERSECT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SELECT ID, Name, Gender, Department FROM </a:t>
            </a:r>
            <a:r>
              <a:rPr lang="en-US" b="1" dirty="0" err="1"/>
              <a:t>TableB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081" y="5110163"/>
            <a:ext cx="4900205" cy="154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2923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INTERSECT </a:t>
            </a:r>
            <a:r>
              <a:rPr lang="en-US" dirty="0" smtClean="0"/>
              <a:t>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>
              <a:lnSpc>
                <a:spcPct val="200000"/>
              </a:lnSpc>
            </a:pPr>
            <a:r>
              <a:rPr lang="en-US" b="1" dirty="0"/>
              <a:t>Purpose:</a:t>
            </a:r>
            <a:r>
              <a:rPr lang="en-US" dirty="0"/>
              <a:t> The INTERSECT operator returns all rows common to both SELECT </a:t>
            </a:r>
            <a:r>
              <a:rPr lang="en-US" dirty="0" smtClean="0"/>
              <a:t>statements.</a:t>
            </a:r>
          </a:p>
          <a:p>
            <a:pPr fontAlgn="base">
              <a:lnSpc>
                <a:spcPct val="200000"/>
              </a:lnSpc>
            </a:pPr>
            <a:r>
              <a:rPr lang="en-US" b="1" dirty="0" smtClean="0"/>
              <a:t>Distinct </a:t>
            </a:r>
            <a:r>
              <a:rPr lang="en-US" b="1" dirty="0"/>
              <a:t>Values:</a:t>
            </a:r>
            <a:r>
              <a:rPr lang="en-US" dirty="0"/>
              <a:t> Like UNION and EXCEPT, INTERSECT also removes </a:t>
            </a:r>
            <a:r>
              <a:rPr lang="en-US" dirty="0" smtClean="0"/>
              <a:t>duplicates.</a:t>
            </a:r>
          </a:p>
          <a:p>
            <a:pPr fontAlgn="base">
              <a:lnSpc>
                <a:spcPct val="200000"/>
              </a:lnSpc>
            </a:pPr>
            <a:r>
              <a:rPr lang="en-US" b="1" dirty="0" smtClean="0"/>
              <a:t>Use </a:t>
            </a:r>
            <a:r>
              <a:rPr lang="en-US" b="1" dirty="0"/>
              <a:t>Case:</a:t>
            </a:r>
            <a:r>
              <a:rPr lang="en-US" dirty="0"/>
              <a:t> You would use INTERSECT when you need to find rows that are shared between two tables or queries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78828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EXCEPT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The </a:t>
            </a:r>
            <a:r>
              <a:rPr lang="en-US" dirty="0"/>
              <a:t>EXCEPT operator will return unique rows from the left query that aren’t in the right query’s results. </a:t>
            </a:r>
          </a:p>
          <a:p>
            <a:pPr marL="0" indent="0" fontAlgn="base">
              <a:buNone/>
            </a:pP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SELECT </a:t>
            </a:r>
            <a:r>
              <a:rPr lang="en-US" b="1" dirty="0"/>
              <a:t>ID, Name, Gender, Department FROM </a:t>
            </a:r>
            <a:r>
              <a:rPr lang="en-US" b="1" dirty="0" err="1"/>
              <a:t>TableA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EXCEPT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SELECT ID, Name, Gender, Department FROM </a:t>
            </a:r>
            <a:r>
              <a:rPr lang="en-US" b="1" dirty="0" err="1"/>
              <a:t>TableB</a:t>
            </a:r>
            <a:endParaRPr lang="en-US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61" y="4670107"/>
            <a:ext cx="6062879" cy="150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172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DISTINCT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the unique countries from the customers table</a:t>
            </a:r>
          </a:p>
          <a:p>
            <a:pPr marL="0" indent="0">
              <a:buNone/>
            </a:pPr>
            <a:r>
              <a:rPr lang="en-US" dirty="0" smtClean="0"/>
              <a:t>SELECT DISTINCT country</a:t>
            </a:r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4051795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-87092"/>
            <a:ext cx="6143993" cy="6264055"/>
          </a:xfrm>
        </p:spPr>
      </p:pic>
    </p:spTree>
    <p:extLst>
      <p:ext uri="{BB962C8B-B14F-4D97-AF65-F5344CB8AC3E}">
        <p14:creationId xmlns:p14="http://schemas.microsoft.com/office/powerpoint/2010/main" val="26293269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COUNT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COUNT(DISTINCT country)</a:t>
            </a:r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207303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COUNT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--returns the number of rows in the Customers table</a:t>
            </a:r>
          </a:p>
          <a:p>
            <a:pPr marL="0" indent="0">
              <a:buNone/>
            </a:pPr>
            <a:r>
              <a:rPr lang="en-US" dirty="0" smtClean="0"/>
              <a:t>SELECT COUNT(*)</a:t>
            </a:r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704374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GROUPBY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the item column and the count of order ids from the Orders table</a:t>
            </a:r>
          </a:p>
          <a:p>
            <a:pPr marL="0" indent="0">
              <a:buNone/>
            </a:pPr>
            <a:r>
              <a:rPr lang="en-US" b="1" dirty="0" smtClean="0"/>
              <a:t>-- group them by the item column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COUNT(</a:t>
            </a:r>
            <a:r>
              <a:rPr lang="en-US" dirty="0" err="1" smtClean="0"/>
              <a:t>order_id</a:t>
            </a:r>
            <a:r>
              <a:rPr lang="en-US" dirty="0" smtClean="0"/>
              <a:t>), item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GROUP BY item;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181728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-398662"/>
            <a:ext cx="6334519" cy="6575625"/>
          </a:xfrm>
        </p:spPr>
      </p:pic>
    </p:spTree>
    <p:extLst>
      <p:ext uri="{BB962C8B-B14F-4D97-AF65-F5344CB8AC3E}">
        <p14:creationId xmlns:p14="http://schemas.microsoft.com/office/powerpoint/2010/main" val="7119626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ORDERBY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orders all rows from Customers in ascending order by country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ORDER BY country;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6807992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25" y="-111962"/>
            <a:ext cx="5443410" cy="6360362"/>
          </a:xfrm>
        </p:spPr>
      </p:pic>
    </p:spTree>
    <p:extLst>
      <p:ext uri="{BB962C8B-B14F-4D97-AF65-F5344CB8AC3E}">
        <p14:creationId xmlns:p14="http://schemas.microsoft.com/office/powerpoint/2010/main" val="23872576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ORDERBY ASC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orders all rows from Customers in ascending order by age 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ORDER BY age ASC;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7542499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ORDERBY DESC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order all rows from Customers in descending order by age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ORDER BY age DESC;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40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1487</Words>
  <Application>Microsoft Office PowerPoint</Application>
  <PresentationFormat>Widescreen</PresentationFormat>
  <Paragraphs>303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Nunito</vt:lpstr>
      <vt:lpstr>Office Theme</vt:lpstr>
      <vt:lpstr>Title of Topic: OPERATORS IN SQL Course Code: 23IT201 Course Title: DataBase Management Systems MODULE –II Academic Year: 2024 - 2025 (Even Sem)</vt:lpstr>
      <vt:lpstr>Addition Operator </vt:lpstr>
      <vt:lpstr>SUBTRACTION</vt:lpstr>
      <vt:lpstr>MULTIPLICATION</vt:lpstr>
      <vt:lpstr>DIVISION</vt:lpstr>
      <vt:lpstr>MODULO</vt:lpstr>
      <vt:lpstr>EQUAL TO</vt:lpstr>
      <vt:lpstr>LESS THAN</vt:lpstr>
      <vt:lpstr>GREATER THAN</vt:lpstr>
      <vt:lpstr>LESS THAN EQUAL TO</vt:lpstr>
      <vt:lpstr>GREATER THAN EQUAL TO</vt:lpstr>
      <vt:lpstr>NOT EQUAL</vt:lpstr>
      <vt:lpstr>ANY</vt:lpstr>
      <vt:lpstr>PowerPoint Presentation</vt:lpstr>
      <vt:lpstr>ALL</vt:lpstr>
      <vt:lpstr>PowerPoint Presentation</vt:lpstr>
      <vt:lpstr>AND</vt:lpstr>
      <vt:lpstr>OR</vt:lpstr>
      <vt:lpstr>NOT</vt:lpstr>
      <vt:lpstr>MULTIPLE OPERATORS</vt:lpstr>
      <vt:lpstr>MULTIPLE OPERATORS</vt:lpstr>
      <vt:lpstr>BETWEEEN</vt:lpstr>
      <vt:lpstr>IN</vt:lpstr>
      <vt:lpstr>NOT IN</vt:lpstr>
      <vt:lpstr>EXISTS</vt:lpstr>
      <vt:lpstr>EXISTS</vt:lpstr>
      <vt:lpstr>EXISTS</vt:lpstr>
      <vt:lpstr>NOT EXISTS</vt:lpstr>
      <vt:lpstr>Using EXISTS condition with DELETE statement</vt:lpstr>
      <vt:lpstr>When to Use SQL EXISTS</vt:lpstr>
      <vt:lpstr>Differences Between EXISTS and IN</vt:lpstr>
      <vt:lpstr>Using EXISTS condition with UPDATE statement</vt:lpstr>
      <vt:lpstr>LIKE</vt:lpstr>
      <vt:lpstr>LIKE</vt:lpstr>
      <vt:lpstr>LIKE</vt:lpstr>
      <vt:lpstr>IS NULL</vt:lpstr>
      <vt:lpstr>SET OPERATORS</vt:lpstr>
      <vt:lpstr>SET OPERATORS</vt:lpstr>
      <vt:lpstr>UNION Operator</vt:lpstr>
      <vt:lpstr>UNION Operator</vt:lpstr>
      <vt:lpstr>UNION ALL Operator</vt:lpstr>
      <vt:lpstr>INTERSECT Operator</vt:lpstr>
      <vt:lpstr>INTERSECT Operator</vt:lpstr>
      <vt:lpstr>EXCEPT Operator</vt:lpstr>
      <vt:lpstr>DISTINCT</vt:lpstr>
      <vt:lpstr>PowerPoint Presentation</vt:lpstr>
      <vt:lpstr>COUNT</vt:lpstr>
      <vt:lpstr>COUNT</vt:lpstr>
      <vt:lpstr>GROUPBY</vt:lpstr>
      <vt:lpstr>PowerPoint Presentation</vt:lpstr>
      <vt:lpstr>ORDERBY</vt:lpstr>
      <vt:lpstr>PowerPoint Presentation</vt:lpstr>
      <vt:lpstr>ORDERBY ASC</vt:lpstr>
      <vt:lpstr>ORDERBY DESC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Mythili</dc:creator>
  <cp:lastModifiedBy>user</cp:lastModifiedBy>
  <cp:revision>100</cp:revision>
  <dcterms:created xsi:type="dcterms:W3CDTF">2023-04-27T05:25:48Z</dcterms:created>
  <dcterms:modified xsi:type="dcterms:W3CDTF">2025-03-05T04:43:58Z</dcterms:modified>
</cp:coreProperties>
</file>