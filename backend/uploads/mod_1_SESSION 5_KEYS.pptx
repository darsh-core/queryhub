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410" r:id="rId2"/>
    <p:sldId id="258" r:id="rId3"/>
    <p:sldId id="413" r:id="rId4"/>
    <p:sldId id="483" r:id="rId5"/>
    <p:sldId id="560" r:id="rId6"/>
    <p:sldId id="561" r:id="rId7"/>
    <p:sldId id="562" r:id="rId8"/>
    <p:sldId id="563" r:id="rId9"/>
    <p:sldId id="564" r:id="rId10"/>
    <p:sldId id="565" r:id="rId11"/>
    <p:sldId id="566" r:id="rId12"/>
    <p:sldId id="567" r:id="rId13"/>
    <p:sldId id="568" r:id="rId14"/>
    <p:sldId id="569" r:id="rId15"/>
    <p:sldId id="570" r:id="rId16"/>
    <p:sldId id="571" r:id="rId17"/>
    <p:sldId id="572" r:id="rId18"/>
    <p:sldId id="573" r:id="rId19"/>
    <p:sldId id="574" r:id="rId20"/>
    <p:sldId id="575" r:id="rId21"/>
    <p:sldId id="576" r:id="rId22"/>
    <p:sldId id="577" r:id="rId23"/>
    <p:sldId id="578" r:id="rId24"/>
    <p:sldId id="579" r:id="rId25"/>
    <p:sldId id="580" r:id="rId26"/>
    <p:sldId id="581" r:id="rId27"/>
    <p:sldId id="582" r:id="rId28"/>
    <p:sldId id="583" r:id="rId29"/>
    <p:sldId id="584" r:id="rId30"/>
    <p:sldId id="585" r:id="rId31"/>
    <p:sldId id="586" r:id="rId32"/>
    <p:sldId id="587" r:id="rId33"/>
    <p:sldId id="528" r:id="rId34"/>
    <p:sldId id="529" r:id="rId35"/>
    <p:sldId id="411" r:id="rId3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87971" autoAdjust="0"/>
  </p:normalViewPr>
  <p:slideViewPr>
    <p:cSldViewPr>
      <p:cViewPr varScale="1">
        <p:scale>
          <a:sx n="73" d="100"/>
          <a:sy n="73" d="100"/>
        </p:scale>
        <p:origin x="1320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40B9AE-A6FD-4340-8796-B3DD08C49BFA}" type="datetimeFigureOut">
              <a:rPr lang="en-IN" smtClean="0"/>
              <a:t>11-01-2025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DDDBCF-62DD-41D3-BF56-2DCC136966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09607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7F7F5A-C11F-41DC-8103-F9FFE06AE41C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3978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DDDBCF-62DD-41D3-BF56-2DCC13696638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47459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1A8E1-26E0-49DB-AC7E-2EF92CC601DA}" type="datetime1">
              <a:rPr lang="en-IN" smtClean="0"/>
              <a:t>11-01-2025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39DD5-181C-42B6-8328-C1C2EC19C5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8237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0C967-BB2F-4E2B-BD5F-30068A8ED89F}" type="datetime1">
              <a:rPr lang="en-IN" smtClean="0"/>
              <a:t>11-01-2025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39DD5-181C-42B6-8328-C1C2EC19C5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1079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E7700-F1ED-428F-B552-7FEC0EA1E817}" type="datetime1">
              <a:rPr lang="en-IN" smtClean="0"/>
              <a:t>11-01-2025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39DD5-181C-42B6-8328-C1C2EC19C5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3652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D98B2-5E35-4EE6-89C9-61C3AEB0E92F}" type="datetime1">
              <a:rPr lang="en-IN" smtClean="0"/>
              <a:t>11-01-2025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39DD5-181C-42B6-8328-C1C2EC19C5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2580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07B0B-6576-4AE5-8659-D0607FB34AE6}" type="datetime1">
              <a:rPr lang="en-IN" smtClean="0"/>
              <a:t>11-01-2025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39DD5-181C-42B6-8328-C1C2EC19C5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53769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0EBDC-738C-4FFA-8183-317ADFC99BC3}" type="datetime1">
              <a:rPr lang="en-IN" smtClean="0"/>
              <a:t>11-01-2025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39DD5-181C-42B6-8328-C1C2EC19C5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28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26F79-9F22-4D00-B288-E7577EAC9FBB}" type="datetime1">
              <a:rPr lang="en-IN" smtClean="0"/>
              <a:t>11-01-2025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39DD5-181C-42B6-8328-C1C2EC19C5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0432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28742-CBA0-479C-AE2A-0007ABD60319}" type="datetime1">
              <a:rPr lang="en-IN" smtClean="0"/>
              <a:t>11-01-2025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39DD5-181C-42B6-8328-C1C2EC19C5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5635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75703-5067-4702-B21A-A755B6F05279}" type="datetime1">
              <a:rPr lang="en-IN" smtClean="0"/>
              <a:t>11-01-2025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39DD5-181C-42B6-8328-C1C2EC19C5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6111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EBF32-5D0C-4656-BF58-4A5C319433D1}" type="datetime1">
              <a:rPr lang="en-IN" smtClean="0"/>
              <a:t>11-01-2025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39DD5-181C-42B6-8328-C1C2EC19C5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7439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689C9-C399-4532-B87C-B30B3FFA1D3F}" type="datetime1">
              <a:rPr lang="en-IN" smtClean="0"/>
              <a:t>11-01-2025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39DD5-181C-42B6-8328-C1C2EC19C5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3946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48F396-2623-48A1-A9CB-3F7AFE6DE5CF}" type="datetime1">
              <a:rPr lang="en-IN" smtClean="0"/>
              <a:t>11-01-2025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E39DD5-181C-42B6-8328-C1C2EC19C5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5642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hyperlink" Target="https://drive.google.com/file/d/1sgu34kOidIy1-ZtpHIgroqLi1BZ-ZxJE/view?usp=sharing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s://drive.google.com/file/d/1RzxSxt4RQNQ5DItnOW5gexbrfbWoBtIB/view?usp=sharing" TargetMode="Externa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4.png"/><Relationship Id="rId7" Type="http://schemas.openxmlformats.org/officeDocument/2006/relationships/image" Target="../media/image15.png"/><Relationship Id="rId2" Type="http://schemas.openxmlformats.org/officeDocument/2006/relationships/hyperlink" Target="https://livesql.oracle.com/apex/f?p=590:1:17499209544798::NO:RP::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freecadweb.org/wiki/How_to_install_macros" TargetMode="External"/><Relationship Id="rId5" Type="http://schemas.openxmlformats.org/officeDocument/2006/relationships/image" Target="NULL"/><Relationship Id="rId9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4.png"/><Relationship Id="rId7" Type="http://schemas.openxmlformats.org/officeDocument/2006/relationships/image" Target="../media/image15.png"/><Relationship Id="rId2" Type="http://schemas.openxmlformats.org/officeDocument/2006/relationships/hyperlink" Target="https://livesql.oracle.com/apex/f?p=590:1:17499209544798::NO:RP::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freecadweb.org/wiki/How_to_install_macros" TargetMode="External"/><Relationship Id="rId5" Type="http://schemas.openxmlformats.org/officeDocument/2006/relationships/image" Target="NULL"/><Relationship Id="rId9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4.png"/><Relationship Id="rId7" Type="http://schemas.openxmlformats.org/officeDocument/2006/relationships/image" Target="../media/image15.png"/><Relationship Id="rId2" Type="http://schemas.openxmlformats.org/officeDocument/2006/relationships/hyperlink" Target="https://livesql.oracle.com/apex/f?p=590:1:17499209544798::NO:RP::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freecadweb.org/wiki/How_to_install_macros" TargetMode="External"/><Relationship Id="rId5" Type="http://schemas.openxmlformats.org/officeDocument/2006/relationships/image" Target="NULL"/><Relationship Id="rId9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4.png"/><Relationship Id="rId7" Type="http://schemas.openxmlformats.org/officeDocument/2006/relationships/image" Target="../media/image15.png"/><Relationship Id="rId2" Type="http://schemas.openxmlformats.org/officeDocument/2006/relationships/hyperlink" Target="https://livesql.oracle.com/apex/f?p=590:1:17499209544798::NO:RP::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freecadweb.org/wiki/How_to_install_macros" TargetMode="External"/><Relationship Id="rId5" Type="http://schemas.openxmlformats.org/officeDocument/2006/relationships/image" Target="NULL"/><Relationship Id="rId9" Type="http://schemas.openxmlformats.org/officeDocument/2006/relationships/image" Target="../media/image2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2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4.png"/><Relationship Id="rId7" Type="http://schemas.openxmlformats.org/officeDocument/2006/relationships/image" Target="../media/image39.png"/><Relationship Id="rId2" Type="http://schemas.openxmlformats.org/officeDocument/2006/relationships/hyperlink" Target="https://livesql.oracle.com/apex/f?p=590:1:17499209544798::NO:RP::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freecadweb.org/wiki/How_to_install_macros" TargetMode="External"/><Relationship Id="rId5" Type="http://schemas.openxmlformats.org/officeDocument/2006/relationships/image" Target="NULL"/><Relationship Id="rId10" Type="http://schemas.openxmlformats.org/officeDocument/2006/relationships/image" Target="../media/image41.png"/><Relationship Id="rId9" Type="http://schemas.openxmlformats.org/officeDocument/2006/relationships/image" Target="../media/image40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700808"/>
            <a:ext cx="9144000" cy="345638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IN" sz="2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Title of Topic: </a:t>
            </a:r>
            <a:r>
              <a:rPr lang="en-US" sz="2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Keys and Integrity </a:t>
            </a:r>
            <a:r>
              <a:rPr lang="en-US" sz="22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Constraints</a:t>
            </a:r>
            <a:r>
              <a:rPr lang="en-US" sz="22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22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2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Course Code: </a:t>
            </a:r>
            <a:r>
              <a:rPr lang="en-IN" sz="22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23IT201</a:t>
            </a:r>
            <a:r>
              <a:rPr lang="en-IN" sz="2200" b="1" dirty="0" smtClean="0">
                <a:latin typeface="Arial" pitchFamily="34" charset="0"/>
                <a:cs typeface="Arial" pitchFamily="34" charset="0"/>
              </a:rPr>
              <a:t/>
            </a:r>
            <a:br>
              <a:rPr lang="en-IN" sz="2200" b="1" dirty="0" smtClean="0">
                <a:latin typeface="Arial" pitchFamily="34" charset="0"/>
                <a:cs typeface="Arial" pitchFamily="34" charset="0"/>
              </a:rPr>
            </a:br>
            <a:r>
              <a:rPr lang="en-IN" sz="22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Course Title: </a:t>
            </a:r>
            <a:r>
              <a:rPr lang="en-IN" sz="2200" b="1" dirty="0" err="1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DataBase</a:t>
            </a:r>
            <a:r>
              <a:rPr lang="en-IN" sz="22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Management Systems</a:t>
            </a:r>
            <a:br>
              <a:rPr lang="en-IN" sz="22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</a:br>
            <a:r>
              <a:rPr lang="en-IN" sz="22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Session Number: 6</a:t>
            </a:r>
            <a:br>
              <a:rPr lang="en-IN" sz="22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</a:br>
            <a:r>
              <a:rPr lang="en-IN" sz="22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Academic </a:t>
            </a:r>
            <a:r>
              <a:rPr lang="en-IN" sz="22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Year: </a:t>
            </a:r>
            <a:r>
              <a:rPr lang="en-IN" sz="22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2024 </a:t>
            </a:r>
            <a:r>
              <a:rPr lang="en-IN" sz="22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- </a:t>
            </a:r>
            <a:r>
              <a:rPr lang="en-IN" sz="22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2025 </a:t>
            </a:r>
            <a:r>
              <a:rPr lang="en-IN" sz="22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(Even </a:t>
            </a:r>
            <a:r>
              <a:rPr lang="en-IN" sz="2200" b="1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Sem</a:t>
            </a:r>
            <a:r>
              <a:rPr lang="en-IN" sz="22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)</a:t>
            </a:r>
            <a:endParaRPr lang="en-IN" sz="2200" b="1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Footer Placeholder 2"/>
          <p:cNvSpPr txBox="1">
            <a:spLocks/>
          </p:cNvSpPr>
          <p:nvPr/>
        </p:nvSpPr>
        <p:spPr>
          <a:xfrm>
            <a:off x="0" y="6492875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010400" y="6492875"/>
            <a:ext cx="2133600" cy="365125"/>
          </a:xfrm>
        </p:spPr>
        <p:txBody>
          <a:bodyPr/>
          <a:lstStyle/>
          <a:p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- 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5253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530105"/>
            <a:ext cx="9131374" cy="6009132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  <a:tabLst>
                <a:tab pos="1527175" algn="l"/>
              </a:tabLst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1. Introduction to DBMS, Characteristics of DBMS, DBMS vs File Systems, need for DBMS.</a:t>
            </a:r>
            <a:b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2. Three Level DBMS Architecture.</a:t>
            </a:r>
            <a:b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3. </a:t>
            </a:r>
            <a:r>
              <a:rPr lang="en-IN" sz="20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Models, Introduction, Benefits, and Phases. ER Diagrams – Symbols, Components, Relationships, Weak entities, Attributes, Cardinality.</a:t>
            </a:r>
            <a:br>
              <a:rPr lang="en-IN" sz="20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4.Relational Algebra, Domain Relational Calculus, Tuple Relational Calculus, </a:t>
            </a:r>
            <a:b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5. Keys - primary Key, Foreign Key.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001792" y="645854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6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fld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611560" y="328464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3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Module 1 – </a:t>
            </a:r>
            <a:r>
              <a:rPr lang="en-US" sz="23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r>
              <a:rPr lang="en-IN" sz="2200" b="1" dirty="0" smtClean="0">
                <a:latin typeface="Arial" panose="020B0604020202020204" pitchFamily="34" charset="0"/>
                <a:cs typeface="Arial" pitchFamily="34" charset="0"/>
              </a:rPr>
              <a:t/>
            </a:r>
            <a:br>
              <a:rPr lang="en-IN" sz="2200" b="1" dirty="0" smtClean="0"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lide Number Placeholder 3"/>
          <p:cNvSpPr txBox="1">
            <a:spLocks/>
          </p:cNvSpPr>
          <p:nvPr/>
        </p:nvSpPr>
        <p:spPr>
          <a:xfrm>
            <a:off x="699777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8212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692696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3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itchFamily="34" charset="0"/>
              </a:rPr>
              <a:t>Topics to be Covered</a:t>
            </a: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1628800"/>
            <a:ext cx="9144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itchFamily="34" charset="0"/>
              </a:rPr>
              <a:t>Keys in DBMS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 smtClean="0">
                <a:latin typeface="Arial" panose="020B0604020202020204" pitchFamily="34" charset="0"/>
                <a:cs typeface="Arial" pitchFamily="34" charset="0"/>
              </a:rPr>
              <a:t>Integrity Constraints</a:t>
            </a:r>
            <a:endParaRPr lang="en-IN" sz="2000" dirty="0">
              <a:latin typeface="Arial" panose="020B0604020202020204" pitchFamily="34" charset="0"/>
              <a:cs typeface="Arial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Domain Constraints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Entity Integrity Constraints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Referential Integrity Constraints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Key Constraints</a:t>
            </a:r>
            <a:endParaRPr lang="en-IN" sz="2000" dirty="0"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0" y="404664"/>
            <a:ext cx="914400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Keys and Integrity </a:t>
            </a:r>
            <a:r>
              <a:rPr lang="en-US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Constraints</a:t>
            </a:r>
            <a:r>
              <a:rPr lang="en-IN" sz="2200" b="1" dirty="0" smtClean="0">
                <a:latin typeface="Arial" panose="020B0604020202020204" pitchFamily="34" charset="0"/>
                <a:cs typeface="Arial" pitchFamily="34" charset="0"/>
              </a:rPr>
              <a:t/>
            </a:r>
            <a:br>
              <a:rPr lang="en-IN" sz="2200" b="1" dirty="0" smtClean="0"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6338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Keys in DBMS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682" y="980728"/>
            <a:ext cx="9131374" cy="1881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Ensure that a table record can be uniquely identified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Allows to establish a relationship between tables and identify the relation between tables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Help to enforce identity and integrity in the relationship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2924944"/>
            <a:ext cx="4896544" cy="2808312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3570" y="2904134"/>
            <a:ext cx="3690918" cy="2973138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-12626" y="5877272"/>
            <a:ext cx="914400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Keys in DBMS: </a:t>
            </a:r>
          </a:p>
        </p:txBody>
      </p:sp>
      <p:pic>
        <p:nvPicPr>
          <p:cNvPr id="18" name="Picture 17">
            <a:hlinkClick r:id="rId4"/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744" y="5877272"/>
            <a:ext cx="576064" cy="491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772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Keys in DBMS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682" y="980728"/>
            <a:ext cx="9131374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Super Key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Every key in a table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An attribute or a set of attributes that can be used to identify rows in a table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May have additional attributes that are not needed for unique identification                                                               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                                                         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Super Keys       </a:t>
            </a:r>
            <a:endParaRPr lang="en-IN" sz="2000" b="1" dirty="0"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2" y="2941660"/>
            <a:ext cx="3972123" cy="2215532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6464" y="3519661"/>
            <a:ext cx="4860032" cy="113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699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Keys in DBMS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682" y="980728"/>
            <a:ext cx="9131374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Candidate Key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Set of attributes that uniquely identify tuples in a table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 super key with no repeated attributes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Minimal subset of super key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If any proper subset of a super key is a super key then that key cannot be a candidate key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Candidate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Keys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829" y="3805756"/>
            <a:ext cx="3972123" cy="2215532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5230" y="4437112"/>
            <a:ext cx="4667250" cy="144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429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Keys in DBMS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682" y="980728"/>
            <a:ext cx="9131374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Properties of Candidate Key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It must contain unique values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Candidate key may have multiple attributes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Must not contain null values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It should contain minimum fields to ensure uniqueness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Uniquely identify each record in a table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7866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Keys in DBMS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682" y="980728"/>
            <a:ext cx="9131374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Primary Key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An attribute or a set of attributes in a table that uniquely identify every row in that table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Can't be a duplicate meaning the same value can't appear more than once in the table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A table cannot have more than one primary key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                                                           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Primary Key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829" y="3861048"/>
            <a:ext cx="3972123" cy="2215532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5868" y="4437112"/>
            <a:ext cx="4800628" cy="1544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433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Keys in DBMS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682" y="980728"/>
            <a:ext cx="9131374" cy="2805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latin typeface="Arial" panose="020B0604020202020204" pitchFamily="34" charset="0"/>
                <a:cs typeface="Arial" pitchFamily="34" charset="0"/>
              </a:rPr>
              <a:t>Rules for defining Primary Key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Two rows can't have the same primary key value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It is must for every row to have a primary key value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primary key field cannot be null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value in a primary key column can never be modified or updated if any foreign key refers to that primary key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1293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Keys in DBMS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682" y="980728"/>
            <a:ext cx="9131374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Alternate Key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An attribute or a set of attributes in a table that uniquely identify every row in that table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A table can have multiple choices for a primary key but only one can be set as the primary key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All the keys which are not primary key are called an Alternate Key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                                                         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Alternate Key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21" y="3805756"/>
            <a:ext cx="3972123" cy="2215532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8432" y="4380706"/>
            <a:ext cx="4876056" cy="135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564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Keys in DBMS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682" y="980728"/>
            <a:ext cx="9131374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Foreign Key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An attribute that creates a relationship between two tables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Maintain data integrity and allow navigation between two different instances of an entity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Acts as a cross-reference between two tables as it references the primary key of another table </a:t>
            </a:r>
          </a:p>
          <a:p>
            <a:pPr algn="just">
              <a:lnSpc>
                <a:spcPct val="150000"/>
              </a:lnSpc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Foreign key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 BRANCH_CODE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7944" y="3501008"/>
            <a:ext cx="5058054" cy="2878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789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Keys in DBMS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682" y="980728"/>
            <a:ext cx="9131374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Composite Key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Combination of two or more attributes that uniquely identify rows in a table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combination of attributes guarantees uniqueness, though individually uniqueness is not guaranteed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Hence, they are combined to uniquely identify records in a table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E.g., (SID,REG_ID),(REG_ID,EMAIL),(EMAIL,SID),(SID,REG_ID,EMAIL) etc… all are composite keys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5938" y="4365104"/>
            <a:ext cx="3972123" cy="1944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79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Keys in DBMS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682" y="980728"/>
            <a:ext cx="9131374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Compound Key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Two or more attributes that allows to uniquely recognize a specific record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Each attribute may not be unique by itself within the database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However, when combined with the other attribute or attributes the combination of composite keys become unique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E.g., (REG_ID,BRANCH_CODE) is a compound key because branch attribute is a foreign key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934" y="4365104"/>
            <a:ext cx="3972123" cy="177581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8024" y="4437112"/>
            <a:ext cx="4028672" cy="18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928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Keys in DBMS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682" y="980728"/>
            <a:ext cx="9131374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Surrogate Key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If a relation has no attribute which can be used to identify the data stored in it, then we create an attribute for this purpose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Adds no meaning to the data but serves the sole purpose of identifying rows uniquely in a table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Created when there is no natural primary key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Do not lend any meaning to the data in the table and is usually an integer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Value generated right before the record is inserted into a table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2914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Keys in DBMS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682" y="980728"/>
            <a:ext cx="913137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Surrogate Key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Allowed when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No property has the parameter of the primary key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 the table when the primary key is too big or complicated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598" y="2924944"/>
            <a:ext cx="7162800" cy="331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913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Integrity Constraints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682" y="980728"/>
            <a:ext cx="9131374" cy="4651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itchFamily="34" charset="0"/>
              </a:rPr>
              <a:t>Set of rules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>
                <a:latin typeface="Arial" panose="020B0604020202020204" pitchFamily="34" charset="0"/>
                <a:cs typeface="Arial" pitchFamily="34" charset="0"/>
              </a:rPr>
              <a:t>Used to maintain the quality of information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 err="1">
                <a:latin typeface="Arial" panose="020B0604020202020204" pitchFamily="34" charset="0"/>
                <a:cs typeface="Arial" pitchFamily="34" charset="0"/>
              </a:rPr>
              <a:t>DataBase</a:t>
            </a: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 is not permitted to violate</a:t>
            </a:r>
            <a:endParaRPr lang="en-IN" sz="2000" dirty="0">
              <a:latin typeface="Arial" panose="020B0604020202020204" pitchFamily="34" charset="0"/>
              <a:cs typeface="Arial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Ensure that inserting data, updating data and other processes have to be performed in such a way that data integrity is not affected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Used to guard against accidental damage to the database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Used to ensure accuracy and consistency of the data in a relational database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Every relation has some constraints (condition) to make a relation valid is known as relational integrity constraints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-12626" y="5661248"/>
            <a:ext cx="914400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Integrity Constraints: </a:t>
            </a:r>
          </a:p>
        </p:txBody>
      </p:sp>
      <p:pic>
        <p:nvPicPr>
          <p:cNvPr id="13" name="Picture 12">
            <a:hlinkClick r:id="rId2"/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9832" y="5601457"/>
            <a:ext cx="576064" cy="491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978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Integrity Constraints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682" y="980728"/>
            <a:ext cx="9131374" cy="23436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latin typeface="Arial" panose="020B0604020202020204" pitchFamily="34" charset="0"/>
                <a:cs typeface="Arial" pitchFamily="34" charset="0"/>
              </a:rPr>
              <a:t>Types of Integrity Constraints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Domain Constraints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Entity Integrity Constraints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Referential Integrity Constraints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Key Constraints</a:t>
            </a:r>
            <a:endParaRPr lang="en-IN" sz="2000" dirty="0"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17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0128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Domain Constraints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682" y="980728"/>
            <a:ext cx="9131374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Definition of a valid set of values for an attribute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Defines data type, length or size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Data type of domain constraints include string, character, integer, time, date, currency, etc…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Value of the attribute must be available in the corresponding domain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E.g., If there is a column (attribute) of integer values then alphabet cannot be placed in it, since the attribute had only integer values as its </a:t>
            </a:r>
            <a:r>
              <a:rPr lang="en-US" sz="2000" dirty="0" smtClean="0">
                <a:latin typeface="Arial" panose="020B0604020202020204" pitchFamily="34" charset="0"/>
                <a:cs typeface="Arial" pitchFamily="34" charset="0"/>
              </a:rPr>
              <a:t>domain</a:t>
            </a:r>
            <a:endParaRPr lang="en-US" sz="2000" b="1" dirty="0"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760" y="4293096"/>
            <a:ext cx="4598640" cy="2016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26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Domain Constraints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682" y="980728"/>
            <a:ext cx="9131374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Every attribute is bound to have specific range and/or specific values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E.g., Age cannot be 0 or less, Name cannot be in integer format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 smtClean="0">
              <a:latin typeface="Arial" panose="020B0604020202020204" pitchFamily="34" charset="0"/>
              <a:cs typeface="Arial" pitchFamily="34" charset="0"/>
            </a:endParaRPr>
          </a:p>
          <a:p>
            <a:pPr algn="just">
              <a:lnSpc>
                <a:spcPct val="150000"/>
              </a:lnSpc>
            </a:pPr>
            <a:endParaRPr lang="en-US" sz="2000" dirty="0">
              <a:latin typeface="Arial" panose="020B0604020202020204" pitchFamily="34" charset="0"/>
              <a:cs typeface="Arial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Null value is allowed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The value is unique or not for an attribute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7569" y="1988840"/>
            <a:ext cx="4268862" cy="2232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21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Domain Constraints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682" y="980728"/>
            <a:ext cx="9131374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E.g., CREATE TABLE persons(ID </a:t>
            </a:r>
            <a:r>
              <a:rPr lang="en-US" sz="2000" dirty="0" err="1">
                <a:latin typeface="Arial" panose="020B0604020202020204" pitchFamily="34" charset="0"/>
                <a:cs typeface="Arial" pitchFamily="34" charset="0"/>
              </a:rPr>
              <a:t>int</a:t>
            </a: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 NOT NULL, Name varchar(255) NOT NULL, Age </a:t>
            </a:r>
            <a:r>
              <a:rPr lang="en-US" sz="2000" dirty="0" err="1">
                <a:latin typeface="Arial" panose="020B0604020202020204" pitchFamily="34" charset="0"/>
                <a:cs typeface="Arial" pitchFamily="34" charset="0"/>
              </a:rPr>
              <a:t>int</a:t>
            </a: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, CHECK (Age&gt;=18));</a:t>
            </a:r>
          </a:p>
          <a:p>
            <a:pPr algn="just">
              <a:lnSpc>
                <a:spcPct val="150000"/>
              </a:lnSpc>
            </a:pPr>
            <a:r>
              <a:rPr lang="en-US" altLang="en-US" sz="2000" b="1" dirty="0">
                <a:solidFill>
                  <a:srgbClr val="C00000"/>
                </a:solidFill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Output</a:t>
            </a:r>
          </a:p>
          <a:p>
            <a:pPr algn="just">
              <a:lnSpc>
                <a:spcPct val="150000"/>
              </a:lnSpc>
            </a:pPr>
            <a:endParaRPr lang="en-US" altLang="en-US" sz="2000" b="1" dirty="0">
              <a:solidFill>
                <a:srgbClr val="C00000"/>
              </a:solidFill>
              <a:latin typeface="Arial" pitchFamily="34" charset="0"/>
              <a:ea typeface="Cambria" panose="02040503050406030204" pitchFamily="18" charset="0"/>
              <a:cs typeface="Arial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DESC persons;</a:t>
            </a:r>
          </a:p>
          <a:p>
            <a:pPr algn="just">
              <a:lnSpc>
                <a:spcPct val="150000"/>
              </a:lnSpc>
            </a:pPr>
            <a:endParaRPr lang="en-US" altLang="en-US" sz="2000" dirty="0">
              <a:latin typeface="Arial" pitchFamily="34" charset="0"/>
              <a:ea typeface="Cambria" panose="02040503050406030204" pitchFamily="18" charset="0"/>
              <a:cs typeface="Arial" pitchFamily="34" charset="0"/>
            </a:endParaRPr>
          </a:p>
          <a:p>
            <a:pPr algn="just">
              <a:lnSpc>
                <a:spcPct val="150000"/>
              </a:lnSpc>
            </a:pPr>
            <a:endParaRPr lang="en-US" altLang="en-US" sz="2000" dirty="0">
              <a:latin typeface="Arial" pitchFamily="34" charset="0"/>
              <a:ea typeface="Cambria" panose="02040503050406030204" pitchFamily="18" charset="0"/>
              <a:cs typeface="Arial" pitchFamily="34" charset="0"/>
            </a:endParaRPr>
          </a:p>
          <a:p>
            <a:pPr algn="just">
              <a:lnSpc>
                <a:spcPct val="150000"/>
              </a:lnSpc>
            </a:pPr>
            <a:endParaRPr lang="en-US" altLang="en-US" sz="2000" dirty="0">
              <a:latin typeface="Arial" pitchFamily="34" charset="0"/>
              <a:ea typeface="Cambria" panose="02040503050406030204" pitchFamily="18" charset="0"/>
              <a:cs typeface="Arial" pitchFamily="34" charset="0"/>
            </a:endParaRPr>
          </a:p>
          <a:p>
            <a:pPr algn="just">
              <a:lnSpc>
                <a:spcPct val="150000"/>
              </a:lnSpc>
            </a:pPr>
            <a:endParaRPr lang="en-US" altLang="en-US" sz="2000" dirty="0">
              <a:latin typeface="Arial" pitchFamily="34" charset="0"/>
              <a:ea typeface="Cambria" panose="02040503050406030204" pitchFamily="18" charset="0"/>
              <a:cs typeface="Arial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INSERT INTO persons VALUES('1','','26');</a:t>
            </a:r>
          </a:p>
          <a:p>
            <a:pPr algn="just">
              <a:lnSpc>
                <a:spcPct val="150000"/>
              </a:lnSpc>
            </a:pPr>
            <a:endParaRPr lang="en-US" sz="2000" dirty="0"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Graphic 12">
            <a:hlinkClick r:id="rId2"/>
            <a:extLst>
              <a:ext uri="{FF2B5EF4-FFF2-40B4-BE49-F238E27FC236}">
                <a16:creationId xmlns:a16="http://schemas.microsoft.com/office/drawing/2014/main" id="{1F81FEBD-C3E0-4138-BA5A-EAC87CCD7C8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  <a:ext uri="{837473B0-CC2E-450A-ABE3-18F120FF3D39}">
                <a1611:picAttrSrcUrl xmlns:a1611="http://schemas.microsoft.com/office/drawing/2016/11/main" xmlns="" r:id="rId6"/>
              </a:ext>
            </a:extLst>
          </a:blip>
          <a:stretch>
            <a:fillRect/>
          </a:stretch>
        </p:blipFill>
        <p:spPr>
          <a:xfrm>
            <a:off x="1331640" y="1844824"/>
            <a:ext cx="504056" cy="599602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759" y="2420888"/>
            <a:ext cx="1277889" cy="425963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440" y="3356992"/>
            <a:ext cx="2525344" cy="1787854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541" y="5589240"/>
            <a:ext cx="7838827" cy="351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527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Domain Constraints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682" y="980728"/>
            <a:ext cx="9131374" cy="3266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INSERT INTO persons VALUES('1','Sindhu','26');</a:t>
            </a:r>
          </a:p>
          <a:p>
            <a:pPr algn="just">
              <a:lnSpc>
                <a:spcPct val="150000"/>
              </a:lnSpc>
            </a:pPr>
            <a:endParaRPr lang="en-US" altLang="en-US" sz="2000" dirty="0">
              <a:latin typeface="Arial" pitchFamily="34" charset="0"/>
              <a:ea typeface="Cambria" panose="02040503050406030204" pitchFamily="18" charset="0"/>
              <a:cs typeface="Arial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INSERT INTO persons VALUES('2','Karthi','18');</a:t>
            </a:r>
          </a:p>
          <a:p>
            <a:pPr algn="just">
              <a:lnSpc>
                <a:spcPct val="150000"/>
              </a:lnSpc>
            </a:pPr>
            <a:endParaRPr lang="en-US" altLang="en-US" sz="2000" dirty="0">
              <a:latin typeface="Arial" pitchFamily="34" charset="0"/>
              <a:ea typeface="Cambria" panose="02040503050406030204" pitchFamily="18" charset="0"/>
              <a:cs typeface="Arial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INSERT INTO persons VALUES('3','Sandhya','15');</a:t>
            </a:r>
          </a:p>
          <a:p>
            <a:pPr algn="just">
              <a:lnSpc>
                <a:spcPct val="150000"/>
              </a:lnSpc>
            </a:pPr>
            <a:endParaRPr lang="en-US" sz="2000" dirty="0">
              <a:latin typeface="Arial" panose="020B0604020202020204" pitchFamily="34" charset="0"/>
              <a:cs typeface="Arial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SELECT * FROM persons;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21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90" y="1556792"/>
            <a:ext cx="1512367" cy="39996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90" y="2420888"/>
            <a:ext cx="1512367" cy="39996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19" y="3387839"/>
            <a:ext cx="7833997" cy="401201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90" y="4221088"/>
            <a:ext cx="1971530" cy="1649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893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Entity Integrity Constraints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682" y="980728"/>
            <a:ext cx="9131374" cy="3266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States that primary key value cannot be null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Because the primary key value is used to identify individual rows in relation and if the primary key has a null value, then those rows cannot be identified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Table can contain a null value other than the primary key field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Null value is different from zero value or space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Entity integrity constraints assure that a specific row in a table can be identified</a:t>
            </a:r>
            <a:endParaRPr lang="en-IN" sz="2000" dirty="0"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4302491"/>
            <a:ext cx="4032448" cy="1646789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6016" y="4102571"/>
            <a:ext cx="4248472" cy="199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042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Entity Integrity Constraints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682" y="980728"/>
            <a:ext cx="9131374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E.g., CREATE TABLE persons(ID </a:t>
            </a:r>
            <a:r>
              <a:rPr lang="en-US" sz="2000" dirty="0" err="1">
                <a:latin typeface="Arial" panose="020B0604020202020204" pitchFamily="34" charset="0"/>
                <a:cs typeface="Arial" pitchFamily="34" charset="0"/>
              </a:rPr>
              <a:t>int</a:t>
            </a: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 PRIMARY KEY, </a:t>
            </a:r>
            <a:r>
              <a:rPr lang="en-US" sz="2000" dirty="0" err="1">
                <a:latin typeface="Arial" panose="020B0604020202020204" pitchFamily="34" charset="0"/>
                <a:cs typeface="Arial" pitchFamily="34" charset="0"/>
              </a:rPr>
              <a:t>LastName</a:t>
            </a: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 varchar(255) NOT NULL, </a:t>
            </a:r>
            <a:r>
              <a:rPr lang="en-US" sz="2000" dirty="0" err="1">
                <a:latin typeface="Arial" panose="020B0604020202020204" pitchFamily="34" charset="0"/>
                <a:cs typeface="Arial" pitchFamily="34" charset="0"/>
              </a:rPr>
              <a:t>FirstName</a:t>
            </a: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 varchar(255),Age </a:t>
            </a:r>
            <a:r>
              <a:rPr lang="en-US" sz="2000" dirty="0" err="1">
                <a:latin typeface="Arial" panose="020B0604020202020204" pitchFamily="34" charset="0"/>
                <a:cs typeface="Arial" pitchFamily="34" charset="0"/>
              </a:rPr>
              <a:t>int</a:t>
            </a: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);</a:t>
            </a:r>
          </a:p>
          <a:p>
            <a:pPr algn="just">
              <a:lnSpc>
                <a:spcPct val="150000"/>
              </a:lnSpc>
            </a:pPr>
            <a:r>
              <a:rPr lang="en-US" altLang="en-US" sz="2000" b="1" dirty="0">
                <a:solidFill>
                  <a:srgbClr val="C00000"/>
                </a:solidFill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Output</a:t>
            </a:r>
          </a:p>
          <a:p>
            <a:pPr algn="just">
              <a:lnSpc>
                <a:spcPct val="150000"/>
              </a:lnSpc>
            </a:pPr>
            <a:endParaRPr lang="en-US" altLang="en-US" sz="2000" b="1" dirty="0">
              <a:solidFill>
                <a:srgbClr val="C00000"/>
              </a:solidFill>
              <a:latin typeface="Arial" pitchFamily="34" charset="0"/>
              <a:ea typeface="Cambria" panose="02040503050406030204" pitchFamily="18" charset="0"/>
              <a:cs typeface="Arial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INSERT INTO persons VALUES('1','ranjith','sindhu','26');</a:t>
            </a:r>
          </a:p>
          <a:p>
            <a:pPr algn="just">
              <a:lnSpc>
                <a:spcPct val="150000"/>
              </a:lnSpc>
            </a:pPr>
            <a:endParaRPr lang="en-US" altLang="en-US" sz="2000" b="1" dirty="0">
              <a:solidFill>
                <a:srgbClr val="C00000"/>
              </a:solidFill>
              <a:latin typeface="Arial" pitchFamily="34" charset="0"/>
              <a:ea typeface="Cambria" panose="02040503050406030204" pitchFamily="18" charset="0"/>
              <a:cs typeface="Arial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INSERT INTO persons VALUES('1','karthi','sindhu','28');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Graphic 12">
            <a:hlinkClick r:id="rId2"/>
            <a:extLst>
              <a:ext uri="{FF2B5EF4-FFF2-40B4-BE49-F238E27FC236}">
                <a16:creationId xmlns:a16="http://schemas.microsoft.com/office/drawing/2014/main" id="{1F81FEBD-C3E0-4138-BA5A-EAC87CCD7C8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  <a:ext uri="{837473B0-CC2E-450A-ABE3-18F120FF3D39}">
                <a1611:picAttrSrcUrl xmlns:a1611="http://schemas.microsoft.com/office/drawing/2016/11/main" xmlns="" r:id="rId6"/>
              </a:ext>
            </a:extLst>
          </a:blip>
          <a:stretch>
            <a:fillRect/>
          </a:stretch>
        </p:blipFill>
        <p:spPr>
          <a:xfrm>
            <a:off x="1331640" y="1844824"/>
            <a:ext cx="504056" cy="599602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751" y="2420888"/>
            <a:ext cx="1277889" cy="425963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106" y="3335257"/>
            <a:ext cx="1688916" cy="453783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504" y="4221088"/>
            <a:ext cx="7315200" cy="429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263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Entity Integrity Constraints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682" y="980728"/>
            <a:ext cx="9131374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E.g., CREATE TABLE persons(ID </a:t>
            </a:r>
            <a:r>
              <a:rPr lang="en-US" sz="2000" dirty="0" err="1">
                <a:latin typeface="Arial" panose="020B0604020202020204" pitchFamily="34" charset="0"/>
                <a:cs typeface="Arial" pitchFamily="34" charset="0"/>
              </a:rPr>
              <a:t>int</a:t>
            </a: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 NOT NULL, </a:t>
            </a:r>
            <a:r>
              <a:rPr lang="en-US" sz="2000" dirty="0" err="1">
                <a:latin typeface="Arial" panose="020B0604020202020204" pitchFamily="34" charset="0"/>
                <a:cs typeface="Arial" pitchFamily="34" charset="0"/>
              </a:rPr>
              <a:t>LastName</a:t>
            </a: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 varchar(255) NOT NULL, </a:t>
            </a:r>
            <a:r>
              <a:rPr lang="en-US" sz="2000" dirty="0" err="1">
                <a:latin typeface="Arial" panose="020B0604020202020204" pitchFamily="34" charset="0"/>
                <a:cs typeface="Arial" pitchFamily="34" charset="0"/>
              </a:rPr>
              <a:t>FirstName</a:t>
            </a: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 varchar(255),Age </a:t>
            </a:r>
            <a:r>
              <a:rPr lang="en-US" sz="2000" dirty="0" err="1">
                <a:latin typeface="Arial" panose="020B0604020202020204" pitchFamily="34" charset="0"/>
                <a:cs typeface="Arial" pitchFamily="34" charset="0"/>
              </a:rPr>
              <a:t>int,CONSTRAINT</a:t>
            </a: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itchFamily="34" charset="0"/>
              </a:rPr>
              <a:t>PK_person</a:t>
            </a: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 PRIMARY KEY(</a:t>
            </a:r>
            <a:r>
              <a:rPr lang="en-US" sz="2000" dirty="0" err="1">
                <a:latin typeface="Arial" panose="020B0604020202020204" pitchFamily="34" charset="0"/>
                <a:cs typeface="Arial" pitchFamily="34" charset="0"/>
              </a:rPr>
              <a:t>ID,LastName</a:t>
            </a: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));</a:t>
            </a:r>
          </a:p>
          <a:p>
            <a:pPr algn="just">
              <a:lnSpc>
                <a:spcPct val="150000"/>
              </a:lnSpc>
            </a:pPr>
            <a:r>
              <a:rPr lang="en-US" altLang="en-US" sz="2000" b="1" dirty="0">
                <a:solidFill>
                  <a:srgbClr val="C00000"/>
                </a:solidFill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Output</a:t>
            </a:r>
          </a:p>
          <a:p>
            <a:pPr algn="just">
              <a:lnSpc>
                <a:spcPct val="150000"/>
              </a:lnSpc>
            </a:pPr>
            <a:endParaRPr lang="en-US" altLang="en-US" sz="2000" b="1" dirty="0">
              <a:solidFill>
                <a:srgbClr val="C00000"/>
              </a:solidFill>
              <a:latin typeface="Arial" pitchFamily="34" charset="0"/>
              <a:ea typeface="Cambria" panose="02040503050406030204" pitchFamily="18" charset="0"/>
              <a:cs typeface="Arial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INSERT INTO persons VALUES('1','ranjith','sindhu','26');</a:t>
            </a:r>
          </a:p>
          <a:p>
            <a:pPr algn="just">
              <a:lnSpc>
                <a:spcPct val="150000"/>
              </a:lnSpc>
            </a:pPr>
            <a:endParaRPr lang="en-US" altLang="en-US" sz="2000" dirty="0">
              <a:latin typeface="Arial" pitchFamily="34" charset="0"/>
              <a:ea typeface="Cambria" panose="02040503050406030204" pitchFamily="18" charset="0"/>
              <a:cs typeface="Arial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INSERT INTO persons VALUES(‘2','ranjith','karthi','30');</a:t>
            </a:r>
          </a:p>
          <a:p>
            <a:pPr algn="just">
              <a:lnSpc>
                <a:spcPct val="150000"/>
              </a:lnSpc>
            </a:pPr>
            <a:endParaRPr lang="en-US" altLang="en-US" sz="2000" dirty="0">
              <a:latin typeface="Arial" pitchFamily="34" charset="0"/>
              <a:ea typeface="Cambria" panose="02040503050406030204" pitchFamily="18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24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Graphic 12">
            <a:hlinkClick r:id="rId2"/>
            <a:extLst>
              <a:ext uri="{FF2B5EF4-FFF2-40B4-BE49-F238E27FC236}">
                <a16:creationId xmlns:a16="http://schemas.microsoft.com/office/drawing/2014/main" id="{1F81FEBD-C3E0-4138-BA5A-EAC87CCD7C8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  <a:ext uri="{837473B0-CC2E-450A-ABE3-18F120FF3D39}">
                <a1611:picAttrSrcUrl xmlns:a1611="http://schemas.microsoft.com/office/drawing/2016/11/main" xmlns="" r:id="rId6"/>
              </a:ext>
            </a:extLst>
          </a:blip>
          <a:stretch>
            <a:fillRect/>
          </a:stretch>
        </p:blipFill>
        <p:spPr>
          <a:xfrm>
            <a:off x="1331640" y="2348880"/>
            <a:ext cx="504056" cy="599602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069" y="2924944"/>
            <a:ext cx="1277889" cy="425963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069" y="3789040"/>
            <a:ext cx="1688916" cy="453783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716" y="4653136"/>
            <a:ext cx="7605627" cy="529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982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Referential Integrity Constraints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682" y="980728"/>
            <a:ext cx="9131374" cy="2805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Specified between two tables and is used to maintain the consistency among rows between the two tables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Implemented through foreign key, which is a key attribute of a relation that can be referred in other relation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Foreign key is a field (or collection of fields) in one table that refers to the primary key in another </a:t>
            </a:r>
            <a:r>
              <a:rPr lang="en-US" sz="2000" dirty="0" smtClean="0">
                <a:latin typeface="Arial" panose="020B0604020202020204" pitchFamily="34" charset="0"/>
                <a:cs typeface="Arial" pitchFamily="34" charset="0"/>
              </a:rPr>
              <a:t>table</a:t>
            </a:r>
            <a:endParaRPr lang="en-US" sz="2000" dirty="0"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25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3861048"/>
            <a:ext cx="3672408" cy="176066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9434" y="3382491"/>
            <a:ext cx="4922022" cy="2638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840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Referential Integrity Constraints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682" y="980728"/>
            <a:ext cx="9131374" cy="4190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latin typeface="Arial" panose="020B0604020202020204" pitchFamily="34" charset="0"/>
                <a:cs typeface="Arial" pitchFamily="34" charset="0"/>
              </a:rPr>
              <a:t>Rules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A record cannot be deleted from a primary table if matching records exist in a related table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A primary key value cannot be changed in the primary table if that record has related records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A value cannot be entered in the foreign key field of the related table that doesn’t exist in the primary key of the primary table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A null value can be entered in the foreign key, specifying that the records are unrelated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26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1590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Referential Integrity Constraints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682" y="980728"/>
            <a:ext cx="9131374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E.g., CREATE TABLE department(</a:t>
            </a:r>
            <a:r>
              <a:rPr lang="en-US" sz="2000" dirty="0" err="1">
                <a:latin typeface="Arial" panose="020B0604020202020204" pitchFamily="34" charset="0"/>
                <a:cs typeface="Arial" pitchFamily="34" charset="0"/>
              </a:rPr>
              <a:t>Dept_id</a:t>
            </a: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itchFamily="34" charset="0"/>
              </a:rPr>
              <a:t>int</a:t>
            </a: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 NOT </a:t>
            </a:r>
            <a:r>
              <a:rPr lang="en-US" sz="2000" dirty="0" err="1">
                <a:latin typeface="Arial" panose="020B0604020202020204" pitchFamily="34" charset="0"/>
                <a:cs typeface="Arial" pitchFamily="34" charset="0"/>
              </a:rPr>
              <a:t>NULL,Dept_Name</a:t>
            </a: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 varchar(255),PRIMARY KEY (</a:t>
            </a:r>
            <a:r>
              <a:rPr lang="en-US" sz="2000" dirty="0" err="1">
                <a:latin typeface="Arial" panose="020B0604020202020204" pitchFamily="34" charset="0"/>
                <a:cs typeface="Arial" pitchFamily="34" charset="0"/>
              </a:rPr>
              <a:t>Dept_id</a:t>
            </a: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));</a:t>
            </a:r>
          </a:p>
          <a:p>
            <a:pPr algn="just">
              <a:lnSpc>
                <a:spcPct val="150000"/>
              </a:lnSpc>
            </a:pPr>
            <a:r>
              <a:rPr lang="en-US" altLang="en-US" sz="2000" b="1" dirty="0">
                <a:solidFill>
                  <a:srgbClr val="C00000"/>
                </a:solidFill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Output</a:t>
            </a:r>
          </a:p>
          <a:p>
            <a:pPr algn="just">
              <a:lnSpc>
                <a:spcPct val="150000"/>
              </a:lnSpc>
            </a:pPr>
            <a:endParaRPr lang="en-US" sz="2000" dirty="0">
              <a:latin typeface="Arial" panose="020B0604020202020204" pitchFamily="34" charset="0"/>
              <a:cs typeface="Arial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DESC department;</a:t>
            </a:r>
          </a:p>
          <a:p>
            <a:pPr algn="just">
              <a:lnSpc>
                <a:spcPct val="150000"/>
              </a:lnSpc>
            </a:pPr>
            <a:endParaRPr lang="en-US" sz="2000" dirty="0">
              <a:latin typeface="Arial" panose="020B0604020202020204" pitchFamily="34" charset="0"/>
              <a:cs typeface="Arial" pitchFamily="34" charset="0"/>
            </a:endParaRPr>
          </a:p>
          <a:p>
            <a:pPr algn="just">
              <a:lnSpc>
                <a:spcPct val="150000"/>
              </a:lnSpc>
            </a:pPr>
            <a:endParaRPr lang="en-US" sz="2000" dirty="0">
              <a:latin typeface="Arial" panose="020B0604020202020204" pitchFamily="34" charset="0"/>
              <a:cs typeface="Arial" pitchFamily="34" charset="0"/>
            </a:endParaRPr>
          </a:p>
          <a:p>
            <a:pPr algn="just">
              <a:lnSpc>
                <a:spcPct val="150000"/>
              </a:lnSpc>
            </a:pPr>
            <a:endParaRPr lang="en-US" sz="2000" dirty="0">
              <a:latin typeface="Arial" panose="020B0604020202020204" pitchFamily="34" charset="0"/>
              <a:cs typeface="Arial" pitchFamily="34" charset="0"/>
            </a:endParaRPr>
          </a:p>
          <a:p>
            <a:pPr algn="just">
              <a:lnSpc>
                <a:spcPct val="150000"/>
              </a:lnSpc>
            </a:pPr>
            <a:endParaRPr lang="en-US" sz="2000" dirty="0" smtClean="0">
              <a:latin typeface="Arial" panose="020B0604020202020204" pitchFamily="34" charset="0"/>
              <a:cs typeface="Arial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Arial" panose="020B0604020202020204" pitchFamily="34" charset="0"/>
                <a:cs typeface="Arial" pitchFamily="34" charset="0"/>
              </a:rPr>
              <a:t>INSERT </a:t>
            </a: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INTO department VALUES('1','CSE</a:t>
            </a:r>
            <a:r>
              <a:rPr lang="en-US" sz="2000" dirty="0" smtClean="0">
                <a:latin typeface="Arial" panose="020B0604020202020204" pitchFamily="34" charset="0"/>
                <a:cs typeface="Arial" pitchFamily="34" charset="0"/>
              </a:rPr>
              <a:t>');</a:t>
            </a:r>
            <a:endParaRPr lang="en-US" sz="2000" dirty="0"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27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Graphic 12">
            <a:hlinkClick r:id="rId2"/>
            <a:extLst>
              <a:ext uri="{FF2B5EF4-FFF2-40B4-BE49-F238E27FC236}">
                <a16:creationId xmlns:a16="http://schemas.microsoft.com/office/drawing/2014/main" id="{1F81FEBD-C3E0-4138-BA5A-EAC87CCD7C8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  <a:ext uri="{837473B0-CC2E-450A-ABE3-18F120FF3D39}">
                <a1611:picAttrSrcUrl xmlns:a1611="http://schemas.microsoft.com/office/drawing/2016/11/main" xmlns="" r:id="rId6"/>
              </a:ext>
            </a:extLst>
          </a:blip>
          <a:stretch>
            <a:fillRect/>
          </a:stretch>
        </p:blipFill>
        <p:spPr>
          <a:xfrm>
            <a:off x="1331640" y="1844824"/>
            <a:ext cx="504056" cy="59960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069" y="2420888"/>
            <a:ext cx="1277889" cy="425963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309" y="3284984"/>
            <a:ext cx="2841507" cy="1924338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772" y="5567505"/>
            <a:ext cx="1688916" cy="453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945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Referential Integrity Constraints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682" y="980728"/>
            <a:ext cx="9131374" cy="51136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INSERT INTO department VALUES('','ECE');</a:t>
            </a:r>
          </a:p>
          <a:p>
            <a:pPr algn="just">
              <a:lnSpc>
                <a:spcPct val="150000"/>
              </a:lnSpc>
            </a:pPr>
            <a:endParaRPr lang="en-US" sz="2000" dirty="0">
              <a:latin typeface="Arial" panose="020B0604020202020204" pitchFamily="34" charset="0"/>
              <a:cs typeface="Arial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INSERT INTO department VALUES('2','ECE');</a:t>
            </a:r>
          </a:p>
          <a:p>
            <a:pPr algn="just">
              <a:lnSpc>
                <a:spcPct val="150000"/>
              </a:lnSpc>
            </a:pPr>
            <a:endParaRPr lang="en-US" sz="2000" dirty="0">
              <a:latin typeface="Arial" panose="020B0604020202020204" pitchFamily="34" charset="0"/>
              <a:cs typeface="Arial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SELECT * FROM department;</a:t>
            </a:r>
          </a:p>
          <a:p>
            <a:pPr algn="just">
              <a:lnSpc>
                <a:spcPct val="150000"/>
              </a:lnSpc>
            </a:pPr>
            <a:endParaRPr lang="en-US" sz="2000" dirty="0">
              <a:latin typeface="Arial" panose="020B0604020202020204" pitchFamily="34" charset="0"/>
              <a:cs typeface="Arial" pitchFamily="34" charset="0"/>
            </a:endParaRPr>
          </a:p>
          <a:p>
            <a:pPr algn="just">
              <a:lnSpc>
                <a:spcPct val="150000"/>
              </a:lnSpc>
            </a:pPr>
            <a:endParaRPr lang="en-US" sz="2000" dirty="0">
              <a:latin typeface="Arial" panose="020B0604020202020204" pitchFamily="34" charset="0"/>
              <a:cs typeface="Arial" pitchFamily="34" charset="0"/>
            </a:endParaRPr>
          </a:p>
          <a:p>
            <a:pPr algn="just">
              <a:lnSpc>
                <a:spcPct val="150000"/>
              </a:lnSpc>
            </a:pPr>
            <a:endParaRPr lang="en-US" sz="2000" dirty="0">
              <a:latin typeface="Arial" panose="020B0604020202020204" pitchFamily="34" charset="0"/>
              <a:cs typeface="Arial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CREATE TABLE employee(ID </a:t>
            </a:r>
            <a:r>
              <a:rPr lang="en-US" sz="2000" dirty="0" err="1">
                <a:latin typeface="Arial" panose="020B0604020202020204" pitchFamily="34" charset="0"/>
                <a:cs typeface="Arial" pitchFamily="34" charset="0"/>
              </a:rPr>
              <a:t>int</a:t>
            </a: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 NOT </a:t>
            </a:r>
            <a:r>
              <a:rPr lang="en-US" sz="2000" dirty="0" err="1">
                <a:latin typeface="Arial" panose="020B0604020202020204" pitchFamily="34" charset="0"/>
                <a:cs typeface="Arial" pitchFamily="34" charset="0"/>
              </a:rPr>
              <a:t>NULL,Name</a:t>
            </a: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 varchar(255),</a:t>
            </a:r>
            <a:r>
              <a:rPr lang="en-US" sz="2000" dirty="0" err="1">
                <a:latin typeface="Arial" panose="020B0604020202020204" pitchFamily="34" charset="0"/>
                <a:cs typeface="Arial" pitchFamily="34" charset="0"/>
              </a:rPr>
              <a:t>Dept_id</a:t>
            </a: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itchFamily="34" charset="0"/>
              </a:rPr>
              <a:t>int,PRIMARY</a:t>
            </a: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 KEY(ID),FOREIGN KEY(</a:t>
            </a:r>
            <a:r>
              <a:rPr lang="en-US" sz="2000" dirty="0" err="1">
                <a:latin typeface="Arial" panose="020B0604020202020204" pitchFamily="34" charset="0"/>
                <a:cs typeface="Arial" pitchFamily="34" charset="0"/>
              </a:rPr>
              <a:t>Dept_id</a:t>
            </a: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) REFERENCES department(</a:t>
            </a:r>
            <a:r>
              <a:rPr lang="en-US" sz="2000" dirty="0" err="1">
                <a:latin typeface="Arial" panose="020B0604020202020204" pitchFamily="34" charset="0"/>
                <a:cs typeface="Arial" pitchFamily="34" charset="0"/>
              </a:rPr>
              <a:t>Dept_id</a:t>
            </a: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));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28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77" y="1484784"/>
            <a:ext cx="7970315" cy="46758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9" y="2420888"/>
            <a:ext cx="1688916" cy="453783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67" y="3310597"/>
            <a:ext cx="1692818" cy="1414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855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Referential Integrity Constraints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682" y="980728"/>
            <a:ext cx="9131374" cy="60369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endParaRPr lang="en-US" sz="2000" dirty="0">
              <a:latin typeface="Arial" panose="020B0604020202020204" pitchFamily="34" charset="0"/>
              <a:cs typeface="Arial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DESC employee;</a:t>
            </a:r>
          </a:p>
          <a:p>
            <a:pPr algn="just">
              <a:lnSpc>
                <a:spcPct val="150000"/>
              </a:lnSpc>
            </a:pPr>
            <a:endParaRPr lang="en-US" sz="2000" dirty="0">
              <a:latin typeface="Arial" panose="020B0604020202020204" pitchFamily="34" charset="0"/>
              <a:cs typeface="Arial" pitchFamily="34" charset="0"/>
            </a:endParaRPr>
          </a:p>
          <a:p>
            <a:pPr algn="just">
              <a:lnSpc>
                <a:spcPct val="150000"/>
              </a:lnSpc>
            </a:pPr>
            <a:endParaRPr lang="en-US" sz="2000" dirty="0">
              <a:latin typeface="Arial" panose="020B0604020202020204" pitchFamily="34" charset="0"/>
              <a:cs typeface="Arial" pitchFamily="34" charset="0"/>
            </a:endParaRPr>
          </a:p>
          <a:p>
            <a:pPr algn="just">
              <a:lnSpc>
                <a:spcPct val="150000"/>
              </a:lnSpc>
            </a:pPr>
            <a:endParaRPr lang="en-US" sz="2000" dirty="0">
              <a:latin typeface="Arial" panose="020B0604020202020204" pitchFamily="34" charset="0"/>
              <a:cs typeface="Arial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INSERT INTO employee VALUES('101','Sindhu','1');</a:t>
            </a:r>
          </a:p>
          <a:p>
            <a:pPr algn="just">
              <a:lnSpc>
                <a:spcPct val="150000"/>
              </a:lnSpc>
            </a:pPr>
            <a:endParaRPr lang="en-US" sz="2000" dirty="0">
              <a:latin typeface="Arial" panose="020B0604020202020204" pitchFamily="34" charset="0"/>
              <a:cs typeface="Arial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INSERT INTO employee VALUES('106','Sandhya','2');</a:t>
            </a:r>
          </a:p>
          <a:p>
            <a:pPr algn="just">
              <a:lnSpc>
                <a:spcPct val="150000"/>
              </a:lnSpc>
            </a:pPr>
            <a:endParaRPr lang="en-US" sz="2000" dirty="0">
              <a:latin typeface="Arial" panose="020B0604020202020204" pitchFamily="34" charset="0"/>
              <a:cs typeface="Arial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INSERT INTO employee VALUES('103','Sindhu','5');</a:t>
            </a:r>
          </a:p>
          <a:p>
            <a:pPr algn="just">
              <a:lnSpc>
                <a:spcPct val="150000"/>
              </a:lnSpc>
            </a:pPr>
            <a:endParaRPr lang="en-US" sz="2000" dirty="0">
              <a:latin typeface="Arial" panose="020B0604020202020204" pitchFamily="34" charset="0"/>
              <a:cs typeface="Arial" pitchFamily="34" charset="0"/>
            </a:endParaRPr>
          </a:p>
          <a:p>
            <a:pPr algn="just">
              <a:lnSpc>
                <a:spcPct val="150000"/>
              </a:lnSpc>
            </a:pPr>
            <a:endParaRPr lang="en-US" sz="2000" dirty="0">
              <a:latin typeface="Arial" panose="020B0604020202020204" pitchFamily="34" charset="0"/>
              <a:cs typeface="Arial" pitchFamily="34" charset="0"/>
            </a:endParaRPr>
          </a:p>
          <a:p>
            <a:pPr algn="just">
              <a:lnSpc>
                <a:spcPct val="150000"/>
              </a:lnSpc>
            </a:pPr>
            <a:endParaRPr lang="en-US" sz="2000" dirty="0"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29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71" y="1124744"/>
            <a:ext cx="1277889" cy="42596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11" y="1916832"/>
            <a:ext cx="2430257" cy="1488253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92" y="3789040"/>
            <a:ext cx="1688916" cy="453783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11" y="4725144"/>
            <a:ext cx="1688916" cy="453783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45" y="5644480"/>
            <a:ext cx="8782050" cy="448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690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Referential Integrity Constraints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682" y="980728"/>
            <a:ext cx="9131374" cy="51136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INSERT INTO employee VALUES('101','Ranjith','1');</a:t>
            </a:r>
          </a:p>
          <a:p>
            <a:pPr algn="just">
              <a:lnSpc>
                <a:spcPct val="150000"/>
              </a:lnSpc>
            </a:pPr>
            <a:endParaRPr lang="en-US" sz="2000" dirty="0">
              <a:latin typeface="Arial" panose="020B0604020202020204" pitchFamily="34" charset="0"/>
              <a:cs typeface="Arial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SELECT * FROM employee;</a:t>
            </a:r>
          </a:p>
          <a:p>
            <a:pPr algn="just">
              <a:lnSpc>
                <a:spcPct val="150000"/>
              </a:lnSpc>
            </a:pPr>
            <a:endParaRPr lang="en-US" sz="2000" dirty="0">
              <a:latin typeface="Arial" panose="020B0604020202020204" pitchFamily="34" charset="0"/>
              <a:cs typeface="Arial" pitchFamily="34" charset="0"/>
            </a:endParaRPr>
          </a:p>
          <a:p>
            <a:pPr algn="just">
              <a:lnSpc>
                <a:spcPct val="150000"/>
              </a:lnSpc>
            </a:pPr>
            <a:endParaRPr lang="en-US" sz="2000" dirty="0">
              <a:latin typeface="Arial" panose="020B0604020202020204" pitchFamily="34" charset="0"/>
              <a:cs typeface="Arial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DROP TABLE department;</a:t>
            </a:r>
          </a:p>
          <a:p>
            <a:pPr algn="just">
              <a:lnSpc>
                <a:spcPct val="150000"/>
              </a:lnSpc>
            </a:pPr>
            <a:endParaRPr lang="en-US" sz="2000" dirty="0">
              <a:latin typeface="Arial" panose="020B0604020202020204" pitchFamily="34" charset="0"/>
              <a:cs typeface="Arial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DROP TABLE employee;</a:t>
            </a:r>
          </a:p>
          <a:p>
            <a:pPr algn="just">
              <a:lnSpc>
                <a:spcPct val="150000"/>
              </a:lnSpc>
            </a:pPr>
            <a:endParaRPr lang="en-US" sz="2000" dirty="0">
              <a:latin typeface="Arial" panose="020B0604020202020204" pitchFamily="34" charset="0"/>
              <a:cs typeface="Arial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DROP TABLE department;</a:t>
            </a:r>
          </a:p>
          <a:p>
            <a:pPr algn="just">
              <a:lnSpc>
                <a:spcPct val="150000"/>
              </a:lnSpc>
            </a:pPr>
            <a:endParaRPr lang="en-US" sz="2000" dirty="0"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30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86" y="1538550"/>
            <a:ext cx="8008605" cy="45029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10" y="2414799"/>
            <a:ext cx="1854193" cy="942193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16" y="3789040"/>
            <a:ext cx="4410676" cy="488602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06" y="4725144"/>
            <a:ext cx="1349492" cy="416333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504" y="5604955"/>
            <a:ext cx="1349492" cy="416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304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Constraints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682" y="980728"/>
            <a:ext cx="9131374" cy="2805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Keys are the entity set that is used to identify an entity within its entity set uniquely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An entity set can have multiple keys, out of which one key will be the primary key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A primary key can contain a unique and null value in the relational table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No two rows can have identical values with respect to key attribute</a:t>
            </a:r>
            <a:endParaRPr lang="en-IN" sz="2000" dirty="0"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31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12" y="3861048"/>
            <a:ext cx="4824536" cy="214198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0072" y="3757389"/>
            <a:ext cx="3744416" cy="204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114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Constraints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682" y="980728"/>
            <a:ext cx="9131374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E.g., CREATE TABLE customers(ID </a:t>
            </a:r>
            <a:r>
              <a:rPr lang="en-US" sz="2000" dirty="0" err="1">
                <a:latin typeface="Arial" panose="020B0604020202020204" pitchFamily="34" charset="0"/>
                <a:cs typeface="Arial" pitchFamily="34" charset="0"/>
              </a:rPr>
              <a:t>int</a:t>
            </a: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 NOT </a:t>
            </a:r>
            <a:r>
              <a:rPr lang="en-US" sz="2000" dirty="0" err="1">
                <a:latin typeface="Arial" panose="020B0604020202020204" pitchFamily="34" charset="0"/>
                <a:cs typeface="Arial" pitchFamily="34" charset="0"/>
              </a:rPr>
              <a:t>NULL,Name</a:t>
            </a: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 varchar(20) NOT </a:t>
            </a:r>
            <a:r>
              <a:rPr lang="en-US" sz="2000" dirty="0" err="1">
                <a:latin typeface="Arial" panose="020B0604020202020204" pitchFamily="34" charset="0"/>
                <a:cs typeface="Arial" pitchFamily="34" charset="0"/>
              </a:rPr>
              <a:t>NULL,Age</a:t>
            </a: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 INT NOT NULL UNIQUE,PRIMARY KEY (ID));</a:t>
            </a:r>
          </a:p>
          <a:p>
            <a:pPr algn="just">
              <a:lnSpc>
                <a:spcPct val="150000"/>
              </a:lnSpc>
            </a:pPr>
            <a:r>
              <a:rPr lang="en-US" altLang="en-US" sz="2000" b="1" dirty="0">
                <a:solidFill>
                  <a:srgbClr val="C00000"/>
                </a:solidFill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Output</a:t>
            </a:r>
          </a:p>
          <a:p>
            <a:pPr algn="just">
              <a:lnSpc>
                <a:spcPct val="150000"/>
              </a:lnSpc>
            </a:pPr>
            <a:endParaRPr lang="en-US" sz="2000" dirty="0">
              <a:latin typeface="Arial" panose="020B0604020202020204" pitchFamily="34" charset="0"/>
              <a:cs typeface="Arial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INSERT INTO customers VALUES('1','Sindhu','26');</a:t>
            </a:r>
          </a:p>
          <a:p>
            <a:pPr algn="just">
              <a:lnSpc>
                <a:spcPct val="150000"/>
              </a:lnSpc>
            </a:pPr>
            <a:endParaRPr lang="en-US" sz="2000" dirty="0">
              <a:latin typeface="Arial" panose="020B0604020202020204" pitchFamily="34" charset="0"/>
              <a:cs typeface="Arial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INSERT INTO customers VALUES('2','Sandhya','26');</a:t>
            </a:r>
          </a:p>
          <a:p>
            <a:pPr algn="just">
              <a:lnSpc>
                <a:spcPct val="150000"/>
              </a:lnSpc>
            </a:pPr>
            <a:endParaRPr lang="en-US" sz="2000" dirty="0">
              <a:latin typeface="Arial" panose="020B0604020202020204" pitchFamily="34" charset="0"/>
              <a:cs typeface="Arial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INSERT INTO customers VALUES('2','Sandhya','30');</a:t>
            </a:r>
          </a:p>
          <a:p>
            <a:pPr algn="just">
              <a:lnSpc>
                <a:spcPct val="150000"/>
              </a:lnSpc>
            </a:pPr>
            <a:endParaRPr lang="en-US" sz="2000" dirty="0">
              <a:latin typeface="Arial" panose="020B0604020202020204" pitchFamily="34" charset="0"/>
              <a:cs typeface="Arial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DESC customers;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32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Graphic 12">
            <a:hlinkClick r:id="rId2"/>
            <a:extLst>
              <a:ext uri="{FF2B5EF4-FFF2-40B4-BE49-F238E27FC236}">
                <a16:creationId xmlns:a16="http://schemas.microsoft.com/office/drawing/2014/main" id="{1F81FEBD-C3E0-4138-BA5A-EAC87CCD7C8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  <a:ext uri="{837473B0-CC2E-450A-ABE3-18F120FF3D39}">
                <a1611:picAttrSrcUrl xmlns:a1611="http://schemas.microsoft.com/office/drawing/2016/11/main" xmlns="" r:id="rId6"/>
              </a:ext>
            </a:extLst>
          </a:blip>
          <a:stretch>
            <a:fillRect/>
          </a:stretch>
        </p:blipFill>
        <p:spPr>
          <a:xfrm>
            <a:off x="1331640" y="1893294"/>
            <a:ext cx="504056" cy="599602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29" y="2492896"/>
            <a:ext cx="1285411" cy="338266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059" y="3356992"/>
            <a:ext cx="1688916" cy="453783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059" y="4293096"/>
            <a:ext cx="7502043" cy="426145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956" y="5157192"/>
            <a:ext cx="1688916" cy="453783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14972" y="4719241"/>
            <a:ext cx="2821524" cy="1734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776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692696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3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itchFamily="34" charset="0"/>
              </a:rPr>
              <a:t>Summary</a:t>
            </a: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1628800"/>
            <a:ext cx="9144000" cy="2805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itchFamily="34" charset="0"/>
              </a:rPr>
              <a:t>Keys in DBMS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itchFamily="34" charset="0"/>
              </a:rPr>
              <a:t>Integrity Constraints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Domain Constraints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Entity Integrity Constraints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Referential Integrity Constraints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Key Constraints</a:t>
            </a:r>
            <a:endParaRPr lang="en-IN" sz="2000" dirty="0"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33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0" y="404664"/>
            <a:ext cx="914400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Keys and Integrity </a:t>
            </a:r>
            <a:r>
              <a:rPr lang="en-US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Constraints</a:t>
            </a:r>
            <a:r>
              <a:rPr lang="en-IN" sz="2200" b="1" dirty="0" smtClean="0">
                <a:latin typeface="Arial" panose="020B0604020202020204" pitchFamily="34" charset="0"/>
                <a:cs typeface="Arial" pitchFamily="34" charset="0"/>
              </a:rPr>
              <a:t/>
            </a:r>
            <a:br>
              <a:rPr lang="en-IN" sz="2200" b="1" dirty="0" smtClean="0"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8597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692696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3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itchFamily="34" charset="0"/>
              </a:rPr>
              <a:t>Try Yourself</a:t>
            </a: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1628800"/>
            <a:ext cx="9144000" cy="2805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itchFamily="34" charset="0"/>
              </a:rPr>
              <a:t>Create a Voters database with the following constraints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Age &gt;=18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ID should be unique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Phone number as primary key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 err="1">
                <a:latin typeface="Arial" panose="020B0604020202020204" pitchFamily="34" charset="0"/>
                <a:cs typeface="Arial" pitchFamily="34" charset="0"/>
              </a:rPr>
              <a:t>Aadhar</a:t>
            </a: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 number as foreign key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Name should not be </a:t>
            </a:r>
            <a:r>
              <a:rPr lang="en-US" sz="2000" dirty="0" smtClean="0">
                <a:latin typeface="Arial" panose="020B0604020202020204" pitchFamily="34" charset="0"/>
                <a:cs typeface="Arial" pitchFamily="34" charset="0"/>
              </a:rPr>
              <a:t>null</a:t>
            </a:r>
            <a:endParaRPr lang="en-US" sz="2000" dirty="0"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34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0" y="404664"/>
            <a:ext cx="914400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Keys and Integrity </a:t>
            </a:r>
            <a:r>
              <a:rPr lang="en-US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Constraints</a:t>
            </a:r>
            <a:r>
              <a:rPr lang="en-IN" sz="2200" b="1" dirty="0" smtClean="0">
                <a:latin typeface="Arial" panose="020B0604020202020204" pitchFamily="34" charset="0"/>
                <a:cs typeface="Arial" pitchFamily="34" charset="0"/>
              </a:rPr>
              <a:t/>
            </a:r>
            <a:br>
              <a:rPr lang="en-IN" sz="2200" b="1" dirty="0" smtClean="0"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1972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7160" y="2891609"/>
            <a:ext cx="9144000" cy="5373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200" b="1" dirty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MODULE II  CONSTRAINTS AND SQL COMMANDS </a:t>
            </a:r>
            <a:endParaRPr lang="en-US" sz="2200" b="1" dirty="0">
              <a:solidFill>
                <a:srgbClr val="C00000"/>
              </a:solidFill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35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itle 1"/>
          <p:cNvSpPr txBox="1">
            <a:spLocks/>
          </p:cNvSpPr>
          <p:nvPr/>
        </p:nvSpPr>
        <p:spPr>
          <a:xfrm>
            <a:off x="467544" y="184448"/>
            <a:ext cx="8172908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IN" sz="2200" b="1" dirty="0" smtClean="0">
                <a:latin typeface="Arial" panose="020B0604020202020204" pitchFamily="34" charset="0"/>
                <a:cs typeface="Arial" pitchFamily="34" charset="0"/>
              </a:rPr>
              <a:t/>
            </a:r>
            <a:br>
              <a:rPr lang="en-IN" sz="2200" b="1" dirty="0" smtClean="0"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2643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4704</TotalTime>
  <Words>1904</Words>
  <Application>Microsoft Office PowerPoint</Application>
  <PresentationFormat>On-screen Show (4:3)</PresentationFormat>
  <Paragraphs>450</Paragraphs>
  <Slides>35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Arial</vt:lpstr>
      <vt:lpstr>Calibri</vt:lpstr>
      <vt:lpstr>Cambria</vt:lpstr>
      <vt:lpstr>Wingdings</vt:lpstr>
      <vt:lpstr>Office Theme</vt:lpstr>
      <vt:lpstr>Title of Topic: Keys and Integrity Constraints Course Code: 23IT201 Course Title: DataBase Management Systems Session Number: 6 Academic Year: 2024 - 2025 (Even Sem)</vt:lpstr>
      <vt:lpstr>1. Introduction to DBMS, Characteristics of DBMS, DBMS vs File Systems, need for DBMS. 2. Three Level DBMS Architecture. 3. Data Models, Introduction, Benefits, and Phases. ER Diagrams – Symbols, Components, Relationships, Weak entities, Attributes, Cardinality. 4.Relational Algebra, Domain Relational Calculus, Tuple Relational Calculus,  5. Keys - primary Key, Foreign Key.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18CS056 – THEORY OF COMPUTATION</dc:title>
  <dc:creator>Rose</dc:creator>
  <cp:lastModifiedBy>user</cp:lastModifiedBy>
  <cp:revision>715</cp:revision>
  <dcterms:created xsi:type="dcterms:W3CDTF">2020-05-18T09:43:19Z</dcterms:created>
  <dcterms:modified xsi:type="dcterms:W3CDTF">2025-01-11T05:13:52Z</dcterms:modified>
</cp:coreProperties>
</file>