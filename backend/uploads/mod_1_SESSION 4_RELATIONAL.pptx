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410" r:id="rId2"/>
    <p:sldId id="258" r:id="rId3"/>
    <p:sldId id="413" r:id="rId4"/>
    <p:sldId id="483" r:id="rId5"/>
    <p:sldId id="572" r:id="rId6"/>
    <p:sldId id="573" r:id="rId7"/>
    <p:sldId id="574" r:id="rId8"/>
    <p:sldId id="575" r:id="rId9"/>
    <p:sldId id="576" r:id="rId10"/>
    <p:sldId id="577" r:id="rId11"/>
    <p:sldId id="578" r:id="rId12"/>
    <p:sldId id="579" r:id="rId13"/>
    <p:sldId id="580" r:id="rId14"/>
    <p:sldId id="581" r:id="rId15"/>
    <p:sldId id="582" r:id="rId16"/>
    <p:sldId id="583" r:id="rId17"/>
    <p:sldId id="584" r:id="rId18"/>
    <p:sldId id="585" r:id="rId19"/>
    <p:sldId id="586" r:id="rId20"/>
    <p:sldId id="587" r:id="rId21"/>
    <p:sldId id="588" r:id="rId22"/>
    <p:sldId id="589" r:id="rId23"/>
    <p:sldId id="590" r:id="rId24"/>
    <p:sldId id="550" r:id="rId25"/>
    <p:sldId id="551" r:id="rId26"/>
    <p:sldId id="592" r:id="rId27"/>
    <p:sldId id="593" r:id="rId28"/>
    <p:sldId id="594" r:id="rId29"/>
    <p:sldId id="595" r:id="rId30"/>
    <p:sldId id="596" r:id="rId31"/>
    <p:sldId id="597" r:id="rId32"/>
    <p:sldId id="598" r:id="rId33"/>
    <p:sldId id="599" r:id="rId34"/>
    <p:sldId id="600" r:id="rId35"/>
    <p:sldId id="601" r:id="rId36"/>
    <p:sldId id="602" r:id="rId37"/>
    <p:sldId id="603" r:id="rId38"/>
    <p:sldId id="604" r:id="rId39"/>
    <p:sldId id="605" r:id="rId40"/>
    <p:sldId id="606" r:id="rId41"/>
    <p:sldId id="607" r:id="rId42"/>
    <p:sldId id="608" r:id="rId43"/>
    <p:sldId id="609" r:id="rId44"/>
    <p:sldId id="610" r:id="rId45"/>
    <p:sldId id="411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824" autoAdjust="0"/>
    <p:restoredTop sz="87971" autoAdjust="0"/>
  </p:normalViewPr>
  <p:slideViewPr>
    <p:cSldViewPr>
      <p:cViewPr varScale="1">
        <p:scale>
          <a:sx n="73" d="100"/>
          <a:sy n="73" d="100"/>
        </p:scale>
        <p:origin x="96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0B9AE-A6FD-4340-8796-B3DD08C49BFA}" type="datetimeFigureOut">
              <a:rPr lang="en-IN" smtClean="0"/>
              <a:t>11-01-2025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DDDBCF-62DD-41D3-BF56-2DCC1369663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960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7F7F5A-C11F-41DC-8103-F9FFE06AE4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78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DDDBCF-62DD-41D3-BF56-2DCC1369663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745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1A8E1-26E0-49DB-AC7E-2EF92CC601DA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2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0C967-BB2F-4E2B-BD5F-30068A8ED89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79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E7700-F1ED-428F-B552-7FEC0EA1E817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652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AD98B2-5E35-4EE6-89C9-61C3AEB0E92F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58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07B0B-6576-4AE5-8659-D0607FB34AE6}" type="datetime1">
              <a:rPr lang="en-IN" smtClean="0"/>
              <a:t>11-01-2025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376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0EBDC-738C-4FFA-8183-317ADFC99BC3}" type="datetime1">
              <a:rPr lang="en-IN" smtClean="0"/>
              <a:t>11-01-2025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26F79-9F22-4D00-B288-E7577EAC9FBB}" type="datetime1">
              <a:rPr lang="en-IN" smtClean="0"/>
              <a:t>11-01-2025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3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928742-CBA0-479C-AE2A-0007ABD6031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635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75703-5067-4702-B21A-A755B6F05279}" type="datetime1">
              <a:rPr lang="en-IN" smtClean="0"/>
              <a:t>11-01-2025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EBF32-5D0C-4656-BF58-4A5C319433D1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439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689C9-C399-4532-B87C-B30B3FFA1D3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94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48F396-2623-48A1-A9CB-3F7AFE6DE5CF}" type="datetime1">
              <a:rPr lang="en-IN" smtClean="0"/>
              <a:t>11-01-2025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39DD5-181C-42B6-8328-C1C2EC19C5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64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uy81x9JRRhmVn2qtP9q7RAbtOByLMWlB/view?usp=sharing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drive.google.com/file/d/1RJshO7fySJ4M4bzhIVvGtCYJGUf4DRcU/view?usp=sharing" TargetMode="External"/><Relationship Id="rId4" Type="http://schemas.openxmlformats.org/officeDocument/2006/relationships/hyperlink" Target="https://drive.google.com/file/d/10sb9y34DIDSdqxr4mQPSxHzBQYXxUtVl/view?usp=sharing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DEMk5jnC-WZp8QdCXvE9-DPoD09DPSVa/view?usp=sharing" TargetMode="Externa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smarGqNvLeOnraJ-xghI9wFCKNB6K_6q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ht4JAkg0zCKasUlSo5-VNSQ3_Pl4sXy9/view?usp=sharing" TargetMode="Externa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drive.google.com/file/d/1stzjGs1rxBgbNXxIo4amMfki9RSkTeMI/view?usp=shar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YatrGT-GnwRhL9xrRzxNHSFV5sO1bs0g/view?usp=sharing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700808"/>
            <a:ext cx="9144000" cy="345638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Title of Topic: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Course Code: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23IT201</a:t>
            </a:r>
            <a:r>
              <a:rPr lang="en-IN" sz="22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Course Title: </a:t>
            </a:r>
            <a:r>
              <a:rPr lang="en-IN" sz="22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DataBase</a:t>
            </a:r>
            <a: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Management Systems</a:t>
            </a:r>
            <a:br>
              <a:rPr lang="en-IN" sz="22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Session Number: 4</a:t>
            </a:r>
            <a:b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</a:b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Academic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Year: 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2024 – 2025 (Even </a:t>
            </a:r>
            <a:r>
              <a:rPr lang="en-IN" sz="2200" b="1" dirty="0" err="1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Sem</a:t>
            </a:r>
            <a:r>
              <a:rPr lang="en-IN" sz="2200" b="1" dirty="0" smtClean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  <a:endParaRPr lang="en-IN" sz="2200" b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2"/>
          <p:cNvSpPr txBox="1">
            <a:spLocks/>
          </p:cNvSpPr>
          <p:nvPr/>
        </p:nvSpPr>
        <p:spPr>
          <a:xfrm>
            <a:off x="0" y="6492875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0400" y="6492875"/>
            <a:ext cx="2133600" cy="365125"/>
          </a:xfrm>
        </p:spPr>
        <p:txBody>
          <a:bodyPr/>
          <a:lstStyle/>
          <a:p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525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530105"/>
            <a:ext cx="9131374" cy="600913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tabLst>
                <a:tab pos="1527175" algn="l"/>
              </a:tabLst>
            </a:pPr>
            <a:r>
              <a:rPr lang="en-IN" sz="2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 to DBMS, Characteristics of DBMS, DBMS vs File Systems, need for DBMS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Three Level DBMS Architecture</a:t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Data Models Introduction, Benefits, and Phases</a:t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ER Diagrams – Symbols, Components, Relationships, Weak entities, Attributes, Cardinality.</a:t>
            </a:r>
            <a:b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6.Calculus </a:t>
            </a: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Keys - primary Key, Foreign Key.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001792" y="645854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IN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611560" y="328464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Module 1 – </a:t>
            </a:r>
            <a:r>
              <a:rPr lang="en-US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Modeling and Relational Query Language</a:t>
            </a:r>
            <a:r>
              <a:rPr lang="en-IN" sz="2300" b="1" dirty="0" smtClean="0"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lide Number Placeholder 3"/>
          <p:cNvSpPr txBox="1">
            <a:spLocks/>
          </p:cNvSpPr>
          <p:nvPr/>
        </p:nvSpPr>
        <p:spPr>
          <a:xfrm>
            <a:off x="6997774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12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Topics to be Covered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17181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Relational Algebra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Schema for the University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Select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Project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Union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Set Difference Operation (–)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Set-Intersection Operation (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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Cartesian-Product Operation (x)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Rename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)</a:t>
            </a:r>
            <a:endParaRPr lang="en-IN" altLang="en-US" sz="2000" dirty="0">
              <a:latin typeface="Arial" panose="020B0604020202020204" pitchFamily="34" charset="0"/>
              <a:cs typeface="Arial" pitchFamily="34" charset="0"/>
              <a:sym typeface="Symbol" pitchFamily="18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Natural-Join 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Operation</a:t>
            </a: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99992" y="1628800"/>
            <a:ext cx="464400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Assignment Operation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Generalized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Projection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itchFamily="34" charset="0"/>
                <a:sym typeface="Symbol" pitchFamily="18" charset="2"/>
              </a:rPr>
              <a:t>Aggregate Functions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itchFamily="34" charset="0"/>
                <a:sym typeface="Symbol" pitchFamily="18" charset="2"/>
              </a:rPr>
              <a:t>Tuple Relational Calculus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itchFamily="34" charset="0"/>
                <a:sym typeface="Symbol" pitchFamily="18" charset="2"/>
              </a:rPr>
              <a:t>Domain Relational Calculus</a:t>
            </a:r>
          </a:p>
        </p:txBody>
      </p:sp>
    </p:spTree>
    <p:extLst>
      <p:ext uri="{BB962C8B-B14F-4D97-AF65-F5344CB8AC3E}">
        <p14:creationId xmlns:p14="http://schemas.microsoft.com/office/powerpoint/2010/main" val="1466338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Algebra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Procedural language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Six basic operators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select: </a:t>
            </a: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endParaRPr lang="en-US" altLang="en-US" sz="20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project: </a:t>
            </a: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</a:t>
            </a:r>
            <a:endParaRPr lang="en-US" altLang="en-US" sz="20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union: </a:t>
            </a: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</a:t>
            </a:r>
            <a:endParaRPr lang="en-US" altLang="en-US" sz="20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difference: –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Cartesian product: x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rename: </a:t>
            </a:r>
            <a:r>
              <a:rPr lang="en-US" altLang="en-US" sz="2000" kern="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</a:t>
            </a:r>
            <a:endParaRPr lang="en-US" altLang="en-US" sz="2000" kern="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The operators take one or  two relations as inputs and produce a new relation as a result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Other operations are </a:t>
            </a:r>
            <a:r>
              <a:rPr lang="en-IN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set intersection, natural  join, and assignment</a:t>
            </a: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177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 for the University </a:t>
            </a:r>
            <a:r>
              <a:rPr lang="en-US" sz="24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Instructor(ID, name,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,salary)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Teaches(ID ,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sec_id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semester, year)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Takes(ID ,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,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sec_id,semester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year,grade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sec_id,semester,year,building,room_no,time_slot_id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Student(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ID,name,dept_name,tot_cred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Classroom(building,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room_no,capacity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dept_name,building,Budget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title,dept_name,credits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18002" y="4797152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Relational Algebra: Part-I:                  Part-II:                   Part-III: </a:t>
            </a:r>
          </a:p>
        </p:txBody>
      </p:sp>
      <p:pic>
        <p:nvPicPr>
          <p:cNvPr id="10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797152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3">
            <a:hlinkClick r:id="rId4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922" y="4797152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>
            <a:hlinkClick r:id="rId5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162" y="4797152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48679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Operation 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7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58938" algn="l"/>
                <a:tab pos="3149600" algn="ctr"/>
                <a:tab pos="3425825" algn="l"/>
              </a:tabLst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select operation selects tuples that satisfy a given predicate.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Notation: 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 </a:t>
            </a:r>
            <a:r>
              <a:rPr lang="en-US" altLang="en-US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(r),  where p is called the selection predicate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Defined as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(r) = {t | t  r and p(t)}</a:t>
            </a:r>
            <a:b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Where p is a formula in propositional calculus consisting of terms connected by :  (and),  (or),  (not)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Each term is one of: &lt;attribute&gt; op &lt;attribute&gt; or &lt;constant&gt;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where op is one of:  =, , &gt;, . &lt;. 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E.g., 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 </a:t>
            </a:r>
            <a:r>
              <a:rPr lang="en-US" altLang="en-US" sz="2000" baseline="-2500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baseline="-25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=“Physics”</a:t>
            </a:r>
            <a:r>
              <a:rPr lang="en-US" altLang="en-US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(instructor)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369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Operation 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7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014" y="1124744"/>
            <a:ext cx="4196463" cy="267802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flat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7923" y="1052736"/>
            <a:ext cx="4702059" cy="2714675"/>
          </a:xfrm>
          <a:prstGeom prst="rect">
            <a:avLst/>
          </a:prstGeom>
          <a:noFill/>
        </p:spPr>
      </p:pic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-188243" y="3965054"/>
            <a:ext cx="4754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instructor relation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2630352" y="3789040"/>
            <a:ext cx="8077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 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dept_name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=“Physics”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(instructor)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13" y="4483894"/>
            <a:ext cx="4196463" cy="817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7923" y="4520157"/>
            <a:ext cx="4702059" cy="709043"/>
          </a:xfrm>
          <a:prstGeom prst="rect">
            <a:avLst/>
          </a:prstGeom>
        </p:spPr>
      </p:pic>
      <p:sp>
        <p:nvSpPr>
          <p:cNvPr id="17" name="Title 1"/>
          <p:cNvSpPr txBox="1">
            <a:spLocks/>
          </p:cNvSpPr>
          <p:nvPr/>
        </p:nvSpPr>
        <p:spPr>
          <a:xfrm>
            <a:off x="-1788604" y="5339680"/>
            <a:ext cx="8077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 </a:t>
            </a:r>
            <a:r>
              <a:rPr 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dept_name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=“Physics”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(instructor)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2555776" y="5416625"/>
            <a:ext cx="8229600" cy="676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Monotype Sorts" charset="2"/>
              <a:buNone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 </a:t>
            </a:r>
            <a:r>
              <a:rPr lang="en-IN" altLang="en-US" sz="2000" baseline="-25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IN" altLang="en-US" sz="2000" baseline="-25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=“Physics”∧ salary&gt;90000</a:t>
            </a:r>
            <a:r>
              <a:rPr lang="en-IN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(instructor)</a:t>
            </a:r>
          </a:p>
        </p:txBody>
      </p:sp>
    </p:spTree>
    <p:extLst>
      <p:ext uri="{BB962C8B-B14F-4D97-AF65-F5344CB8AC3E}">
        <p14:creationId xmlns:p14="http://schemas.microsoft.com/office/powerpoint/2010/main" val="60237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65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257550" algn="ctr"/>
              </a:tabLst>
              <a:defRPr/>
            </a:pPr>
            <a:r>
              <a:rPr lang="en-IN" altLang="en-US" sz="2000" kern="0" dirty="0">
                <a:latin typeface="Arial" charset="0"/>
                <a:cs typeface="Arial" charset="0"/>
              </a:rPr>
              <a:t>The project operation is a unary operation that returns its argument relation, with certain attributes left out. Since a relation is a set, any duplicate rows are eliminated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257550" algn="ctr"/>
              </a:tabLst>
              <a:defRPr/>
            </a:pPr>
            <a:r>
              <a:rPr lang="en-US" altLang="en-US" sz="2000" kern="0" dirty="0">
                <a:latin typeface="Arial" charset="0"/>
                <a:cs typeface="Arial" charset="0"/>
              </a:rPr>
              <a:t>Notation: </a:t>
            </a:r>
            <a:r>
              <a:rPr lang="en-US" altLang="en-US" sz="2000" kern="0" dirty="0">
                <a:latin typeface="Arial" charset="0"/>
                <a:cs typeface="Arial" charset="0"/>
                <a:sym typeface="Symbol" pitchFamily="18" charset="2"/>
              </a:rPr>
              <a:t></a:t>
            </a:r>
            <a:r>
              <a:rPr lang="en-US" altLang="en-US" sz="2000" kern="0" dirty="0">
                <a:latin typeface="Arial" charset="0"/>
                <a:cs typeface="Arial" charset="0"/>
              </a:rPr>
              <a:t> </a:t>
            </a:r>
            <a:r>
              <a:rPr lang="en-US" altLang="en-US" sz="1200" kern="0" dirty="0">
                <a:latin typeface="Arial" charset="0"/>
                <a:cs typeface="Arial" charset="0"/>
              </a:rPr>
              <a:t>A</a:t>
            </a:r>
            <a:r>
              <a:rPr lang="en-US" altLang="en-US" sz="1200" kern="0" baseline="-25000" dirty="0">
                <a:latin typeface="Arial" charset="0"/>
                <a:cs typeface="Arial" charset="0"/>
              </a:rPr>
              <a:t>1</a:t>
            </a:r>
            <a:r>
              <a:rPr lang="en-US" altLang="en-US" sz="2000" kern="0" baseline="-25000" dirty="0">
                <a:latin typeface="Arial" charset="0"/>
                <a:cs typeface="Arial" charset="0"/>
              </a:rPr>
              <a:t>, </a:t>
            </a:r>
            <a:r>
              <a:rPr lang="en-US" altLang="en-US" sz="1200" kern="0" dirty="0">
                <a:latin typeface="Arial" charset="0"/>
                <a:cs typeface="Arial" charset="0"/>
              </a:rPr>
              <a:t>A</a:t>
            </a:r>
            <a:r>
              <a:rPr lang="en-US" altLang="en-US" sz="1200" kern="0" baseline="-25000" dirty="0">
                <a:latin typeface="Arial" charset="0"/>
                <a:cs typeface="Arial" charset="0"/>
              </a:rPr>
              <a:t>2</a:t>
            </a:r>
            <a:r>
              <a:rPr lang="en-US" altLang="en-US" sz="2000" kern="0" baseline="-25000" dirty="0">
                <a:latin typeface="Arial" charset="0"/>
                <a:cs typeface="Arial" charset="0"/>
              </a:rPr>
              <a:t>, </a:t>
            </a:r>
            <a:r>
              <a:rPr lang="en-US" altLang="en-US" sz="1200" kern="0" dirty="0">
                <a:latin typeface="Arial" charset="0"/>
                <a:cs typeface="Arial" charset="0"/>
              </a:rPr>
              <a:t>A</a:t>
            </a:r>
            <a:r>
              <a:rPr lang="en-US" altLang="en-US" sz="1200" kern="0" baseline="-25000" dirty="0">
                <a:latin typeface="Arial" charset="0"/>
                <a:cs typeface="Arial" charset="0"/>
              </a:rPr>
              <a:t>3</a:t>
            </a:r>
            <a:r>
              <a:rPr lang="en-US" altLang="en-US" sz="2000" kern="0" dirty="0">
                <a:latin typeface="Arial" charset="0"/>
                <a:cs typeface="Arial" charset="0"/>
              </a:rPr>
              <a:t>(r), 	where A</a:t>
            </a:r>
            <a:r>
              <a:rPr lang="en-US" altLang="en-US" sz="2000" kern="0" baseline="-25000" dirty="0">
                <a:latin typeface="Arial" charset="0"/>
                <a:cs typeface="Arial" charset="0"/>
              </a:rPr>
              <a:t>1</a:t>
            </a:r>
            <a:r>
              <a:rPr lang="en-US" altLang="en-US" sz="2000" kern="0" dirty="0">
                <a:latin typeface="Arial" charset="0"/>
                <a:cs typeface="Arial" charset="0"/>
              </a:rPr>
              <a:t>, A</a:t>
            </a:r>
            <a:r>
              <a:rPr lang="en-US" altLang="en-US" sz="2000" kern="0" baseline="-25000" dirty="0">
                <a:latin typeface="Arial" charset="0"/>
                <a:cs typeface="Arial" charset="0"/>
              </a:rPr>
              <a:t>2</a:t>
            </a:r>
            <a:r>
              <a:rPr lang="en-US" altLang="en-US" sz="2000" kern="0" dirty="0">
                <a:latin typeface="Arial" charset="0"/>
                <a:cs typeface="Arial" charset="0"/>
              </a:rPr>
              <a:t> are attribute names and r is a relation name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257550" algn="ctr"/>
              </a:tabLst>
              <a:defRPr/>
            </a:pPr>
            <a:r>
              <a:rPr lang="en-US" altLang="en-US" sz="2000" kern="0" dirty="0">
                <a:latin typeface="Arial" charset="0"/>
                <a:cs typeface="Arial" charset="0"/>
              </a:rPr>
              <a:t>The result is defined as the relation of k columns obtained by erasing the columns that are not listed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257550" algn="ctr"/>
              </a:tabLst>
              <a:defRPr/>
            </a:pPr>
            <a:r>
              <a:rPr lang="en-US" altLang="en-US" sz="2000" kern="0" dirty="0">
                <a:latin typeface="Arial" charset="0"/>
                <a:cs typeface="Arial" charset="0"/>
              </a:rPr>
              <a:t>Duplicate rows removed from result, since relations are sets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257550" algn="ctr"/>
              </a:tabLst>
              <a:defRPr/>
            </a:pPr>
            <a:r>
              <a:rPr lang="en-US" altLang="en-US" sz="2000" kern="0" dirty="0">
                <a:latin typeface="Arial" charset="0"/>
                <a:cs typeface="Arial" charset="0"/>
              </a:rPr>
              <a:t>E.g., To eliminate the </a:t>
            </a:r>
            <a:r>
              <a:rPr lang="en-US" altLang="en-US" sz="2000" kern="0" dirty="0" err="1">
                <a:latin typeface="Arial" charset="0"/>
                <a:cs typeface="Arial" charset="0"/>
              </a:rPr>
              <a:t>dept_name</a:t>
            </a:r>
            <a:r>
              <a:rPr lang="en-US" altLang="en-US" sz="2000" kern="0" dirty="0">
                <a:latin typeface="Arial" charset="0"/>
                <a:cs typeface="Arial" charset="0"/>
              </a:rPr>
              <a:t> attribute of instructor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257550" algn="ctr"/>
              </a:tabLst>
              <a:defRPr/>
            </a:pPr>
            <a:r>
              <a:rPr lang="en-US" altLang="en-US" sz="2000" kern="0" dirty="0">
                <a:latin typeface="Arial" charset="0"/>
                <a:cs typeface="Arial" charset="0"/>
                <a:sym typeface="Symbol" pitchFamily="18" charset="2"/>
              </a:rPr>
              <a:t></a:t>
            </a:r>
            <a:r>
              <a:rPr lang="en-US" altLang="en-US" sz="2000" kern="0" baseline="-25000" dirty="0">
                <a:latin typeface="Arial" charset="0"/>
                <a:cs typeface="Arial" charset="0"/>
              </a:rPr>
              <a:t>ID, name, salary</a:t>
            </a:r>
            <a:r>
              <a:rPr lang="en-US" altLang="en-US" sz="2000" kern="0" dirty="0">
                <a:latin typeface="Arial" charset="0"/>
                <a:cs typeface="Arial" charset="0"/>
              </a:rPr>
              <a:t> (instructor</a:t>
            </a:r>
            <a:r>
              <a:rPr lang="en-US" altLang="en-US" sz="2000" kern="0" dirty="0" smtClean="0">
                <a:latin typeface="Arial" charset="0"/>
                <a:cs typeface="Arial" charset="0"/>
              </a:rPr>
              <a:t>)</a:t>
            </a:r>
            <a:endParaRPr lang="en-US" altLang="en-US" sz="2000" kern="0" dirty="0">
              <a:latin typeface="Arial" charset="0"/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882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738" y="1165646"/>
            <a:ext cx="4196463" cy="37035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cap="flat"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39979" y="1124744"/>
            <a:ext cx="3564469" cy="3854448"/>
          </a:xfrm>
          <a:prstGeom prst="rect">
            <a:avLst/>
          </a:prstGeom>
          <a:noFill/>
        </p:spPr>
      </p:pic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177477" y="5013176"/>
            <a:ext cx="4754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instructor relation</a:t>
            </a: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2843808" y="4869160"/>
            <a:ext cx="8077200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  <a:sym typeface="Symbol" charset="2"/>
              </a:rPr>
              <a:t></a:t>
            </a:r>
            <a:r>
              <a:rPr 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ID, name, salary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(instructor)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48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Union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65450" algn="ctr"/>
              </a:tabLst>
              <a:defRPr/>
            </a:pPr>
            <a:r>
              <a:rPr lang="en-IN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Ensure that unions are taken between compatible relations 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65450" algn="ctr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Notation:  r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 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65450" algn="ctr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Defined as: 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	r 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 s = {t | t  r or t  s}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65450" algn="ctr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For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 s to be valid: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2965450" algn="ctr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	r, s must have the same arity (same number of attributes)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2965450" algn="ctr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The attribute domains must be compatible (E.g., 2</a:t>
            </a:r>
            <a:r>
              <a:rPr lang="en-US" altLang="en-US" sz="2000" kern="0" baseline="30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nd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column of r deals with the same type of values as does the 2</a:t>
            </a:r>
            <a:r>
              <a:rPr lang="en-US" altLang="en-US" sz="2000" kern="0" baseline="30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nd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column of 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965450" algn="ctr"/>
              </a:tabLst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E.g., To find all courses taught in the Fall 2009 semester, or in the Spring 2010 semester, or in both</a:t>
            </a:r>
          </a:p>
          <a:p>
            <a:pPr algn="ctr">
              <a:lnSpc>
                <a:spcPct val="150000"/>
              </a:lnSpc>
              <a:tabLst>
                <a:tab pos="2965450" algn="ctr"/>
              </a:tabLst>
              <a:defRPr/>
            </a:pP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   </a:t>
            </a:r>
            <a:r>
              <a:rPr lang="en-US" altLang="en-US" sz="2000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semester=“Fall” </a:t>
            </a:r>
            <a:r>
              <a:rPr lang="el-GR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year=2009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  </a:t>
            </a:r>
            <a:r>
              <a:rPr lang="en-US" altLang="en-US" sz="2000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semester=“Spring” </a:t>
            </a:r>
            <a:r>
              <a:rPr lang="el-GR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year=2010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(section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))</a:t>
            </a: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595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Union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2900" y="980728"/>
            <a:ext cx="8458200" cy="4338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2411760" y="5301208"/>
            <a:ext cx="4754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section relation</a:t>
            </a:r>
          </a:p>
        </p:txBody>
      </p:sp>
    </p:spTree>
    <p:extLst>
      <p:ext uri="{BB962C8B-B14F-4D97-AF65-F5344CB8AC3E}">
        <p14:creationId xmlns:p14="http://schemas.microsoft.com/office/powerpoint/2010/main" val="139232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Union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560" y="1052736"/>
            <a:ext cx="6444208" cy="406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700808"/>
            <a:ext cx="1008112" cy="273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0" y="5153417"/>
            <a:ext cx="9144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tabLst>
                <a:tab pos="2965450" algn="ctr"/>
              </a:tabLst>
              <a:defRPr/>
            </a:pP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semester=“Fall”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year=2009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  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semester=“Spring”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year=2010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(section))</a:t>
            </a:r>
          </a:p>
        </p:txBody>
      </p:sp>
    </p:spTree>
    <p:extLst>
      <p:ext uri="{BB962C8B-B14F-4D97-AF65-F5344CB8AC3E}">
        <p14:creationId xmlns:p14="http://schemas.microsoft.com/office/powerpoint/2010/main" val="3510310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Difference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-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3739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Allows us to find tuples that are in one relation but are not in another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 – s)</a:t>
            </a:r>
            <a:endParaRPr lang="en-IN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Defined as: r – s  = {t | t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 r and t  s}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Set differences must be taken between compatible relations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 and s must have the same arity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attribute domains of r and s must be compatible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E.g., To find all courses taught in the Fall 2009 semester, but not in the Spring 2010 semester </a:t>
            </a:r>
          </a:p>
          <a:p>
            <a:pPr algn="ctr">
              <a:lnSpc>
                <a:spcPct val="150000"/>
              </a:lnSpc>
              <a:tabLst>
                <a:tab pos="630238" algn="l"/>
              </a:tabLst>
              <a:defRPr/>
            </a:pPr>
            <a:r>
              <a:rPr lang="en-US" altLang="en-US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    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semester=“Fall”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year=2009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 </a:t>
            </a:r>
            <a:r>
              <a:rPr lang="en-US" altLang="en-US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-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semester=“Spring”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year=2010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</a:t>
            </a:r>
            <a:r>
              <a:rPr lang="en-US" altLang="en-US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))</a:t>
            </a:r>
            <a:endParaRPr lang="en-US" altLang="en-US" kern="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938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Difference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-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064" y="1052736"/>
            <a:ext cx="6084168" cy="38683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0252" y="2276872"/>
            <a:ext cx="1836204" cy="1279288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0" y="4941168"/>
            <a:ext cx="9144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</a:t>
            </a:r>
            <a:r>
              <a:rPr lang="en-US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Fall”</a:t>
            </a:r>
            <a:r>
              <a:rPr lang="en-US" altLang="en-US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l-GR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year=2009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 − 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semester=“Spring”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year=2010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</a:t>
            </a:r>
          </a:p>
        </p:txBody>
      </p:sp>
    </p:spTree>
    <p:extLst>
      <p:ext uri="{BB962C8B-B14F-4D97-AF65-F5344CB8AC3E}">
        <p14:creationId xmlns:p14="http://schemas.microsoft.com/office/powerpoint/2010/main" val="3715865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Set-Intersection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201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Used to select common rows (tuples) from two tables (relations)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Defined as: r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 = { t | 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 and 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 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Assume: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r, s have the same arity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attributes of r and s are compatible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Note: r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 = r – (r – s)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To find the set of all courses taught in both the Fall 2009 and the Spring 2010 semesters</a:t>
            </a:r>
          </a:p>
          <a:p>
            <a:pPr algn="ctr">
              <a:lnSpc>
                <a:spcPct val="150000"/>
              </a:lnSpc>
            </a:pPr>
            <a:r>
              <a:rPr lang="en-US" altLang="en-US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   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</a:t>
            </a:r>
            <a:r>
              <a:rPr lang="en-US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Fall” </a:t>
            </a:r>
            <a:r>
              <a:rPr lang="el-GR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year=2009</a:t>
            </a:r>
            <a:r>
              <a:rPr lang="en-US" altLang="en-US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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</a:t>
            </a:r>
            <a:r>
              <a:rPr lang="en-US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Spring” </a:t>
            </a:r>
            <a:r>
              <a:rPr lang="el-GR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year=2010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147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Set-Intersection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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72" y="1052736"/>
            <a:ext cx="5724128" cy="427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948264" y="2636912"/>
            <a:ext cx="1692188" cy="904680"/>
          </a:xfrm>
          <a:prstGeom prst="rect">
            <a:avLst/>
          </a:prstGeom>
          <a:noFill/>
        </p:spPr>
      </p:pic>
      <p:sp>
        <p:nvSpPr>
          <p:cNvPr id="13" name="Rectangle 12"/>
          <p:cNvSpPr/>
          <p:nvPr/>
        </p:nvSpPr>
        <p:spPr>
          <a:xfrm>
            <a:off x="0" y="5373216"/>
            <a:ext cx="9144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semester=“Fall”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year=2009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(section))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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</a:t>
            </a:r>
            <a:r>
              <a:rPr lang="en-US" altLang="en-US" kern="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course_id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semester=“Spring” </a:t>
            </a:r>
            <a:r>
              <a:rPr lang="el-GR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Λ</a:t>
            </a:r>
            <a:r>
              <a:rPr lang="en-US" altLang="en-US" kern="0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year=2010 </a:t>
            </a:r>
            <a:r>
              <a:rPr lang="en-US" altLang="en-US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(section))</a:t>
            </a:r>
          </a:p>
        </p:txBody>
      </p:sp>
    </p:spTree>
    <p:extLst>
      <p:ext uri="{BB962C8B-B14F-4D97-AF65-F5344CB8AC3E}">
        <p14:creationId xmlns:p14="http://schemas.microsoft.com/office/powerpoint/2010/main" val="880322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Cartesian-Product Operation 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5113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49600" algn="ctr"/>
              </a:tabLst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Allows to combine information from any two relations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49600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Defined as: r x s = {t q | 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r and q  s}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49600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Assume that attributes of r(R) and s(S) are disjoint. (That is, R  S = )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49600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If attributes of r(R) and s(S) are not disjoint, then renaming must be used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49600" algn="ctr"/>
              </a:tabLst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n1 tuples in instructor and n2 tuples in teaches then there are n1 ∗ n2 ways of choosing a pair of tuples; so there are n1 ∗ n2 tuples in r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E.g., Schema is Instructor(ID, name,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salary) and Teaches(ID,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sec_id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semester, year)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the names of all instructors in the Physics department together with the course id of all courses they </a:t>
            </a: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taught</a:t>
            </a:r>
          </a:p>
          <a:p>
            <a:pPr algn="just"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name, 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courseid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instructor.ID=teaches.ID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deptname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=“Physics”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(instructor × teaches)))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19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Cartesian-Product Operation 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28" y="996831"/>
            <a:ext cx="3846512" cy="4016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043747" y="1181983"/>
            <a:ext cx="4848225" cy="3831193"/>
          </a:xfrm>
          <a:prstGeom prst="rect">
            <a:avLst/>
          </a:prstGeom>
          <a:noFill/>
        </p:spPr>
      </p:pic>
      <p:sp>
        <p:nvSpPr>
          <p:cNvPr id="13" name="TextBox 4"/>
          <p:cNvSpPr txBox="1">
            <a:spLocks noChangeArrowheads="1"/>
          </p:cNvSpPr>
          <p:nvPr/>
        </p:nvSpPr>
        <p:spPr bwMode="auto">
          <a:xfrm>
            <a:off x="-201998" y="5117182"/>
            <a:ext cx="4754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instructor relation</a:t>
            </a:r>
          </a:p>
        </p:txBody>
      </p:sp>
      <p:sp>
        <p:nvSpPr>
          <p:cNvPr id="14" name="TextBox 4"/>
          <p:cNvSpPr txBox="1">
            <a:spLocks noChangeArrowheads="1"/>
          </p:cNvSpPr>
          <p:nvPr/>
        </p:nvSpPr>
        <p:spPr bwMode="auto">
          <a:xfrm>
            <a:off x="4098540" y="5117182"/>
            <a:ext cx="4754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teaches relation</a:t>
            </a:r>
          </a:p>
        </p:txBody>
      </p:sp>
    </p:spTree>
    <p:extLst>
      <p:ext uri="{BB962C8B-B14F-4D97-AF65-F5344CB8AC3E}">
        <p14:creationId xmlns:p14="http://schemas.microsoft.com/office/powerpoint/2010/main" val="935915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Cartesian-Product Operation 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8445" y="1052736"/>
            <a:ext cx="5799138" cy="3973214"/>
          </a:xfrm>
          <a:prstGeom prst="rect">
            <a:avLst/>
          </a:prstGeom>
          <a:noFill/>
        </p:spPr>
      </p:pic>
      <p:sp>
        <p:nvSpPr>
          <p:cNvPr id="16" name="Rectangle 15"/>
          <p:cNvSpPr/>
          <p:nvPr/>
        </p:nvSpPr>
        <p:spPr>
          <a:xfrm>
            <a:off x="0" y="515719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r = instructor × teaches is: (instructor.ID, instructor.name, </a:t>
            </a:r>
            <a:r>
              <a:rPr lang="en-I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instructor.dept_name</a:t>
            </a: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instructor.salary</a:t>
            </a: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, teaches.ID, </a:t>
            </a:r>
            <a:r>
              <a:rPr lang="en-I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teaches.course_id</a:t>
            </a: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teaches.sec_id</a:t>
            </a: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teaches.semester</a:t>
            </a: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IN" altLang="en-US" dirty="0" err="1">
                <a:latin typeface="Arial" panose="020B0604020202020204" pitchFamily="34" charset="0"/>
                <a:cs typeface="Arial" panose="020B0604020202020204" pitchFamily="34" charset="0"/>
              </a:rPr>
              <a:t>teaches.year</a:t>
            </a:r>
            <a:r>
              <a:rPr lang="en-IN" altLang="en-US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altLang="en-US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0688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Rename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682" y="980728"/>
            <a:ext cx="9131374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Used to rename a relation or an attribute or an algebraic expression of a relation and is denoted by the lowercase Greek letter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 </a:t>
            </a:r>
            <a:r>
              <a:rPr lang="en-IN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rho ()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E.g.,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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 (E) returns the expression E under the name X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If a relational-algebra expression E has arity n, then                                    </a:t>
            </a:r>
            <a:endParaRPr lang="en-US" altLang="en-US" sz="2000" kern="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63538" algn="just">
              <a:lnSpc>
                <a:spcPct val="150000"/>
              </a:lnSpc>
              <a:defRPr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returns the result of expression E under the name X, and with the attributes renamed to A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, A</a:t>
            </a:r>
            <a:r>
              <a:rPr lang="en-US" altLang="en-US" sz="2000" kern="0" baseline="-25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, …., 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  <a:p>
            <a:pPr marL="361950" indent="-3619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the highest salary in the university with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alt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chema Instructor(ID, name, </a:t>
            </a:r>
            <a:r>
              <a:rPr lang="en-US" altLang="en-US" sz="20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,</a:t>
            </a:r>
            <a:r>
              <a:rPr lang="en-US" altLang="en-US" sz="2000" dirty="0" smtClean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salary)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7889" y="2987799"/>
            <a:ext cx="2506960" cy="80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738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Rename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978" y="1052736"/>
            <a:ext cx="4976043" cy="345638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157188" y="4581128"/>
            <a:ext cx="28296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Instructor X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d.instructor</a:t>
            </a:r>
            <a:endParaRPr lang="en-IN" sz="2000" dirty="0"/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6479" y="4907632"/>
            <a:ext cx="9137521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Salary that are not the largest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36" y="5013176"/>
            <a:ext cx="1228725" cy="1124326"/>
          </a:xfrm>
          <a:prstGeom prst="rect">
            <a:avLst/>
          </a:prstGeom>
        </p:spPr>
      </p:pic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395536" y="5395282"/>
            <a:ext cx="7884367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instructor.salary</a:t>
            </a: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kumimoji="0"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kumimoji="0"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instructor.salary</a:t>
            </a:r>
            <a:r>
              <a:rPr kumimoji="0"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kumimoji="0"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d.salary</a:t>
            </a:r>
            <a:r>
              <a:rPr kumimoji="0"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(instructor × </a:t>
            </a:r>
            <a:r>
              <a:rPr kumimoji="0"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kumimoji="0"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kumimoji="0"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(instructor)))</a:t>
            </a:r>
          </a:p>
        </p:txBody>
      </p:sp>
    </p:spTree>
    <p:extLst>
      <p:ext uri="{BB962C8B-B14F-4D97-AF65-F5344CB8AC3E}">
        <p14:creationId xmlns:p14="http://schemas.microsoft.com/office/powerpoint/2010/main" val="188914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Rename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0" y="980728"/>
            <a:ext cx="9137521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Arial" panose="020B0604020202020204" pitchFamily="34" charset="0"/>
              <a:buChar char="•"/>
              <a:defRPr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Largest </a:t>
            </a:r>
            <a:r>
              <a:rPr lang="en-IN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Salary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098" y="732309"/>
            <a:ext cx="1247775" cy="752475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5496" y="1506850"/>
            <a:ext cx="9137521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salary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(instructor) - </a:t>
            </a:r>
            <a:r>
              <a:rPr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π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instructor.salary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σ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instructor.salary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d.salary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(instructor × </a:t>
            </a:r>
            <a:r>
              <a:rPr lang="el-GR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d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(instructor)))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2109066"/>
            <a:ext cx="9144000" cy="2805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Compute first a temporary relation consisting of those salaries that are not the largest and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Take the set difference between the relation salary (instructor) and the temporary relation just computed, to obtain the result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fetch customer names from customer relation and to rename the resulted relation to CUST_NAMES</a:t>
            </a: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1" t="43199" r="53802" b="23161"/>
          <a:stretch>
            <a:fillRect/>
          </a:stretch>
        </p:blipFill>
        <p:spPr bwMode="auto">
          <a:xfrm>
            <a:off x="3707904" y="4365104"/>
            <a:ext cx="5140207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/>
          <p:cNvSpPr/>
          <p:nvPr/>
        </p:nvSpPr>
        <p:spPr>
          <a:xfrm>
            <a:off x="4933428" y="5949280"/>
            <a:ext cx="266290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The customer relation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42349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472480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Rename </a:t>
            </a:r>
            <a:r>
              <a:rPr lang="en-IN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 </a:t>
            </a:r>
            <a:r>
              <a:rPr lang="en-IN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ρ</a:t>
            </a:r>
            <a:r>
              <a:rPr lang="en-US" altLang="en-US" sz="24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)</a:t>
            </a:r>
            <a:endParaRPr lang="en-IN" sz="24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b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7774" y="6492875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91" t="27757" r="57730" b="18382"/>
          <a:stretch>
            <a:fillRect/>
          </a:stretch>
        </p:blipFill>
        <p:spPr bwMode="auto">
          <a:xfrm>
            <a:off x="2331051" y="908720"/>
            <a:ext cx="4733925" cy="394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2102649" y="4869160"/>
            <a:ext cx="5190728" cy="609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l-GR" sz="2000" dirty="0">
                <a:latin typeface="Arial" panose="020B0604020202020204" pitchFamily="34" charset="0"/>
                <a:cs typeface="Arial" panose="020B0604020202020204" pitchFamily="34" charset="0"/>
              </a:rPr>
              <a:t>ρ(</a:t>
            </a:r>
            <a:r>
              <a:rPr lang="en-IN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CUST_NAMES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, ∏</a:t>
            </a:r>
            <a:r>
              <a:rPr lang="en-IN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IN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Customer_Name</a:t>
            </a:r>
            <a:r>
              <a:rPr lang="en-IN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(CUSTOMER))</a:t>
            </a:r>
          </a:p>
        </p:txBody>
      </p:sp>
    </p:spTree>
    <p:extLst>
      <p:ext uri="{BB962C8B-B14F-4D97-AF65-F5344CB8AC3E}">
        <p14:creationId xmlns:p14="http://schemas.microsoft.com/office/powerpoint/2010/main" val="4134187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3" name="Rectangle 2"/>
          <p:cNvSpPr/>
          <p:nvPr/>
        </p:nvSpPr>
        <p:spPr>
          <a:xfrm>
            <a:off x="-18002" y="1052736"/>
            <a:ext cx="914400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Binary operation that allows us to combine certain selections and a </a:t>
            </a:r>
            <a:r>
              <a:rPr lang="en-IN" altLang="en-US" sz="2000" kern="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cartesian</a:t>
            </a:r>
            <a:r>
              <a:rPr lang="en-IN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product into one operation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Denoted by the join symbol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r     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Let r and s be relations on schemas R and S respectively. The result is a relation on schema R      S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E.g., R = (A, B, C, D) and S = (E, B, D), then Result schema = (A, B, C, D, 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r     s is defined as: 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r.A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r.C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r.D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s.E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r.B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s.B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r.D</a:t>
            </a:r>
            <a:r>
              <a:rPr lang="en-US" altLang="en-US" sz="2000" kern="0" baseline="-25000" dirty="0" smtClean="0">
                <a:latin typeface="Arial" panose="020B0604020202020204" pitchFamily="34" charset="0"/>
                <a:cs typeface="Arial" panose="020B0604020202020204" pitchFamily="34" charset="0"/>
              </a:rPr>
              <a:t> = </a:t>
            </a:r>
            <a:r>
              <a:rPr lang="en-US" altLang="en-US" sz="2000" kern="0" baseline="-250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s.D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</a:rPr>
              <a:t> (r  x  s))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Note: If r(R) and s(S) are relations without any attributes in common, that is, R ∩ S = ∅, then  r     s = r × s</a:t>
            </a:r>
            <a:endParaRPr lang="en-I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utoShape 35"/>
          <p:cNvSpPr>
            <a:spLocks noChangeArrowheads="1"/>
          </p:cNvSpPr>
          <p:nvPr/>
        </p:nvSpPr>
        <p:spPr bwMode="auto">
          <a:xfrm rot="16200000" flipV="1">
            <a:off x="3635896" y="2204865"/>
            <a:ext cx="152400" cy="152400"/>
          </a:xfrm>
          <a:prstGeom prst="flowChartCollat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IN" altLang="en-US" sz="1800"/>
          </a:p>
        </p:txBody>
      </p:sp>
      <p:sp>
        <p:nvSpPr>
          <p:cNvPr id="17" name="AutoShape 35"/>
          <p:cNvSpPr>
            <a:spLocks noChangeArrowheads="1"/>
          </p:cNvSpPr>
          <p:nvPr/>
        </p:nvSpPr>
        <p:spPr bwMode="auto">
          <a:xfrm rot="16200000" flipV="1">
            <a:off x="611560" y="2628528"/>
            <a:ext cx="152400" cy="152400"/>
          </a:xfrm>
          <a:prstGeom prst="flowChartCollat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IN" altLang="en-US" sz="1800"/>
          </a:p>
        </p:txBody>
      </p:sp>
      <p:sp>
        <p:nvSpPr>
          <p:cNvPr id="18" name="AutoShape 35"/>
          <p:cNvSpPr>
            <a:spLocks noChangeArrowheads="1"/>
          </p:cNvSpPr>
          <p:nvPr/>
        </p:nvSpPr>
        <p:spPr bwMode="auto">
          <a:xfrm rot="16200000" flipV="1">
            <a:off x="2915816" y="3564632"/>
            <a:ext cx="152400" cy="152400"/>
          </a:xfrm>
          <a:prstGeom prst="flowChartCollat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IN" altLang="en-US" sz="1800"/>
          </a:p>
        </p:txBody>
      </p:sp>
      <p:sp>
        <p:nvSpPr>
          <p:cNvPr id="19" name="AutoShape 35"/>
          <p:cNvSpPr>
            <a:spLocks noChangeArrowheads="1"/>
          </p:cNvSpPr>
          <p:nvPr/>
        </p:nvSpPr>
        <p:spPr bwMode="auto">
          <a:xfrm rot="16200000" flipV="1">
            <a:off x="603176" y="4941168"/>
            <a:ext cx="152400" cy="152400"/>
          </a:xfrm>
          <a:prstGeom prst="flowChartCollat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IN" altLang="en-US" sz="1800"/>
          </a:p>
        </p:txBody>
      </p:sp>
      <p:sp>
        <p:nvSpPr>
          <p:cNvPr id="20" name="AutoShape 35"/>
          <p:cNvSpPr>
            <a:spLocks noChangeArrowheads="1"/>
          </p:cNvSpPr>
          <p:nvPr/>
        </p:nvSpPr>
        <p:spPr bwMode="auto">
          <a:xfrm rot="16200000" flipV="1">
            <a:off x="2475384" y="5877273"/>
            <a:ext cx="152400" cy="152400"/>
          </a:xfrm>
          <a:prstGeom prst="flowChartCollat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defRPr kumimoji="1" sz="3200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2"/>
              <a:buChar char="l"/>
              <a:defRPr kumimoji="1" sz="2800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 sz="2400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IN" altLang="en-US" sz="1800"/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Natural-Join Operation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1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16440" y="1052736"/>
            <a:ext cx="9127559" cy="409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 r, s: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01" y="1462311"/>
            <a:ext cx="5682226" cy="4702993"/>
          </a:xfrm>
          <a:prstGeom prst="rect">
            <a:avLst/>
          </a:prstGeom>
        </p:spPr>
      </p:pic>
      <p:sp>
        <p:nvSpPr>
          <p:cNvPr id="10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Natural-Join Operation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735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Assignment Operation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37286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Relational-algebra expression assign a part of a temporary relation variables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using assignment operation (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Assignment must always be made to a temporary relation variable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E.g.,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temp1</a:t>
            </a:r>
            <a:r>
              <a:rPr lang="en-US" altLang="en-US" sz="2000" baseline="30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 × S,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temp2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  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r.A1 =s.A1 ∧ r.A2 =s.A2 ∧...∧ 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r.An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=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s.An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(temp1), then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/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	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Result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=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 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R ∪ S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(temp2)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 result to the right of the  is assigned to the relation variable on the left of the 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May use variable in subsequent expressions</a:t>
            </a:r>
          </a:p>
        </p:txBody>
      </p:sp>
    </p:spTree>
    <p:extLst>
      <p:ext uri="{BB962C8B-B14F-4D97-AF65-F5344CB8AC3E}">
        <p14:creationId xmlns:p14="http://schemas.microsoft.com/office/powerpoint/2010/main" val="4291438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Generalized Projection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Extends the projection operation by allowing arithmetic functions to be used in the projection list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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F1, F2, …, 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(E) where E is any relational-algebra expression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of F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F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are arithmetic expressions involving constants and attributes in the schema of 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E.g.,  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ID, name, 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name, salary÷12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(instructor) gives the ID, name,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name, and the monthly salary of each instructor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9068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Aggregate Functions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Takes a collection of values and returns a single value as a result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  <a:defRPr/>
            </a:pP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average value, min: minimum value, max: maximum value, sum: sum of values, count: number of values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Aggregate operation in relational algebra 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G1, G2, …, 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Gn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g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F1( A1), F2( A2),…, 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Fn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( An)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(E)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Here, E is any relational-algebra expression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2119313" algn="l"/>
                <a:tab pos="2689225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G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 list of attributes on which to group (can be empty), Each F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an aggregate function, Each A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is an attribute name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E.g.1, To find the average salary in each department</a:t>
            </a:r>
          </a:p>
          <a:p>
            <a:pPr algn="ctr">
              <a:lnSpc>
                <a:spcPct val="150000"/>
              </a:lnSpc>
              <a:defRPr/>
            </a:pP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lang="en-IN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G </a:t>
            </a:r>
            <a:r>
              <a:rPr lang="en-IN" altLang="en-US" sz="2000" baseline="-25000" dirty="0">
                <a:latin typeface="Arial" panose="020B0604020202020204" pitchFamily="34" charset="0"/>
                <a:cs typeface="Arial" panose="020B0604020202020204" pitchFamily="34" charset="0"/>
              </a:rPr>
              <a:t>average(salary)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(instructor)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E.g.2, To find out the sum of salaries of all instructors </a:t>
            </a:r>
            <a:r>
              <a:rPr lang="en-IN" sz="2000" dirty="0" err="1"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  <a:r>
              <a:rPr lang="en-IN" sz="2000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sum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(salary)(instructor)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91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5113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non-procedural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query language, where each query is of the form {t | P (t ) 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of all tuples t such that predicate P is true for t and t is a tuple variable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r denotes that tuple t is in relation r and P is similar to predicate calculus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Predicate Calculus includes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3195638" algn="ctr"/>
              </a:tabLst>
              <a:defRPr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of attributes and constants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Set of comparison operators:  (e.g.,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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, , , , )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Set of connectives:  and (), or (v)‚ not ()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Implication (): x  y, if x if true, then y is true means x  y x v y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Set of quantifiers: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t r (Q(t)) ”there exists” a tuple in t in relation r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t r (Q(t)) Q is true “for all” tuples t in relation r</a:t>
            </a:r>
          </a:p>
        </p:txBody>
      </p:sp>
    </p:spTree>
    <p:extLst>
      <p:ext uri="{BB962C8B-B14F-4D97-AF65-F5344CB8AC3E}">
        <p14:creationId xmlns:p14="http://schemas.microsoft.com/office/powerpoint/2010/main" val="361373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4293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  <a:defRPr/>
            </a:pPr>
            <a:r>
              <a:rPr lang="en-IN" sz="2000" b="1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itchFamily="34" charset="0"/>
              </a:rPr>
              <a:t>Schema for the University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Instructor(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ID,name,dept_name,salary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Teaches(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ID,course_id,sec_id,semester,year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Takes(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ID,course_id,sec_id,semester,year,grade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Section(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course_id,sec_id,semester,year,building,room_no,time_slot_id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Student(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ID,name,dept_name,tot_cred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Classroom(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building,room_no,capacity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Department(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dept_name,building,Budget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Course(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course_id,title,dept_name,credits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561" y="5308268"/>
            <a:ext cx="9144000" cy="496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Relational Calculus:</a:t>
            </a:r>
          </a:p>
        </p:txBody>
      </p:sp>
      <p:pic>
        <p:nvPicPr>
          <p:cNvPr id="11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26" y="5301208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7086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  <a:defRPr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Queries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the ID, name,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salary for instructors whose salary is greater than $80,000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t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instructor  t [salary ]  80000}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Notice that a relation on schema (ID, name,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salary) is implicitly defined by the query 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As in the previous query, but output only the ID attribute value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s instructor (t [ID ] = s [ID ]  s [salary ]  80000)}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Notice that a relation on schema (ID) is implicitly defined by the query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-1561" y="5301208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Tuple Relational Calculus: Part-I:                             Part-II:</a:t>
            </a:r>
          </a:p>
        </p:txBody>
      </p:sp>
      <p:pic>
        <p:nvPicPr>
          <p:cNvPr id="15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794" y="5301208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3">
            <a:hlinkClick r:id="rId4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106" y="5301208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678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  <a:defRPr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Queries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the names of all instructors whose department is in the Watson building</a:t>
            </a: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s  instructor (t [name ] = s [name ]  u  department (u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s[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  u [building] = “Watson” ))}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find the set of all courses taught in the Fall 2009 semester, or in </a:t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the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Spring 2010 semester, or both</a:t>
            </a: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s  section (t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s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 s [semester] = “Fall”  s [year] = 2009 v u  section (t 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 u [semester] = “Spring”  u [year] = 2010 </a:t>
            </a:r>
            <a:r>
              <a:rPr lang="en-US" altLang="en-US" sz="2000" dirty="0" smtClean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)}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1563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5113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  <a:defRPr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Example Queries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 find the set of all courses taught in the Fall 2009 semester, and in the Spring 2010 semester</a:t>
            </a: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s  section (t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s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 s [semester] = “Fall”  s [year] = 2009  u  section (t 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 u [semester] = “Spring”  u [year] = 2010 )}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 find the set of all courses taught in the Fall 2009 semester, but not in     the Spring 2010 semester</a:t>
            </a: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s  section (t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s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 s [semester] = “Fall”  s [year] = 2009   u  section (t 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= 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]  u [semester] = “Spring”  u [year] = 2010 )}</a:t>
            </a:r>
          </a:p>
        </p:txBody>
      </p:sp>
    </p:spTree>
    <p:extLst>
      <p:ext uri="{BB962C8B-B14F-4D97-AF65-F5344CB8AC3E}">
        <p14:creationId xmlns:p14="http://schemas.microsoft.com/office/powerpoint/2010/main" val="4126684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5113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  <a:defRPr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Universal Quantification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all students who have taken all courses offered in the Biology department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r  student (t [ID] = r [ID])  ( u  course (u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]=“Biology”       s  takes (t [ID] = s [ID ]  s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= 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]))}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Safety of Expressions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Possible to write tuple calculus expressions that generate infinite relations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{ 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 t r } results in an infinite relation if the domain of any attribute of relation r is infinite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 guard against the problem, restrict the set of allowable expressions to safe expressions</a:t>
            </a:r>
          </a:p>
        </p:txBody>
      </p:sp>
    </p:spTree>
    <p:extLst>
      <p:ext uri="{BB962C8B-B14F-4D97-AF65-F5344CB8AC3E}">
        <p14:creationId xmlns:p14="http://schemas.microsoft.com/office/powerpoint/2010/main" val="1227431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5113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63538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An expression {t | P (t )} is safe if every component of t appears in one of the relations, tuples, or constants that appear in P</a:t>
            </a:r>
          </a:p>
          <a:p>
            <a:pPr marL="363538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Note: This is more than just a syntax condition</a:t>
            </a:r>
          </a:p>
          <a:p>
            <a:pPr marL="363538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E.g., { t | t [A] = 5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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true } is not safe --- it defines an infinite set with attribute values that do not appear in any relation or tuples or constants in P</a:t>
            </a:r>
          </a:p>
          <a:p>
            <a:pPr marL="363538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again that query to find all students who have taken all courses offered in the Biology department</a:t>
            </a: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{t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r  student (t [ID] = r [ID])  ( u  course (u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]=“Biology” 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/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                        s  takes (t [ID] = s [ID ]  s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 = u [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course_id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]))}</a:t>
            </a:r>
          </a:p>
          <a:p>
            <a:pPr marL="363538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Without the existential quantification on student, the above query would be unsafe if the Biology department has not offered any courses</a:t>
            </a:r>
          </a:p>
        </p:txBody>
      </p:sp>
    </p:spTree>
    <p:extLst>
      <p:ext uri="{BB962C8B-B14F-4D97-AF65-F5344CB8AC3E}">
        <p14:creationId xmlns:p14="http://schemas.microsoft.com/office/powerpoint/2010/main" val="367172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5113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nonprocedural query language equivalent in power to the tuple relational calculus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Each query is an expression of the form: {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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 | P (x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)}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represent domain variables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P represents a formula similar to that of the predicate calculus</a:t>
            </a:r>
          </a:p>
          <a:p>
            <a:pPr algn="just">
              <a:lnSpc>
                <a:spcPct val="150000"/>
              </a:lnSpc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Example Queries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the ID, name,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dept_name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salary  for instructors whose salary is greater than $80,000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n, d, s&gt; |  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n, d, s&gt;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instructor  s  80000}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As in the previous query, but output only the ID attribute value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&gt;  | 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n, d, s&gt;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 instructor  s  80000}</a:t>
            </a:r>
            <a:endParaRPr lang="en-US" altLang="en-US" sz="2000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255195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37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41897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Example Queries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the names of all instructors whose department is in the Watson building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 n &gt;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d, s (&lt;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n, d, s &gt;  instructor   b, a (&lt; d, b, a&gt;  department  b = “Watson” ))}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 find the set of all courses taught in the Fall 2009 semester, or in the Spring 2010 semester, or both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{&lt;c&gt; | 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a, s, y, b, r, t  ( &lt;c, a, s, y, b, r, t &gt;  section  s = “Fall”  y = 2009 ) v  a, s, y, b, r, t ( &lt;c, a, s, y, b, r, t &gt;  section ]  s = “Spring”  y = 2010)}</a:t>
            </a:r>
          </a:p>
        </p:txBody>
      </p:sp>
      <p:sp>
        <p:nvSpPr>
          <p:cNvPr id="10" name="Rectangle 9"/>
          <p:cNvSpPr/>
          <p:nvPr/>
        </p:nvSpPr>
        <p:spPr>
          <a:xfrm>
            <a:off x="-1561" y="5301208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Domain Relational Calculus: Part-I:                             Part-II:</a:t>
            </a:r>
          </a:p>
        </p:txBody>
      </p:sp>
      <p:pic>
        <p:nvPicPr>
          <p:cNvPr id="11" name="Picture 3">
            <a:hlinkClick r:id="rId2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5818" y="5301208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3">
            <a:hlinkClick r:id="rId4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5301208"/>
            <a:ext cx="576262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525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38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37280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Example Queries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case can also be written as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{&lt;c&gt; | 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a, s, y, b, r, t  ( &lt;c, a, s, y, b, r, t &gt;  section  ( (s = “Fall”  y = 2009) v (s = “Spring”  y = 2010))}</a:t>
            </a:r>
            <a:endParaRPr lang="en-US" altLang="en-US" sz="2000" baseline="-25000" dirty="0">
              <a:latin typeface="Arial" panose="020B0604020202020204" pitchFamily="34" charset="0"/>
              <a:cs typeface="Arial" panose="020B0604020202020204" pitchFamily="34" charset="0"/>
              <a:sym typeface="Symbol" panose="05050102010706020507" pitchFamily="18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To find the set of all courses taught in the Fall 2009 semester, and in the Spring 2010 semester </a:t>
            </a:r>
          </a:p>
          <a:p>
            <a:pPr algn="ctr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{&lt;c&gt;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a, s, y, b, r, t ( &lt;c, a, s, y, b, r, t &gt;  section  s = “Fall”  y = 2009)</a:t>
            </a:r>
            <a:b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  a, s, y, b, r, t ( &lt;c, a, s, y, b, r, t &gt;  section]  s = “Spring”  y = 2010)}</a:t>
            </a:r>
          </a:p>
        </p:txBody>
      </p:sp>
    </p:spTree>
    <p:extLst>
      <p:ext uri="{BB962C8B-B14F-4D97-AF65-F5344CB8AC3E}">
        <p14:creationId xmlns:p14="http://schemas.microsoft.com/office/powerpoint/2010/main" val="216426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39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Safety of Expressions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5000" algn="l"/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The expression: {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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 | P (x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x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…,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baseline="-25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)} is safe if all of the following hold: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5000" algn="l"/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All values that appear in tuples of the expression are values from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dom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(P) (that is, the values appear either in P or in a tuple of a relation mentioned in P)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5000" algn="l"/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For every “there exists”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subformula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of the form  x (P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(x)), the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subformula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true if and only if there is a value of x in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dom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(P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 such that P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(x) is true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635000" algn="l"/>
                <a:tab pos="3195638" algn="ctr"/>
              </a:tabLst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For every “for all”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subformula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of the form 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(P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(x)), the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subformula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true if and only if P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(x) is true for all values x from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dom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(P</a:t>
            </a:r>
            <a:r>
              <a:rPr lang="en-US" altLang="en-US" sz="2000" baseline="-25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75167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53336"/>
            <a:ext cx="58681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itle 1"/>
          <p:cNvSpPr txBox="1">
            <a:spLocks/>
          </p:cNvSpPr>
          <p:nvPr/>
        </p:nvSpPr>
        <p:spPr>
          <a:xfrm>
            <a:off x="395536" y="328464"/>
            <a:ext cx="8388932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Domain Relational Calculus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18002" y="1052736"/>
            <a:ext cx="9144000" cy="3266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tabLst>
                <a:tab pos="3195638" algn="ctr"/>
              </a:tabLst>
            </a:pP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Universal Quantification</a:t>
            </a:r>
            <a:endParaRPr lang="en-US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To find all students who have taken all courses offered in the Biology department </a:t>
            </a:r>
          </a:p>
          <a:p>
            <a:pPr algn="ctr">
              <a:lnSpc>
                <a:spcPct val="150000"/>
              </a:lnSpc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{&lt;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&gt; |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n, d,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tc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 &lt;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n, d,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tc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&gt;  student  ( ci,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( &lt; ci,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ti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cr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&gt;  course 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dn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=“Biology” 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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se, y, g ( &lt;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ci, </a:t>
            </a:r>
            <a:r>
              <a:rPr lang="en-US" altLang="en-US" sz="2000" dirty="0" err="1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si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, se, y, g&gt;  takes ))}</a:t>
            </a:r>
          </a:p>
          <a:p>
            <a:pPr marL="363538" lvl="1" indent="-363538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Note: Without the existential quantification on student, the above query would be unsafe if the Biology department has not offered any courses</a:t>
            </a:r>
          </a:p>
        </p:txBody>
      </p:sp>
    </p:spTree>
    <p:extLst>
      <p:ext uri="{BB962C8B-B14F-4D97-AF65-F5344CB8AC3E}">
        <p14:creationId xmlns:p14="http://schemas.microsoft.com/office/powerpoint/2010/main" val="117580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Summary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17181"/>
            <a:ext cx="9144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Relational Algebra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Schema for the University Database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Select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)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Project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)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Union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)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Set Difference Operation (–)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Set-Intersection Operation (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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Cartesian-Product Operation (x)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</a:rPr>
              <a:t>Rename Operation (</a:t>
            </a: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)</a:t>
            </a:r>
            <a:endParaRPr lang="en-IN" altLang="en-US" sz="2000" dirty="0">
              <a:latin typeface="Arial" panose="020B0604020202020204" pitchFamily="34" charset="0"/>
              <a:cs typeface="Arial" pitchFamily="34" charset="0"/>
              <a:sym typeface="Symbol" pitchFamily="18" charset="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Natural-Join </a:t>
            </a:r>
            <a:r>
              <a:rPr lang="en-US" altLang="en-US" sz="2000" kern="0" dirty="0" smtClean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Operation</a:t>
            </a:r>
            <a:endParaRPr lang="en-US" altLang="en-US" sz="2000" kern="0" dirty="0">
              <a:latin typeface="Arial" panose="020B0604020202020204" pitchFamily="34" charset="0"/>
              <a:cs typeface="Arial" panose="020B0604020202020204" pitchFamily="34" charset="0"/>
              <a:sym typeface="Symbol" pitchFamily="18" charset="2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41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99992" y="1628800"/>
            <a:ext cx="4644008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Assignment Operation</a:t>
            </a:r>
            <a:endParaRPr lang="en-US" sz="2000" dirty="0" smtClean="0">
              <a:latin typeface="Arial" panose="020B0604020202020204" pitchFamily="34" charset="0"/>
              <a:cs typeface="Arial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Arial" panose="020B0604020202020204" pitchFamily="34" charset="0"/>
                <a:cs typeface="Arial" pitchFamily="34" charset="0"/>
              </a:rPr>
              <a:t>Generalized </a:t>
            </a:r>
            <a:r>
              <a:rPr lang="en-US" sz="2000" dirty="0">
                <a:latin typeface="Arial" panose="020B0604020202020204" pitchFamily="34" charset="0"/>
                <a:cs typeface="Arial" pitchFamily="34" charset="0"/>
              </a:rPr>
              <a:t>Projection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itchFamily="34" charset="0"/>
                <a:sym typeface="Symbol" pitchFamily="18" charset="2"/>
              </a:rPr>
              <a:t>Aggregate Functions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itchFamily="34" charset="0"/>
                <a:sym typeface="Symbol" pitchFamily="18" charset="2"/>
              </a:rPr>
              <a:t>Tuple Relational Calculus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kern="0" dirty="0">
                <a:latin typeface="Arial" panose="020B0604020202020204" pitchFamily="34" charset="0"/>
                <a:cs typeface="Arial" pitchFamily="34" charset="0"/>
                <a:sym typeface="Symbol" pitchFamily="18" charset="2"/>
              </a:rPr>
              <a:t>Domain Relational Calculus</a:t>
            </a: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0" y="404664"/>
            <a:ext cx="9144000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031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17181"/>
            <a:ext cx="9144000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rabi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Write the </a:t>
            </a:r>
            <a:r>
              <a:rPr lang="en-IN" altLang="en-US" sz="2000" dirty="0" smtClean="0">
                <a:latin typeface="Arial" panose="020B0604020202020204" pitchFamily="34" charset="0"/>
                <a:cs typeface="Arial" panose="020B0604020202020204" pitchFamily="34" charset="0"/>
              </a:rPr>
              <a:t>queries 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relational algebra, using the university schema.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titles of courses in the Comp. Sci. department that have 3 credits.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IDs of all students who were taught by an instructor named Einstein; make sure there are no duplicates in the result.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highest salary of any instructor.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all instructors earning the highest salary (there may be more than one with the same salary).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of each section that was offered in Autumn 2009. 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maximum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across all sections, in Autumn 2009. </a:t>
            </a:r>
          </a:p>
          <a:p>
            <a:pPr marL="457200" indent="-457200" algn="just">
              <a:lnSpc>
                <a:spcPct val="150000"/>
              </a:lnSpc>
              <a:buAutoNum type="alphaLcPeriod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sections that had the maximum </a:t>
            </a:r>
            <a:r>
              <a:rPr lang="en-IN" alt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enrollment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in Autumn 2009.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42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Algebra, Relational Calculus – Fundamental Operations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26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17181"/>
            <a:ext cx="9144000" cy="4651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2.   Consider the employee database</a:t>
            </a:r>
          </a:p>
          <a:p>
            <a:pPr marL="444500" algn="just"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employee (</a:t>
            </a:r>
            <a:r>
              <a:rPr lang="en-IN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person 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street, city )</a:t>
            </a:r>
          </a:p>
          <a:p>
            <a:pPr marL="444500" algn="just"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works (</a:t>
            </a:r>
            <a:r>
              <a:rPr lang="en-IN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person 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company name, salary)</a:t>
            </a:r>
          </a:p>
          <a:p>
            <a:pPr marL="444500" algn="just"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company (</a:t>
            </a:r>
            <a:r>
              <a:rPr lang="en-IN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company 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city)</a:t>
            </a:r>
          </a:p>
          <a:p>
            <a:pPr marL="444500" algn="just"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manages (</a:t>
            </a:r>
            <a:r>
              <a:rPr lang="en-IN" alt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person name</a:t>
            </a: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, manager name)</a:t>
            </a:r>
          </a:p>
          <a:p>
            <a:pPr marL="444500" algn="just">
              <a:lnSpc>
                <a:spcPct val="150000"/>
              </a:lnSpc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Consider the relational database of employee, where the primary keys are underlined. Give an expression in the relational algebra to express each of the following queries:</a:t>
            </a:r>
          </a:p>
          <a:p>
            <a:pPr marL="457200" indent="-457200" algn="just">
              <a:lnSpc>
                <a:spcPct val="150000"/>
              </a:lnSpc>
              <a:buAutoNum type="alphaLcPeriod"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names of all employees who live in the same city and on the same street as do their managers.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43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fr-FR" sz="2200" b="1" dirty="0" smtClean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2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b="1" dirty="0" smtClean="0">
              <a:latin typeface="Arial" panose="020B0604020202020204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</a:pP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251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611560" y="692696"/>
            <a:ext cx="792088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3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itchFamily="34" charset="0"/>
              </a:rPr>
              <a:t>Try Yourself</a:t>
            </a: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1617181"/>
            <a:ext cx="9144000" cy="4190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AutoNum type="alphaLcPeriod" startAt="2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names of all employees in this database who do not work for “First Bank Corporation”.</a:t>
            </a:r>
          </a:p>
          <a:p>
            <a:pPr marL="457200" indent="-457200" algn="just">
              <a:lnSpc>
                <a:spcPct val="150000"/>
              </a:lnSpc>
              <a:buAutoNum type="alphaLcPeriod" startAt="2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names of all employees who earn more than every employee of “Small Bank Corporation”.</a:t>
            </a:r>
          </a:p>
          <a:p>
            <a:pPr marL="457200" indent="-457200" algn="just">
              <a:lnSpc>
                <a:spcPct val="150000"/>
              </a:lnSpc>
              <a:buAutoNum type="alphaLcPeriod" startAt="2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all employees who work directly for “Jones”.</a:t>
            </a:r>
          </a:p>
          <a:p>
            <a:pPr marL="457200" indent="-457200" algn="just">
              <a:lnSpc>
                <a:spcPct val="150000"/>
              </a:lnSpc>
              <a:buAutoNum type="alphaLcPeriod" startAt="2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all cities of residence of all employees who work directly for “Jones”.</a:t>
            </a:r>
          </a:p>
          <a:p>
            <a:pPr marL="457200" indent="-457200" algn="just">
              <a:lnSpc>
                <a:spcPct val="150000"/>
              </a:lnSpc>
              <a:buAutoNum type="alphaLcPeriod" startAt="2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the name of the manager of the manager of “Jones”.</a:t>
            </a:r>
          </a:p>
          <a:p>
            <a:pPr marL="457200" indent="-457200" algn="just">
              <a:lnSpc>
                <a:spcPct val="150000"/>
              </a:lnSpc>
              <a:buAutoNum type="alphaLcPeriod" startAt="2"/>
              <a:defRPr/>
            </a:pPr>
            <a:r>
              <a:rPr lang="en-I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Find those employees who earn more than all employees living in the city “Mumbai”.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44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itle 1"/>
          <p:cNvSpPr txBox="1">
            <a:spLocks/>
          </p:cNvSpPr>
          <p:nvPr/>
        </p:nvSpPr>
        <p:spPr>
          <a:xfrm>
            <a:off x="0" y="404664"/>
            <a:ext cx="9144000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200" b="1" dirty="0" err="1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957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2"/>
          <p:cNvSpPr txBox="1">
            <a:spLocks/>
          </p:cNvSpPr>
          <p:nvPr/>
        </p:nvSpPr>
        <p:spPr>
          <a:xfrm>
            <a:off x="0" y="6453336"/>
            <a:ext cx="9144000" cy="404664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</a:t>
            </a:r>
          </a:p>
          <a:p>
            <a:pPr algn="r">
              <a:defRPr/>
            </a:pP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                                                    </a:t>
            </a:r>
            <a:endParaRPr lang="en-US" sz="1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160" y="2891609"/>
            <a:ext cx="9144000" cy="5373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Session 5 </a:t>
            </a: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– </a:t>
            </a:r>
            <a:r>
              <a:rPr lang="en-US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KEYS-PRIMARY KEY, FOREIGN KEY</a:t>
            </a:r>
            <a:endParaRPr lang="en-US" sz="2200" b="1" dirty="0">
              <a:solidFill>
                <a:srgbClr val="C00000"/>
              </a:solidFill>
              <a:latin typeface="Arial" panose="020B0604020202020204" pitchFamily="34" charset="0"/>
              <a:cs typeface="Arial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7010400" y="6453336"/>
            <a:ext cx="2133600" cy="365125"/>
          </a:xfrm>
        </p:spPr>
        <p:txBody>
          <a:bodyPr/>
          <a:lstStyle/>
          <a:p>
            <a:fld id="{DDE39DD5-181C-42B6-8328-C1C2EC19C5EA}" type="slidenum">
              <a:rPr lang="en-IN" sz="1400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45</a:t>
            </a:fld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467544" y="184448"/>
            <a:ext cx="8172908" cy="1372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200" b="1" dirty="0" smtClean="0">
                <a:solidFill>
                  <a:srgbClr val="C00000"/>
                </a:solidFill>
                <a:latin typeface="Arial" panose="020B0604020202020204" pitchFamily="34" charset="0"/>
                <a:cs typeface="Arial" pitchFamily="34" charset="0"/>
              </a:rPr>
              <a:t> </a:t>
            </a:r>
            <a: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  <a:t/>
            </a:r>
            <a:br>
              <a:rPr lang="en-IN" sz="2200" b="1" dirty="0" smtClean="0">
                <a:latin typeface="Arial" panose="020B0604020202020204" pitchFamily="34" charset="0"/>
                <a:cs typeface="Arial" pitchFamily="34" charset="0"/>
              </a:rPr>
            </a:br>
            <a:endParaRPr lang="en-IN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ooter Placeholder 2"/>
          <p:cNvSpPr txBox="1">
            <a:spLocks/>
          </p:cNvSpPr>
          <p:nvPr/>
        </p:nvSpPr>
        <p:spPr>
          <a:xfrm>
            <a:off x="0" y="-14287"/>
            <a:ext cx="9144000" cy="381000"/>
          </a:xfrm>
          <a:prstGeom prst="rect">
            <a:avLst/>
          </a:prstGeom>
          <a:solidFill>
            <a:srgbClr val="6534DE"/>
          </a:solidFill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imes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" charset="0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Algebra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Domain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Calculus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Tuple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400" b="1" dirty="0" err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</a:t>
            </a:r>
            <a:r>
              <a:rPr lang="fr-FR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3"/>
          <p:cNvSpPr txBox="1">
            <a:spLocks/>
          </p:cNvSpPr>
          <p:nvPr/>
        </p:nvSpPr>
        <p:spPr>
          <a:xfrm>
            <a:off x="0" y="6453336"/>
            <a:ext cx="5940152" cy="4046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1-INTRODUCTION</a:t>
            </a:r>
            <a:endParaRPr lang="en-IN" sz="1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643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4860</TotalTime>
  <Words>4197</Words>
  <Application>Microsoft Office PowerPoint</Application>
  <PresentationFormat>On-screen Show (4:3)</PresentationFormat>
  <Paragraphs>550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Helvetica</vt:lpstr>
      <vt:lpstr>Monotype Sorts</vt:lpstr>
      <vt:lpstr>Symbol</vt:lpstr>
      <vt:lpstr>Wingdings</vt:lpstr>
      <vt:lpstr>Office Theme</vt:lpstr>
      <vt:lpstr>Title of Topic: Relational Algebra, Domain Relational Calculus, Tuple Relational Calculus Course Code: 23IT201 Course Title: DataBase Management Systems Session Number: 4 Academic Year: 2024 – 2025 (Even Sem)</vt:lpstr>
      <vt:lpstr>1. Introduction to DBMS, Characteristics of DBMS, DBMS vs File Systems, need for DBMS. 2. Three Level DBMS Architecture 3. Data Models Introduction, Benefits, and Phases 4. ER Diagrams – Symbols, Components, Relationships, Weak entities, Attributes, Cardinality. 5. Relational Algebra, Domain Relational Calculus, Tuple Relational 6.Calculus Keys - primary Key, Foreign Key.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18CS056 – THEORY OF COMPUTATION</dc:title>
  <dc:creator>Rose</dc:creator>
  <cp:lastModifiedBy>user</cp:lastModifiedBy>
  <cp:revision>748</cp:revision>
  <dcterms:created xsi:type="dcterms:W3CDTF">2020-05-18T09:43:19Z</dcterms:created>
  <dcterms:modified xsi:type="dcterms:W3CDTF">2025-01-11T05:09:06Z</dcterms:modified>
</cp:coreProperties>
</file>