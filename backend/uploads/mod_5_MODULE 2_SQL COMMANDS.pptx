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410" r:id="rId2"/>
    <p:sldId id="258" r:id="rId3"/>
    <p:sldId id="413" r:id="rId4"/>
    <p:sldId id="483" r:id="rId5"/>
    <p:sldId id="564" r:id="rId6"/>
    <p:sldId id="563" r:id="rId7"/>
    <p:sldId id="565" r:id="rId8"/>
    <p:sldId id="566" r:id="rId9"/>
    <p:sldId id="567" r:id="rId10"/>
    <p:sldId id="568" r:id="rId11"/>
    <p:sldId id="569" r:id="rId12"/>
    <p:sldId id="570" r:id="rId13"/>
    <p:sldId id="571" r:id="rId14"/>
    <p:sldId id="573" r:id="rId15"/>
    <p:sldId id="574" r:id="rId16"/>
    <p:sldId id="575" r:id="rId17"/>
    <p:sldId id="576" r:id="rId18"/>
    <p:sldId id="577" r:id="rId19"/>
    <p:sldId id="578" r:id="rId20"/>
    <p:sldId id="579" r:id="rId21"/>
    <p:sldId id="580" r:id="rId22"/>
    <p:sldId id="581" r:id="rId23"/>
    <p:sldId id="582" r:id="rId24"/>
    <p:sldId id="583" r:id="rId25"/>
    <p:sldId id="584" r:id="rId26"/>
    <p:sldId id="585" r:id="rId27"/>
    <p:sldId id="586" r:id="rId28"/>
    <p:sldId id="587" r:id="rId29"/>
    <p:sldId id="588" r:id="rId30"/>
    <p:sldId id="589" r:id="rId31"/>
    <p:sldId id="590" r:id="rId32"/>
    <p:sldId id="591" r:id="rId33"/>
    <p:sldId id="592" r:id="rId34"/>
    <p:sldId id="596" r:id="rId35"/>
    <p:sldId id="597" r:id="rId36"/>
    <p:sldId id="598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608" r:id="rId47"/>
    <p:sldId id="609" r:id="rId48"/>
    <p:sldId id="610" r:id="rId49"/>
    <p:sldId id="611" r:id="rId50"/>
    <p:sldId id="612" r:id="rId51"/>
    <p:sldId id="613" r:id="rId52"/>
    <p:sldId id="593" r:id="rId53"/>
    <p:sldId id="594" r:id="rId54"/>
    <p:sldId id="595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24" autoAdjust="0"/>
    <p:restoredTop sz="87971" autoAdjust="0"/>
  </p:normalViewPr>
  <p:slideViewPr>
    <p:cSldViewPr>
      <p:cViewPr varScale="1">
        <p:scale>
          <a:sx n="73" d="100"/>
          <a:sy n="73" d="100"/>
        </p:scale>
        <p:origin x="96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0B9AE-A6FD-4340-8796-B3DD08C49BFA}" type="datetimeFigureOut">
              <a:rPr lang="en-IN" smtClean="0"/>
              <a:t>19-02-2025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DDBCF-62DD-41D3-BF56-2DCC1369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6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78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DDBCF-62DD-41D3-BF56-2DCC136966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4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1A8E1-26E0-49DB-AC7E-2EF92CC601DA}" type="datetime1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0C967-BB2F-4E2B-BD5F-30068A8ED89F}" type="datetime1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7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7700-F1ED-428F-B552-7FEC0EA1E817}" type="datetime1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98B2-5E35-4EE6-89C9-61C3AEB0E92F}" type="datetime1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58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7B0B-6576-4AE5-8659-D0607FB34AE6}" type="datetime1">
              <a:rPr lang="en-IN" smtClean="0"/>
              <a:t>19-02-2025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7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EBDC-738C-4FFA-8183-317ADFC99BC3}" type="datetime1">
              <a:rPr lang="en-IN" smtClean="0"/>
              <a:t>19-02-2025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6F79-9F22-4D00-B288-E7577EAC9FBB}" type="datetime1">
              <a:rPr lang="en-IN" smtClean="0"/>
              <a:t>19-02-2025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3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8742-CBA0-479C-AE2A-0007ABD60319}" type="datetime1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3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5703-5067-4702-B21A-A755B6F05279}" type="datetime1">
              <a:rPr lang="en-IN" smtClean="0"/>
              <a:t>19-02-2025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EBF32-5D0C-4656-BF58-4A5C319433D1}" type="datetime1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3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689C9-C399-4532-B87C-B30B3FFA1D3F}" type="datetime1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4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8F396-2623-48A1-A9CB-3F7AFE6DE5CF}" type="datetime1">
              <a:rPr lang="en-IN" smtClean="0"/>
              <a:t>19-02-2025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ix0-yjlMfgsJAAxUPZvmxD0TJeO43aI/view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drive.google.com/file/d/12uxHI2KFnvSTmAST1xdiWAfuxPdDn-f4/view?usp=shar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hyperlink" Target="https://livesql.oracle.com/apex/f?p=590:1:17499209544798::NO:RP::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eecadweb.org/wiki/How_to_install_macros" TargetMode="External"/><Relationship Id="rId5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JajoPPrtnWX3IfY3m81td-WXII-E9irL/view?usp=sharing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urFJ4fyAliE8DcR3iEjSl8zY_dxssONB/view?usp=sharing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hyperlink" Target="https://drive.google.com/file/d/16l39znFj9sAm4ZEjwLwharCHr6mm-LS-/view?usp=sharing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pvbc0U6PZlq-jKNlKtNG-5DRGyDiMaNm/view?usp=sharing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s://drive.google.com/file/d/1U60py8Lq4_7VZK1mN_vmNW6N5v0ZzkZj/view?usp=sharing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drive.google.com/file/d/11clWwXJ2KNrdlG5SBzQLuWisz6o5JTn3/view?usp=sharing" TargetMode="Externa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drive.google.com/file/d/12ZXLotVFtRWrccQGM2QQqKOpgUvjnYGP/view?usp=sharing" TargetMode="Externa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00808"/>
            <a:ext cx="9144000" cy="34563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MODULE II CONSTRAINTS AND SQL </a:t>
            </a: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COMMANDS</a:t>
            </a:r>
            <a:b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Code: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23IT201 </a:t>
            </a:r>
            <a:r>
              <a:rPr lang="en-IN" sz="2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Course Title: </a:t>
            </a:r>
            <a:r>
              <a:rPr lang="en-IN" sz="22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DataBase</a:t>
            </a: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Management Systems</a:t>
            </a:r>
            <a:b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Academic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Year: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2024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-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2025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(Even </a:t>
            </a:r>
            <a:r>
              <a:rPr lang="en-IN" sz="2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25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0105"/>
            <a:ext cx="9131374" cy="600913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tabLst>
                <a:tab pos="1527175" algn="l"/>
              </a:tabLst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DDL Commands - Create, Drop, Alter, Truncate, Rename,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Normalization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- 1NF, 2NF, 3NF, BCNF, 4NF-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DML Commands - Select, Insert, Update, Delete, Any, All, In, Exists, Non Exists, Union, Intersection,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Subqueries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- nested, correlated, Joins- Inner, Outer, and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Equi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Functions - SUM, COUNT, AVG, MIN,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MAX, Clauses - Group By, Having By, Embedded SQL, Dynamic SQL, Transaction Concepts –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Transaction model – ACID Properties –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Serializability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1792" y="645854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560" y="32846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MODULE II CONSTRAINTS AND SQL COMMANDS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1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Topics to be Covered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700808"/>
            <a:ext cx="9144000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Manipulation Language (DML)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Transaction Control Language (TCL)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Control Language (DCL)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Manipulation Operations – Additional Basic Operations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Data Manipulation Operations – Set Operations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Constructs-DDL,DML,TCL,DCL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33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Component of Structured Query Language (SQL-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Sequel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for specifying database schema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to create and modify the structure of database objects in a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Also known as Data Description Language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SQL – Case In-sensitive (case doesn’t matter.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Eg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., CREATE or create or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cReatE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470" y="3356992"/>
            <a:ext cx="5159060" cy="15324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-12626" y="5035242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DDL: </a:t>
            </a:r>
          </a:p>
        </p:txBody>
      </p:sp>
      <p:pic>
        <p:nvPicPr>
          <p:cNvPr id="17" name="Picture 16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5013176"/>
            <a:ext cx="576064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7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Commands in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DDL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CREATE – To create database instance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DROP – To drop database instances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ALTER – To alter structure of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RENAME – To rename database instances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TRUNCATE – To delete tables in a database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instance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Naming Conventions For Table </a:t>
            </a: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First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letter should be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alphabet and Reserve word cannot be used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Maximum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length for table name is 30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Two different tables cannot have same name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Underscore, numerals &amp; letters are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allowed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Blank space and Single quotes are not allowed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45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                                                           </a:t>
            </a:r>
            <a:r>
              <a:rPr lang="en-US" altLang="en-US" sz="2000" b="1" dirty="0" smtClean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  <a:endParaRPr lang="en-US" sz="2000" b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Creates database instance (object)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Data Type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Type of data to be stored in a field. E.g.,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int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, float, date, time, char, varchar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Size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Total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length of a data object in a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field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CREATE TABLE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(column1_name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data_type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(size),column2_name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data_type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(size),……………………………..);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CREATE TABLE students(id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int,first_name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varchar(15),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last_name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varchar(15),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phone_no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int,experience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int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6372200" y="980728"/>
            <a:ext cx="504056" cy="5996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8304" y="1029198"/>
            <a:ext cx="1296144" cy="59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7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</a:t>
            </a: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</a:t>
            </a:r>
            <a:r>
              <a:rPr lang="en-US" altLang="en-US" sz="2000" b="1" dirty="0" smtClean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To view the structure of the table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DESC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DESC students;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5724128" y="980728"/>
            <a:ext cx="504056" cy="5996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979" y="1722669"/>
            <a:ext cx="2972346" cy="227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1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Delete a database instance (object)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to remove a relation (base table) and its definition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 can no longer be used in queries, updates, or any other commands since its description no longer exists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DROP TABLE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DROP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 students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DESC students;</a:t>
            </a: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              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403648" y="4653136"/>
            <a:ext cx="504056" cy="5996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6" y="5589240"/>
            <a:ext cx="1681336" cy="4990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298" y="6013115"/>
            <a:ext cx="3364582" cy="4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Modify the structure of a table or database           </a:t>
            </a:r>
            <a:endParaRPr lang="en-US" altLang="en-US" sz="2000" b="1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Add new columns to a table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Change the data type or size of a column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ALTER TABLE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MODIFY(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column_name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newdata_type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(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newsize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));</a:t>
            </a: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                                                   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ALTER TABLE students MODIFY (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first_name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varchar(20));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                   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DESC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students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403648" y="4149080"/>
            <a:ext cx="504056" cy="5996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7744" y="4221088"/>
            <a:ext cx="1690862" cy="516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4764" y="4293096"/>
            <a:ext cx="3377556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ALTER TABLE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ADD(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column_name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data_type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(size));</a:t>
            </a:r>
            <a:endParaRPr lang="en-US" altLang="en-US" sz="2000" b="1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ALTER TABLE students ADD(gender varchar(5));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DESC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students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Restrictions on the Alter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Alter table cannot be used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change name of the table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change name of the column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drop a column</a:t>
            </a:r>
          </a:p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decrease size of a column if table data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403648" y="2829398"/>
            <a:ext cx="504056" cy="5996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082" y="2852936"/>
            <a:ext cx="1690862" cy="50449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7456" y="2852936"/>
            <a:ext cx="3528392" cy="273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2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To change the name of a table in a database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RENAME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oldtable_name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TO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newtable_name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RENAME students TO employees;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                    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DESC employees;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403648" y="3284984"/>
            <a:ext cx="504056" cy="5996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6" y="3800234"/>
            <a:ext cx="1473324" cy="49286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5930" y="3884586"/>
            <a:ext cx="4170286" cy="24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1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Truncate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To delete all the data in a table without affecting table structure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TRUNCATE TABLE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TRUNCATE TABLE employees;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employees VALUES('1','sindhu','karthi','9944714665','4','F');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             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* FROM employees;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403648" y="3284984"/>
            <a:ext cx="504056" cy="5996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82" y="4293096"/>
            <a:ext cx="1416174" cy="43204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57" y="5185653"/>
            <a:ext cx="4702794" cy="105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408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Truncate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TRUNCATE TABLE employees;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* FROM employees;</a:t>
            </a: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DESC employees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  <a:ext uri="{837473B0-CC2E-450A-ABE3-18F120FF3D39}">
                <a1611:picAttrSrcUrl xmlns:a1611="http://schemas.microsoft.com/office/drawing/2016/11/main" xmlns="" r:id="rId6"/>
              </a:ext>
            </a:extLst>
          </a:blip>
          <a:stretch>
            <a:fillRect/>
          </a:stretch>
        </p:blipFill>
        <p:spPr>
          <a:xfrm>
            <a:off x="1403648" y="1412776"/>
            <a:ext cx="504056" cy="5996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" y="2476678"/>
            <a:ext cx="1440160" cy="37625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40" y="3452447"/>
            <a:ext cx="1528470" cy="40860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5816" y="3861048"/>
            <a:ext cx="3312368" cy="24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5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Definition Language (DDL)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958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 vs Truncate</a:t>
            </a:r>
          </a:p>
          <a:p>
            <a:pPr marL="342900" indent="-342900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44B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Difference between Drop and Truncate is as follows</a:t>
            </a:r>
            <a:r>
              <a:rPr lang="en-US" sz="2000" dirty="0" smtClean="0">
                <a:solidFill>
                  <a:srgbClr val="444B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000" dirty="0">
              <a:solidFill>
                <a:srgbClr val="444B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98" y="2060240"/>
            <a:ext cx="6039941" cy="36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2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Language (DML)</a:t>
            </a:r>
            <a:endParaRPr lang="en-IN" sz="2400" b="1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Component of Structured Query Language (SQL-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Sequel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for accessing and manipulating data in a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to add, delete or modify an existing data in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Add a new data in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Change the data of a record in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Delete the data of a record in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DML is of two types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Procedural deals with “what” and “how”. E.g., Relational Algebra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Non-Procedural deals with “what” only. E.g., Relational Calculus</a:t>
            </a:r>
            <a:endParaRPr lang="en-US" altLang="en-US" sz="2000" b="1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12626" y="5229200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DML: </a:t>
            </a:r>
          </a:p>
        </p:txBody>
      </p:sp>
      <p:pic>
        <p:nvPicPr>
          <p:cNvPr id="13" name="Picture 12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5229200"/>
            <a:ext cx="576064" cy="49183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6966" y="5165210"/>
            <a:ext cx="3204816" cy="123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Commands in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DML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– To read records from table(s)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– To insert record(s) into the table(s)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UPDATE – Update the data in table(s)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DELETE – Delete all the records from the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tables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Select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to select a set of data or information from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Retrieve information or view a set of information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to query information from a table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Also known as Data Query Language (DQL)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command is used with different conditions and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clauses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9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Select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Clauses 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are Select, From and Where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Note: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The table should not be empty (If the table is empty, it will give an error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Select Clause &amp; From Clause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055813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 clause lists the attributes desired in the result of a query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 1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column1_name,column2_name,…….. FROM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SELECT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id,first_name,last_name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FROM students;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b="1" dirty="0" smtClean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                                                    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31640" y="4629598"/>
            <a:ext cx="504056" cy="5996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26" y="5229200"/>
            <a:ext cx="2548358" cy="110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1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Select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Clause &amp; From Clause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5000" algn="l"/>
                <a:tab pos="240347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From clause lists the relations involved in the query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 2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* FROM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SELECT * FROM students;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31640" y="3261446"/>
            <a:ext cx="504056" cy="5996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30" y="3861048"/>
            <a:ext cx="4990826" cy="10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Where Clause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31127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clause specifies conditions that the result must satisfy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 1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column_name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FROM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WHERE condition;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SELECT id FROM students WHERE experience=2;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Before                                                            After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               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31640" y="3261446"/>
            <a:ext cx="504056" cy="5996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" y="4293096"/>
            <a:ext cx="3600400" cy="187220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7569" y="4293096"/>
            <a:ext cx="7905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8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Where Clause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 2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* FROM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WHERE condition;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SELECT * FROM students WHERE experience=2;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Before                                                            </a:t>
            </a:r>
            <a:r>
              <a:rPr lang="en-US" altLang="en-US" sz="2000" b="1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After</a:t>
            </a:r>
            <a:endParaRPr lang="en-US" alt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dirty="0" smtClean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               </a:t>
            </a: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31640" y="2780928"/>
            <a:ext cx="504056" cy="5996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" y="3789040"/>
            <a:ext cx="3600400" cy="187220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6056" y="3789040"/>
            <a:ext cx="3456384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40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Insert</a:t>
            </a:r>
            <a:endParaRPr lang="en-US" altLang="en-US" sz="2000" dirty="0" smtClean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to add new records or rows to a table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 1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(column1_name,column2_name,……………) VALUES(value1,value2,…………………….);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Note: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Order of the columns in the table does not matter. We can write it any ways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INSERT INTO students(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id,first_name,last_name,phone_no,experience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) VALUES('1','sindhu','karthi','9944714665','4');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* FROM students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</a:t>
            </a:r>
            <a:r>
              <a:rPr lang="en-US" altLang="en-US" sz="2000" b="1" dirty="0" smtClean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</a:t>
            </a:r>
          </a:p>
          <a:p>
            <a:pPr>
              <a:lnSpc>
                <a:spcPct val="150000"/>
              </a:lnSpc>
              <a:tabLst>
                <a:tab pos="2055813" algn="l"/>
              </a:tabLst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403648" y="5085184"/>
            <a:ext cx="504056" cy="59960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" y="5657685"/>
            <a:ext cx="1416174" cy="43204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6386" y="5517232"/>
            <a:ext cx="3721918" cy="9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1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Insert</a:t>
            </a:r>
            <a:endParaRPr lang="en-US" altLang="en-US" sz="2000" dirty="0" smtClean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 2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INSERT INTO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VALUES(value1,value2,………………);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Note: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Values are automatically added to the columns in the table. Order of the columns in the table matters. We have to remember the order of the table.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INSERT INTO students VALUES('1','sindhu','karthi','9944714665','4');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* FROM students;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31640" y="3717032"/>
            <a:ext cx="504056" cy="59960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04" y="4293096"/>
            <a:ext cx="1416174" cy="43204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04" y="5157192"/>
            <a:ext cx="3960440" cy="11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85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Update</a:t>
            </a:r>
            <a:endParaRPr lang="en-US" altLang="en-US" sz="2000" dirty="0" smtClean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to change or modify data in a table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Note: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WHERE clause is very important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UPDATE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SET column_name1=value1,column2_name2=value2, ……………………………… WHERE condition;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 UPDATE students SET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phone_no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=8015491040 WHERE id=2;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* FROM students;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              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                                             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31640" y="4197550"/>
            <a:ext cx="504056" cy="5996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60" y="4762289"/>
            <a:ext cx="1579612" cy="39490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130" y="5558468"/>
            <a:ext cx="4485878" cy="89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5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Manipulation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 (</a:t>
            </a: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Delete</a:t>
            </a:r>
            <a:endParaRPr lang="en-US" altLang="en-US" sz="2000" dirty="0" smtClean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Used to delete a record or a data from a table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Note: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WHERE clause is very important. If WHERE clause is not included, all the data in the table will be deleted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Syntax 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DELETE FROM </a:t>
            </a:r>
            <a:r>
              <a:rPr lang="en-US" altLang="en-US" sz="2000" dirty="0" err="1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table_name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WHERE condition;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E.g.,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 DELETE FROM students WHERE id=2;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solidFill>
                  <a:srgbClr val="C00000"/>
                </a:solidFill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Output</a:t>
            </a:r>
          </a:p>
          <a:p>
            <a:pPr algn="just">
              <a:lnSpc>
                <a:spcPct val="150000"/>
              </a:lnSpc>
            </a:pPr>
            <a:endParaRPr lang="en-US" altLang="en-US" sz="2000" b="1" dirty="0">
              <a:solidFill>
                <a:srgbClr val="C00000"/>
              </a:solidFill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SELECT * FROM students</a:t>
            </a:r>
            <a:r>
              <a:rPr lang="en-US" altLang="en-US" sz="2000" dirty="0" smtClean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;                                 </a:t>
            </a:r>
            <a:endParaRPr lang="en-US" altLang="en-US" sz="2000" dirty="0">
              <a:latin typeface="Arial" pitchFamily="34" charset="0"/>
              <a:ea typeface="Cambria" panose="02040503050406030204" pitchFamily="18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12">
            <a:hlinkClick r:id="rId2"/>
            <a:extLst>
              <a:ext uri="{FF2B5EF4-FFF2-40B4-BE49-F238E27FC236}">
                <a16:creationId xmlns:a16="http://schemas.microsoft.com/office/drawing/2014/main" id="{1F81FEBD-C3E0-4138-BA5A-EAC87CCD7C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31640" y="4197550"/>
            <a:ext cx="504056" cy="59960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01" y="4805851"/>
            <a:ext cx="1886311" cy="27933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0" y="5577276"/>
            <a:ext cx="3571346" cy="87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8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Control Language (TCL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2343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Component of SQL used to manage transactions in a database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manage changes made to the data in a table by DML statements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Also allows statements to be grouped together into logical transactions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TCL control transactions in a table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Transactions are any operation performed on a table using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DML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394" y="3429000"/>
            <a:ext cx="4171950" cy="20669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3482" y="5517232"/>
            <a:ext cx="913051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TCL:</a:t>
            </a:r>
          </a:p>
        </p:txBody>
      </p:sp>
      <p:pic>
        <p:nvPicPr>
          <p:cNvPr id="17" name="Picture 16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5517232"/>
            <a:ext cx="576064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0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Control Language (TCL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Rollback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get back to the previous permanent status of the table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Database state is restored to what it was before the first statement of the transaction was executed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Similar to undo command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Note: Table can be rolled-back only if it is temporary. If committed the changes, it cannot be rolled-back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ROLLBACK TO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savepoint_name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9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Control Language (TCL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sz="2000" b="1" dirty="0" err="1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Savepoint</a:t>
            </a: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along with the rollback command to mark a transaction in a table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transaction can be named using this command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Similar to bookmarks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SAVEPOINT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savepoint_name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Commit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save the changes made to the table permanently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After the transaction is committed, a new transaction is automatically started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COMMIT;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32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Control Language (TCL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INSERT INTO class VALUES(5, 'Rahul');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COMMIT;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 class SET name = '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Abhijit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' WHERE id = '5';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SAVEPOINT A;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INSERT INTO class VALUES(6, 'Chris');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SAVEPOINT B;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INSERT INTO class VALUES(7, 'Bravo');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SAVEPOINT C; </a:t>
            </a:r>
          </a:p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 * FROM class;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0133" y="1268760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en-IN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1700808"/>
            <a:ext cx="2076450" cy="112018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3068960"/>
            <a:ext cx="1819275" cy="169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0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Control Language (TCL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ROLLBACK TO B;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 * FROM class;</a:t>
            </a:r>
          </a:p>
          <a:p>
            <a:pPr lvl="0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ROLLBACK TO A;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 * FROM class;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>
              <a:lnSpc>
                <a:spcPct val="150000"/>
              </a:lnSpc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fontAlgn="base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0133" y="1268760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en-IN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344" y="1772816"/>
            <a:ext cx="2295525" cy="14399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3571766"/>
            <a:ext cx="2447925" cy="128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6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Control Language (DCL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control user access to data stored in a database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Component of SQL which is related to the security issues of a database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Privileges are of two types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System: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Includes permissions for creating session, table,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all types of other system privileges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Object: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Includes permissions for any command or query to perform any operation on the database tables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Commands of DCL</a:t>
            </a: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Grant: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give permission to a user to access a database</a:t>
            </a:r>
          </a:p>
          <a:p>
            <a:pPr marL="342900" indent="-342900" algn="just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Revoke: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withdraw permission from a user to access a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222" y="5537870"/>
            <a:ext cx="3578455" cy="84345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482" y="5859799"/>
            <a:ext cx="913051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CL:</a:t>
            </a:r>
          </a:p>
        </p:txBody>
      </p:sp>
      <p:pic>
        <p:nvPicPr>
          <p:cNvPr id="18" name="Picture 1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5921958"/>
            <a:ext cx="576064" cy="4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9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Control Language (DCL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Allow a User to create session: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grant the session creating privileges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GRANT CREATE SESSION TO username;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Allow a User to create table: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allow a user to create tables in the database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GRANT CREATE TABLE TO username;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Grant all privilege to a User: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sysdba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set of </a:t>
            </a:r>
            <a:r>
              <a:rPr lang="en-US" sz="2000" dirty="0" err="1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priviliges</a:t>
            </a:r>
            <a:r>
              <a:rPr lang="en-US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has all the permissions in 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GRANT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sysdba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TO username;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91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Control Language (DCL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575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Provide user with space on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tablespace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to store table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Allowing a user to create table is not enough to start storing data in that table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Provide user with privileges to use available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tablespace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their table &amp; data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ALTER USER username QUOTA UNLIMITED ON SYSTEM;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above command will alter the user details and will provide it access to unlimited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tablespace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on system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 Generally unlimited quota is provided to Admin users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prevent a user from creating table in a database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REVOKE CREATE ANY TABLE TO username;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979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Control Language (DCL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Grant permission to create any table: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Grant privileges to a user to create any table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GRANT CREATE ANY TABLE TO username;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Grant permission to drop any table: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 user to drop any table from the database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GRANT DROP ANY TABLE TO username;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To take back Permissions: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take back the privileges from any user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REVOKE CREATE TABLE FROM username;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56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1052736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Rename Operation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ses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 clause which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can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appear in both the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clauses</a:t>
            </a:r>
            <a:endParaRPr lang="en-IN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old-name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 new-name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 1,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“For renaming the attribute name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with the name instructor name”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name AS instructor name, course id FROM instructor, teaches WHERE instructor.ID= teaches.ID;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“For all instructors in the university who have taught some course, find their names and the course ID of all courses they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taught”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T.name,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S.course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T, teaches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 where T.ID= S.ID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Additional Basic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26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1066666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Rename Operation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 3, “Find the names of all instructors whose salary is greater than at least one instructor in the Biology department”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DISTINCT T.name FROM instructor AS T, instructor AS S WHERE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T.salary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&gt;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S.salary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S.dept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name = ’Biology’;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Attribute Specification in Select Clause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Asterisk symbol “ * ” can be used in the select clause to denote “all attributes”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SELECT instructor.* FROM instructor, teaches WHERE instructor.ID= teaches.ID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Additional Basic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17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1052736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Where Clause </a:t>
            </a:r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Predicates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Includes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between comparison operator to simplify where clauses that specify that a value be less than or equal to some value and greater than or equal to some other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 , “To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names of instructors with salary amounts between $90,000 and $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100,000”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name 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salary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90000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100000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Additional Basic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4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1052736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String Operations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SQL specifies strings by enclosing them in single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quotes E.g., ‘Computer’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Single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quote character that is part of a string can be specified by using two single quote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characters E.g., “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It’s right” can be specified by “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It”s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right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SQL also permits a variety of functions on character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concatenating (using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“||”)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extracting substrings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finding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length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converting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strings to uppercase (using the function upper(s) where s is a string) and lowercase (using the function lower(s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removing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spaces at the end of the string (using trim(s)) 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so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Additional Basic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91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1052736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String Operations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Pattern matching can be performed on strings, using the operator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Describe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patterns by using two special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Percent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(%): The % character matches any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substring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Underscore (_):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character matches any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Patterns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are case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sensitive E.g., ‘Intro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%’ matches any string beginning with “Intro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Comp%’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matches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any string containing “Comp” as 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substring E.g., ‘Intro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to Computer Science’, 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‘Computational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Biology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‘_ _ _’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matches any string of exactly three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characters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‘_ _ _%’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matches any string of at least three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Additional Basic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81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1052736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String Operations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SELECT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LIKE ‘%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Watson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%’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escape character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(\) is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immediately before a special pattern character to indicate that the special pattern character is to be treated like a normal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character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 1, like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\%cd%’ escape ’\’ matches all strings beginning with “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ab%cd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 2, like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\\cd%’ escape ’\’ matches all strings beginning with “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\cd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Additional Basic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94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18002" y="1052736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Order By Clause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Offers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user some control over the order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display tuples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relation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Order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by clause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arranges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tuples in the result of a query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sorted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order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 1, “To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list in alphabetic order all instructors in the Physics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department”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name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‘Physics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ORDER BY name;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 2, “To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list the entire instructor relation in descending order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salary, if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several instructors have the same salary,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order them in ascending order by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name”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ORDER BY salary DESC,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ASC;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Additional Basic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855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4414556"/>
            <a:ext cx="9144000" cy="958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Intersect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Except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operate on relations and correspond to the mathematical set-theory operations ∪, ∩, and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−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over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two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196752"/>
            <a:ext cx="4680520" cy="31859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774" y="1196752"/>
            <a:ext cx="4412226" cy="321201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6386" y="5859799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Set Operations: Part 1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Part 2:                       Part 3:     </a:t>
            </a:r>
          </a:p>
        </p:txBody>
      </p:sp>
      <p:pic>
        <p:nvPicPr>
          <p:cNvPr id="16" name="Picture 15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5877272"/>
            <a:ext cx="576064" cy="491839"/>
          </a:xfrm>
          <a:prstGeom prst="rect">
            <a:avLst/>
          </a:prstGeom>
        </p:spPr>
      </p:pic>
      <p:pic>
        <p:nvPicPr>
          <p:cNvPr id="17" name="Picture 16">
            <a:hlinkClick r:id="rId6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5877272"/>
            <a:ext cx="576064" cy="491839"/>
          </a:xfrm>
          <a:prstGeom prst="rect">
            <a:avLst/>
          </a:prstGeom>
        </p:spPr>
      </p:pic>
      <p:pic>
        <p:nvPicPr>
          <p:cNvPr id="18" name="Picture 17">
            <a:hlinkClick r:id="rId7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5877272"/>
            <a:ext cx="576064" cy="491839"/>
          </a:xfrm>
          <a:prstGeom prst="rect">
            <a:avLst/>
          </a:prstGeom>
        </p:spPr>
      </p:pic>
      <p:sp>
        <p:nvSpPr>
          <p:cNvPr id="19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03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788436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Union Operation (∪)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Automatically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eliminates duplicates, unlike the select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clause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“To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set of all courses taught either in Fall 2009 or in Spring 2010, 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both”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‘Fall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2009)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UNION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FROM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WHERE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‘Spring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2010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864" y="1772816"/>
            <a:ext cx="1152128" cy="28035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221088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retain all duplicates, use union all in place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(SELECT course id FROM section WHERE semester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‘Fall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AND year= 2009) UNION ALL (SELECT course id FROM section WHERE semester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‘Spring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AND year= 2010);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93578" y="1340768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en-IN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04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907199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The Intersect </a:t>
            </a:r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 (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∩)</a:t>
            </a:r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“To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set of all courses taught in the Fall 2009 as well as in Spring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2010”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(SELECT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‘Fall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2009)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INTERSECT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FROM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WHERE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‘Spring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2010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algn="just">
              <a:lnSpc>
                <a:spcPct val="150000"/>
              </a:lnSpc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retain all duplicates,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use intersect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in place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intersect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FROM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WHERE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‘Fall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2009)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INTERSECT ALL (SELECT course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 FROM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WHERE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‘Spring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2010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384" y="3789040"/>
            <a:ext cx="1656184" cy="961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12360" y="3501008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en-IN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8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907199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The Except </a:t>
            </a:r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 (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-)</a:t>
            </a:r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erforms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set difference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“To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all courses taught in the Fall 2009 semester but not in the Spring 2010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semester”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FROM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WHERE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’Fall’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2009)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EXCEPT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FROM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WHERE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’Spring’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2010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retain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duplicates,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use except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 in place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except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FROM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WHERE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’Fall’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2009)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EXCEPT ALL (SELECT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FROM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WHERE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’Spring’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2010);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4221088"/>
            <a:ext cx="1163340" cy="6224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3104" y="3789040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en-IN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82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42954"/>
            <a:ext cx="90719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Cartesian Product</a:t>
            </a:r>
            <a:endParaRPr lang="en-IN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Combines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tuples from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two tables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that are unrelated to each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Each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tuple in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first table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 combined with every tuple in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second table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SELECT * 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instructor, teaches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instructor.ID= teaches.ID;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6992"/>
            <a:ext cx="2411760" cy="24835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3356992"/>
            <a:ext cx="2520280" cy="27252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3356991"/>
            <a:ext cx="4211960" cy="30568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79704" y="2924944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en-IN" sz="20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7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907199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Present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special problems in relational operations, including arithmetic operations, comparison operations, and set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operations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result of an arithmetic expression (involving, for example +, −, ∗, or /) is null if any of the input values is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Comparisons involving nulls are more of 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“To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all instructors who appear in the instructor relation with null values for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salary” 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salary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IS NULL;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285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907199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Functions that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take a collection (a set 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multiset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of values as input and return a single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Minimum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min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sum 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count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“Find the average salary of instructors in the Computer Science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department”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SELECT AVG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(salary)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name= ’Comp. Sci.’;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386" y="5899338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Aggregate Functions:</a:t>
            </a:r>
          </a:p>
        </p:txBody>
      </p:sp>
      <p:pic>
        <p:nvPicPr>
          <p:cNvPr id="13" name="Picture 12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5877272"/>
            <a:ext cx="576064" cy="491839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7313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907199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 Group By Clause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apply the aggregate function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 a single or a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group of sets of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tuples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“To find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average salary in each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department”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SELECT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name,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AVG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(salary)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salary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name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The Having Clause </a:t>
            </a:r>
            <a:endParaRPr lang="en-IN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seful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state a condition that applies to groups rather than to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tuples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“To find only 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departments where the average salary of the instructors is more than $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42,000”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SELECT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name, AVG (salary) AS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salary FROM instructor GROUP BY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name HAVING AVG (salary) &gt; 42000;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57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4499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 – 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 Architecture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907199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subquery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select-from-where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expression that is nested within another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and not in operators can also be used on enumerated sets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Subqueries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 the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Where Clause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“To find all the courses taught in the Fall 2009 semester and also in the Spring 2010 semester”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DISTINCT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’Fall’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2009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IN (SELECT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’Spring’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2010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“To find all the courses taught in the Fall 2009 semester but not in the Spring 2010 semester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32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907199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Subqueries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in the Where Clause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DISTINCT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’Fall’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2009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NOT IN (SELECT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 id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semester = ’Spring’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year= 2010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algn="just">
              <a:lnSpc>
                <a:spcPct val="150000"/>
              </a:lnSpc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Subqueries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in the From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Clause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“To find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average instructors’ salaries of those departments where the average salary is greater than $42,000” without using the having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clause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SELECT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name,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AVG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salary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(SELECT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name,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AVG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(salary)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avg_salary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name)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avg_salary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&gt; 42000;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49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</a:t>
            </a:fld>
            <a:endParaRPr lang="en-IN" sz="16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1052736"/>
            <a:ext cx="907199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The with </a:t>
            </a:r>
            <a:r>
              <a:rPr lang="en-IN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Clause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Provides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way of defining a temporary relation whose definition is available only to the query in which the with clause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occurs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“To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finds those departments with the maximum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budget”</a:t>
            </a:r>
          </a:p>
          <a:p>
            <a:pPr algn="just">
              <a:lnSpc>
                <a:spcPct val="150000"/>
              </a:lnSpc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E.g., WITH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max_budget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(value)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AS (SELECT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max(budget)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department)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budget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department,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max_budget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department.budget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max_budget.value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386" y="4365104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Nested </a:t>
            </a:r>
            <a:r>
              <a:rPr lang="en-US" sz="20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Subqueries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13" name="Picture 12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16" y="4365104"/>
            <a:ext cx="576064" cy="491839"/>
          </a:xfrm>
          <a:prstGeom prst="rect">
            <a:avLst/>
          </a:prstGeom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0" y="400472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Manipulation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– Set Operations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94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Summary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700808"/>
            <a:ext cx="9144000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Definition Language (DDL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Manipulation Language (DML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Transaction Control Language (TCL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Control Language (DCL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Manipulation Operations – Additional Basic Operations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Manipulation Operations – Set Operations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Constructs-DDL,DML,TCL,DCL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47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700808"/>
            <a:ext cx="9144000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Use DDL commands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to create and modify the following tables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Person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driverid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name, address,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phoneno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age)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Car (license, model, year)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Accident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reportno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date, location)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Product (manufacturer,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modelno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type)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Laptop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modelno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speed, ram size, hard disk size, screen, price)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Book (title, author, publisher, category, year, price)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Distributor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distid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city, discount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Constructs-DDL,DML,TCL,DCL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36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700808"/>
            <a:ext cx="9144000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Use DML commands </a:t>
            </a:r>
            <a:r>
              <a:rPr lang="en-US" altLang="en-US" sz="2000" dirty="0">
                <a:latin typeface="Arial" pitchFamily="34" charset="0"/>
                <a:ea typeface="Cambria" panose="02040503050406030204" pitchFamily="18" charset="0"/>
                <a:cs typeface="Arial" pitchFamily="34" charset="0"/>
              </a:rPr>
              <a:t>to add, delete or modify the data in the following tables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Person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driverid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name, address,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phoneno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age)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Car (license, model, year)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Accident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reportno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date, location)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Product (manufacturer,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modelno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type)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Laptop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modelno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speed, ram size, hard disk size, screen, price)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Book (title, author, publisher, category, year, price)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Distributor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distid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distname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city, discount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Commands-DDL,DML,TCL,DCL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2 - CONSTRAINTS AND SQL COMMANDS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Constructs-DDL,DML,TCL,DCL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975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4919</TotalTime>
  <Words>4487</Words>
  <Application>Microsoft Office PowerPoint</Application>
  <PresentationFormat>On-screen Show (4:3)</PresentationFormat>
  <Paragraphs>798</Paragraphs>
  <Slides>54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Cambria</vt:lpstr>
      <vt:lpstr>Wingdings</vt:lpstr>
      <vt:lpstr>Office Theme</vt:lpstr>
      <vt:lpstr>MODULE II CONSTRAINTS AND SQL COMMANDS Course Code: 23IT201  Course Title: DataBase Management Systems Academic Year: 2024 - 2025 (Even Sem)</vt:lpstr>
      <vt:lpstr>DDL Commands - Create, Drop, Alter, Truncate, Rename,  Normalization - 1NF, 2NF, 3NF, BCNF, 4NF- DML Commands - Select, Insert, Update, Delete, Any, All, In, Exists, Non Exists, Union, Intersection, Subqueries - nested, correlated, Joins- Inner, Outer, and Equi, Functions - SUM, COUNT, AVG, MIN, MAX, Clauses - Group By, Having By, Embedded SQL, Dynamic SQL, Transaction Concepts – Transaction model – ACID Properties – Serializability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18CS056 – THEORY OF COMPUTATION</dc:title>
  <dc:creator>Rose</dc:creator>
  <cp:lastModifiedBy>Admin</cp:lastModifiedBy>
  <cp:revision>745</cp:revision>
  <dcterms:created xsi:type="dcterms:W3CDTF">2020-05-18T09:43:19Z</dcterms:created>
  <dcterms:modified xsi:type="dcterms:W3CDTF">2025-02-19T07:00:48Z</dcterms:modified>
</cp:coreProperties>
</file>