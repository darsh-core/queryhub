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2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80" r:id="rId18"/>
    <p:sldId id="281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2B89A-B885-4F47-BAC6-BC8E40C4CAE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8D1DB-6BA6-4AF1-9BEE-41FC052F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17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3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37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95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26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12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68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41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34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31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85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7C46-1520-4E11-87F0-6B13B5699F6A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45A9B-CDA8-41DD-B956-511849EC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5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16628"/>
            <a:ext cx="9144000" cy="26243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IN SQL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23IT201</a:t>
            </a:r>
            <a:b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Title: DataBase Management Systems</a:t>
            </a:r>
            <a:b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MODULE –II</a:t>
            </a:r>
            <a:b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Academic Year: 2024 - 2025 (Even </a:t>
            </a:r>
            <a:r>
              <a:rPr lang="en-IN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-117566" y="6492875"/>
            <a:ext cx="12309566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492876"/>
            <a:ext cx="21336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7464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52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SELECT MAX(age)</a:t>
            </a:r>
          </a:p>
          <a:p>
            <a:pPr marL="0" indent="0">
              <a:buNone/>
            </a:pPr>
            <a:r>
              <a:rPr lang="en-IN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80212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87" y="366713"/>
            <a:ext cx="7467259" cy="6745424"/>
          </a:xfrm>
        </p:spPr>
      </p:pic>
      <p:sp>
        <p:nvSpPr>
          <p:cNvPr id="3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07819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SELECT MIN(age)</a:t>
            </a:r>
          </a:p>
          <a:p>
            <a:pPr marL="0" indent="0">
              <a:buNone/>
            </a:pPr>
            <a:r>
              <a:rPr lang="en-IN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8146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ALIAS NAME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MAX(age) AS </a:t>
            </a:r>
            <a:r>
              <a:rPr lang="en-US" dirty="0" err="1" smtClean="0"/>
              <a:t>max_age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23694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MIN IN STRINGS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--select the minimum value of </a:t>
            </a:r>
            <a:r>
              <a:rPr lang="en-US" b="1" dirty="0" err="1" smtClean="0"/>
              <a:t>first_name</a:t>
            </a:r>
            <a:r>
              <a:rPr lang="en-US" b="1" dirty="0" smtClean="0"/>
              <a:t> from Customers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MIN(</a:t>
            </a:r>
            <a:r>
              <a:rPr lang="en-US" dirty="0" err="1" smtClean="0"/>
              <a:t>first_name</a:t>
            </a:r>
            <a:r>
              <a:rPr lang="en-US" dirty="0" smtClean="0"/>
              <a:t>) AS </a:t>
            </a:r>
            <a:r>
              <a:rPr lang="en-US" dirty="0" err="1" smtClean="0"/>
              <a:t>min_first_name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785155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MIN() function in a nested SELECT statement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WHERE age = (</a:t>
            </a:r>
          </a:p>
          <a:p>
            <a:pPr marL="0" indent="0">
              <a:buNone/>
            </a:pPr>
            <a:r>
              <a:rPr lang="en-US" dirty="0" smtClean="0"/>
              <a:t>    SELECT MIN(age)</a:t>
            </a:r>
          </a:p>
          <a:p>
            <a:pPr marL="0" indent="0">
              <a:buNone/>
            </a:pPr>
            <a:r>
              <a:rPr lang="en-US" dirty="0" smtClean="0"/>
              <a:t>    FROM Customers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52258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HAVING CLAUSE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GROUP BY country</a:t>
            </a:r>
          </a:p>
          <a:p>
            <a:pPr marL="0" indent="0">
              <a:buNone/>
            </a:pPr>
            <a:r>
              <a:rPr lang="en-US" dirty="0" smtClean="0"/>
              <a:t>HAVING MAX(age);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34127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LIMIT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age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LIMIT 2;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56240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LIMIT,OFFSET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-- </a:t>
            </a:r>
            <a:r>
              <a:rPr lang="en-US" b="1" dirty="0" smtClean="0"/>
              <a:t>LIMIT 2 selects two results</a:t>
            </a:r>
          </a:p>
          <a:p>
            <a:pPr marL="0" indent="0">
              <a:buNone/>
            </a:pPr>
            <a:r>
              <a:rPr lang="en-US" b="1" dirty="0" smtClean="0"/>
              <a:t>-- OFFSET 3 excludes the first three results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LIMIT 2 OFFSET 3;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91046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AVG()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--selects the average amount spent by each customer from the Orders table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customer_id</a:t>
            </a:r>
            <a:r>
              <a:rPr lang="en-US" dirty="0" smtClean="0"/>
              <a:t>, AVG(amount) AS </a:t>
            </a:r>
            <a:r>
              <a:rPr lang="en-US" dirty="0" err="1" smtClean="0"/>
              <a:t>average_spends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GROUP BY </a:t>
            </a:r>
            <a:r>
              <a:rPr lang="en-US" dirty="0" err="1" smtClean="0"/>
              <a:t>customer_id</a:t>
            </a:r>
            <a:r>
              <a:rPr lang="en-US" dirty="0" smtClean="0"/>
              <a:t>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71064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--select the sum of the amount of id 4 from orders</a:t>
            </a:r>
          </a:p>
          <a:p>
            <a:pPr marL="0" indent="0">
              <a:buNone/>
            </a:pPr>
            <a:r>
              <a:rPr lang="en-US" dirty="0" smtClean="0"/>
              <a:t>SELECT SUM(amount) AS total_of_cus4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customer_id</a:t>
            </a:r>
            <a:r>
              <a:rPr lang="en-US" dirty="0" smtClean="0"/>
              <a:t> = 4;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656188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GROUPBY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the item column and the count of order ids from the Orders table</a:t>
            </a:r>
          </a:p>
          <a:p>
            <a:pPr marL="0" indent="0">
              <a:buNone/>
            </a:pPr>
            <a:r>
              <a:rPr lang="en-US" b="1" dirty="0" smtClean="0"/>
              <a:t>-- group them by the item column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COUNT(</a:t>
            </a:r>
            <a:r>
              <a:rPr lang="en-US" dirty="0" err="1" smtClean="0"/>
              <a:t>order_id</a:t>
            </a:r>
            <a:r>
              <a:rPr lang="en-US" dirty="0" smtClean="0"/>
              <a:t>), item</a:t>
            </a:r>
          </a:p>
          <a:p>
            <a:pPr marL="0" indent="0">
              <a:buNone/>
            </a:pPr>
            <a:r>
              <a:rPr lang="en-US" dirty="0" smtClean="0"/>
              <a:t>FROM Orders</a:t>
            </a:r>
          </a:p>
          <a:p>
            <a:pPr marL="0" indent="0">
              <a:buNone/>
            </a:pPr>
            <a:r>
              <a:rPr lang="en-US" dirty="0" smtClean="0"/>
              <a:t>GROUP BY item;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84114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83" y="189167"/>
            <a:ext cx="6334519" cy="6575625"/>
          </a:xfrm>
        </p:spPr>
      </p:pic>
      <p:sp>
        <p:nvSpPr>
          <p:cNvPr id="3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02489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SQL HAVING clause is used if we need to filter the result set based on aggregate functions such as MIN() and MAX(), SUM() and AVG(), and COUNT</a:t>
            </a:r>
            <a:r>
              <a:rPr lang="en-US" dirty="0" smtClean="0"/>
              <a:t>().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AggFunc</a:t>
            </a:r>
            <a:r>
              <a:rPr lang="en-US" dirty="0"/>
              <a:t>(column), </a:t>
            </a:r>
            <a:r>
              <a:rPr lang="en-US" dirty="0" err="1"/>
              <a:t>extra_columns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table</a:t>
            </a:r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target_column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condition</a:t>
            </a:r>
            <a:endParaRPr lang="en-IN" dirty="0"/>
          </a:p>
        </p:txBody>
      </p:sp>
      <p:sp>
        <p:nvSpPr>
          <p:cNvPr id="6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63455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-- select the count of customer ids greater than one and their corresponding country 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SELECT COUNT(</a:t>
            </a:r>
            <a:r>
              <a:rPr lang="en-US" dirty="0" err="1"/>
              <a:t>customer_id</a:t>
            </a:r>
            <a:r>
              <a:rPr lang="en-US" dirty="0"/>
              <a:t>), country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GROUP BY country</a:t>
            </a:r>
          </a:p>
          <a:p>
            <a:pPr marL="0" indent="0">
              <a:buNone/>
            </a:pPr>
            <a:r>
              <a:rPr lang="en-US" dirty="0"/>
              <a:t>HAVING COUNT(</a:t>
            </a:r>
            <a:r>
              <a:rPr lang="en-US" dirty="0" err="1"/>
              <a:t>customer_id</a:t>
            </a:r>
            <a:r>
              <a:rPr lang="en-US" dirty="0"/>
              <a:t>) &gt; 1;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08654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52" y="166682"/>
            <a:ext cx="6545060" cy="646924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36681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HAVING Vs WHERE CLAUSE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613093"/>
              </p:ext>
            </p:extLst>
          </p:nvPr>
        </p:nvGraphicFramePr>
        <p:xfrm>
          <a:off x="1593669" y="2259874"/>
          <a:ext cx="9274628" cy="3958047"/>
        </p:xfrm>
        <a:graphic>
          <a:graphicData uri="http://schemas.openxmlformats.org/drawingml/2006/table">
            <a:tbl>
              <a:tblPr/>
              <a:tblGrid>
                <a:gridCol w="4637314">
                  <a:extLst>
                    <a:ext uri="{9D8B030D-6E8A-4147-A177-3AD203B41FA5}">
                      <a16:colId xmlns:a16="http://schemas.microsoft.com/office/drawing/2014/main" val="2245342847"/>
                    </a:ext>
                  </a:extLst>
                </a:gridCol>
                <a:gridCol w="4637314">
                  <a:extLst>
                    <a:ext uri="{9D8B030D-6E8A-4147-A177-3AD203B41FA5}">
                      <a16:colId xmlns:a16="http://schemas.microsoft.com/office/drawing/2014/main" val="3075580565"/>
                    </a:ext>
                  </a:extLst>
                </a:gridCol>
              </a:tblGrid>
              <a:tr h="702234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effectLst/>
                        </a:rPr>
                        <a:t>HAVING Clause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effectLst/>
                        </a:rPr>
                        <a:t>WHERE Clause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311605"/>
                  </a:ext>
                </a:extLst>
              </a:tr>
              <a:tr h="1085271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The HAVING clause checks the condition on </a:t>
                      </a:r>
                      <a:r>
                        <a:rPr lang="en-US" sz="2000" b="1" dirty="0">
                          <a:effectLst/>
                          <a:latin typeface="+mn-lt"/>
                        </a:rPr>
                        <a:t>a group of rows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The WHERE clause checks the condition </a:t>
                      </a:r>
                      <a:r>
                        <a:rPr lang="en-US" sz="2000" b="1" dirty="0">
                          <a:effectLst/>
                          <a:latin typeface="+mn-lt"/>
                        </a:rPr>
                        <a:t>on each individual row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88191"/>
                  </a:ext>
                </a:extLst>
              </a:tr>
              <a:tr h="1085271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HAVING is used with aggregate functions.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+mn-lt"/>
                        </a:rPr>
                        <a:t>The WHERE clause cannot be used with aggregate functions.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203545"/>
                  </a:ext>
                </a:extLst>
              </a:tr>
              <a:tr h="1085271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The HAVING clause is executed after the GROUP BY clause.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The WHERE clause is executed before the GROUP BY clause.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153269"/>
                  </a:ext>
                </a:extLst>
              </a:tr>
            </a:tbl>
          </a:graphicData>
        </a:graphic>
      </p:graphicFrame>
      <p:sp>
        <p:nvSpPr>
          <p:cNvPr id="6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062765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ORDERBY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orders all rows from Customers in ascending order by country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ORDER BY country;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85623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25" y="-111962"/>
            <a:ext cx="5443410" cy="6360362"/>
          </a:xfrm>
        </p:spPr>
      </p:pic>
    </p:spTree>
    <p:extLst>
      <p:ext uri="{BB962C8B-B14F-4D97-AF65-F5344CB8AC3E}">
        <p14:creationId xmlns:p14="http://schemas.microsoft.com/office/powerpoint/2010/main" val="2625714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ORDERBY ASC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orders all rows from Customers in ascending order by age 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ORDER BY age ASC;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424583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ORDERBY DESC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order all rows from Customers in descending order by age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Customers</a:t>
            </a:r>
          </a:p>
          <a:p>
            <a:pPr marL="0" indent="0">
              <a:buNone/>
            </a:pPr>
            <a:r>
              <a:rPr lang="en-US" dirty="0" smtClean="0"/>
              <a:t>ORDER BY age DESC;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495878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DISTINCT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 select the unique countries from the customers table</a:t>
            </a:r>
          </a:p>
          <a:p>
            <a:pPr marL="0" indent="0">
              <a:buNone/>
            </a:pPr>
            <a:r>
              <a:rPr lang="en-US" dirty="0" smtClean="0"/>
              <a:t>SELECT DISTINCT country</a:t>
            </a:r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3393600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-87092"/>
            <a:ext cx="6143993" cy="6264055"/>
          </a:xfrm>
        </p:spPr>
      </p:pic>
    </p:spTree>
    <p:extLst>
      <p:ext uri="{BB962C8B-B14F-4D97-AF65-F5344CB8AC3E}">
        <p14:creationId xmlns:p14="http://schemas.microsoft.com/office/powerpoint/2010/main" val="74814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COUNT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COUNT(DISTINCT country)</a:t>
            </a:r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634563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COUNT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--returns the number of rows in the Customers table</a:t>
            </a:r>
          </a:p>
          <a:p>
            <a:pPr marL="0" indent="0">
              <a:buNone/>
            </a:pPr>
            <a:r>
              <a:rPr lang="en-US" dirty="0" smtClean="0"/>
              <a:t>SELECT COUNT(*)</a:t>
            </a:r>
          </a:p>
          <a:p>
            <a:pPr marL="0" indent="0">
              <a:buNone/>
            </a:pPr>
            <a:r>
              <a:rPr lang="en-US" dirty="0" smtClean="0"/>
              <a:t>FROM Customers;</a:t>
            </a:r>
            <a:endParaRPr lang="en-IN" dirty="0"/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43999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261308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562</Words>
  <Application>Microsoft Office PowerPoint</Application>
  <PresentationFormat>Widescreen</PresentationFormat>
  <Paragraphs>133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Title of Topic: FUNCTIONS IN SQL Course Code: 23IT201 Course Title: DataBase Management Systems MODULE –II Academic Year: 2024 - 2025 (Even Sem)</vt:lpstr>
      <vt:lpstr>MAX</vt:lpstr>
      <vt:lpstr>PowerPoint Presentation</vt:lpstr>
      <vt:lpstr>MIN</vt:lpstr>
      <vt:lpstr>ALIAS NAME</vt:lpstr>
      <vt:lpstr>MIN IN STRINGS</vt:lpstr>
      <vt:lpstr>MIN() function in a nested SELECT statement </vt:lpstr>
      <vt:lpstr>HAVING CLAUSE</vt:lpstr>
      <vt:lpstr>LIMIT</vt:lpstr>
      <vt:lpstr>LIMIT,OFFSET</vt:lpstr>
      <vt:lpstr>AVG()</vt:lpstr>
      <vt:lpstr>SUM()</vt:lpstr>
      <vt:lpstr>GROUPBY</vt:lpstr>
      <vt:lpstr>PowerPoint Presentation</vt:lpstr>
      <vt:lpstr>HAVING</vt:lpstr>
      <vt:lpstr>HAVING</vt:lpstr>
      <vt:lpstr>PowerPoint Presentation</vt:lpstr>
      <vt:lpstr>HAVING Vs WHERE CLAUSE</vt:lpstr>
      <vt:lpstr>ORDERBY</vt:lpstr>
      <vt:lpstr>PowerPoint Presentation</vt:lpstr>
      <vt:lpstr>ORDERBY ASC</vt:lpstr>
      <vt:lpstr>ORDERBY DESC</vt:lpstr>
      <vt:lpstr>DISTINCT</vt:lpstr>
      <vt:lpstr>PowerPoint Presentation</vt:lpstr>
      <vt:lpstr>COUNT</vt:lpstr>
      <vt:lpstr>COUNT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IN sQL</dc:title>
  <dc:creator>Mythili</dc:creator>
  <cp:lastModifiedBy>user</cp:lastModifiedBy>
  <cp:revision>31</cp:revision>
  <dcterms:created xsi:type="dcterms:W3CDTF">2023-04-27T09:02:49Z</dcterms:created>
  <dcterms:modified xsi:type="dcterms:W3CDTF">2025-03-05T04:51:32Z</dcterms:modified>
</cp:coreProperties>
</file>