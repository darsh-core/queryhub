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72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A5E89-9B3A-58E6-7001-DAD5CB467F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DF0F76-3DEC-9C42-14D0-62348D09F0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713D5-E980-23E7-F4F8-9AB8C8E96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62922-3F4A-CAC3-B8B2-44BA5C7B1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5AD2E-0F57-505D-887D-708D01B45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25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CD00E-5216-EE6A-6DEE-1FC27F1F3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0C758-DED0-C327-D4FB-8CEF6B502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2F87FE-6932-E3EE-BEED-5D9149907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EA3D8-30EF-09BC-00B3-3359C99FE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8D23F-58B9-BEA6-BA93-959BD46C0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6306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1F5D7-088D-556C-6A92-D68903E2C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81459-46EC-2AEF-83DE-4F146D9C4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A9B7A-78D5-10FF-4D36-6BAD031E0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48A0-01D7-0244-6588-B447E50AF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14D54-D41E-2397-BBC3-C269F8991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262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F55EC-95A1-35A2-B60C-CF20B5B3B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57C8D-2055-102E-7E04-22FF29D625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CED9C4-4149-FC7B-9AE4-0D2E4995A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40B814-C9A3-7487-229A-9DE511D9D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B7A3E-C990-13B7-264E-6E3F0864F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81CF6-1504-C064-D126-6B64A9C20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834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89BD9-6060-4275-B944-0948F4D61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21E66F-8E8E-933B-102F-6DCF6FC0E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2F2D74-DF19-4EC7-FDAF-84B2AA77C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CE8CFB-2E9D-A526-F4A6-0C99356B57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718EC2-EC0F-E0C2-12EF-37900488D4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773643-3F1F-0C31-F98A-4D8F66C67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5E7781-F3D8-0AB0-59E6-0284C5280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DA5F50-50CC-082E-4440-432CF0167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247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558E2-97F6-FE7F-082A-A86288A36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B5449A-A734-5FD1-4147-5E55DC711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FD0E9-F23B-4BB1-B434-F5732DFD2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3F7D9A-3294-4F8A-4346-95492E434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374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1E170A-71DB-4CB5-1442-84978FD70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F3FC7B-B5E5-3C38-E792-015208DE7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81FA9-71B5-E33B-D973-27FE901E4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988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C4799-D03C-4911-F604-19E19882B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A43A6-CD0F-3026-B7C7-FC21A44BF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77DE2-A874-234A-CE56-908B62C55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08FED7-4D59-AC01-1E8F-C4AE11A47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588A1-620D-6306-E7F2-430E932CA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A781FE-640F-57EE-3ECD-51664F4A2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29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A2249-1346-DD06-BF45-CB390A52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DBFC01-F42E-45F1-1C2F-63C6735D6D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BEAE2B-63CF-FD07-FAD8-F05999BD3C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33C95E-897B-93A2-5814-007CA1ADF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5ED592-AFD1-B4AA-86A7-7CCD4D2A5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35C3A-6EC1-1E13-9C02-190E72190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508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83E0A-F8C3-FB49-3071-F5B7956F6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A8BEF-1343-4759-8492-6AACB1EFA1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35333-B351-7CE6-3B99-985F73DE8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05534E-D8CD-0DED-F886-E359A0848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CA321-D536-682E-5C20-27E8B3D58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035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03E83A-9BF7-3950-2AE0-2A55C956DC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78EB8-BA27-E012-7D30-541F6D57CA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98EDC-11A6-9BB2-35E3-713387738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DC865-2352-BD15-DD1B-9BF1C9120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07219-D696-DCCF-812F-4D7BE2F0C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1695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07489" y="2491181"/>
            <a:ext cx="874903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3A7C2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7911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A1BBFA-069A-84D1-88EA-7E9956EB4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BECDB-B7FB-9F76-5968-126519EBB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7CBC9-4D55-F383-F6CA-27AE45234E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BEDF1-D788-386A-2379-98EF351426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F319B-389A-54BA-0C7D-BCDD23BF1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571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538235"/>
                </a:solidFill>
              </a:rPr>
              <a:t>23CS201</a:t>
            </a:r>
            <a:r>
              <a:rPr sz="3200" spc="-20" dirty="0">
                <a:solidFill>
                  <a:srgbClr val="538235"/>
                </a:solidFill>
              </a:rPr>
              <a:t> </a:t>
            </a:r>
            <a:r>
              <a:rPr sz="3200" dirty="0">
                <a:solidFill>
                  <a:srgbClr val="538235"/>
                </a:solidFill>
              </a:rPr>
              <a:t>-</a:t>
            </a:r>
            <a:r>
              <a:rPr sz="3200" spc="-40" dirty="0">
                <a:solidFill>
                  <a:srgbClr val="538235"/>
                </a:solidFill>
              </a:rPr>
              <a:t> </a:t>
            </a:r>
            <a:r>
              <a:rPr sz="3200" dirty="0">
                <a:solidFill>
                  <a:srgbClr val="538235"/>
                </a:solidFill>
              </a:rPr>
              <a:t>Data</a:t>
            </a:r>
            <a:r>
              <a:rPr sz="3200" spc="-60" dirty="0">
                <a:solidFill>
                  <a:srgbClr val="538235"/>
                </a:solidFill>
              </a:rPr>
              <a:t> </a:t>
            </a:r>
            <a:r>
              <a:rPr sz="3200" dirty="0">
                <a:solidFill>
                  <a:srgbClr val="538235"/>
                </a:solidFill>
              </a:rPr>
              <a:t>Structures</a:t>
            </a:r>
            <a:r>
              <a:rPr sz="3200" spc="-65" dirty="0">
                <a:solidFill>
                  <a:srgbClr val="538235"/>
                </a:solidFill>
              </a:rPr>
              <a:t> </a:t>
            </a:r>
            <a:r>
              <a:rPr sz="3200" dirty="0">
                <a:solidFill>
                  <a:srgbClr val="538235"/>
                </a:solidFill>
              </a:rPr>
              <a:t>and</a:t>
            </a:r>
            <a:r>
              <a:rPr sz="3200" spc="-60" dirty="0">
                <a:solidFill>
                  <a:srgbClr val="538235"/>
                </a:solidFill>
              </a:rPr>
              <a:t> </a:t>
            </a:r>
            <a:r>
              <a:rPr sz="3200" dirty="0">
                <a:solidFill>
                  <a:srgbClr val="538235"/>
                </a:solidFill>
              </a:rPr>
              <a:t>Algorithms</a:t>
            </a:r>
            <a:r>
              <a:rPr sz="3200" spc="-50" dirty="0">
                <a:solidFill>
                  <a:srgbClr val="538235"/>
                </a:solidFill>
              </a:rPr>
              <a:t> </a:t>
            </a:r>
            <a:r>
              <a:rPr sz="3200" dirty="0">
                <a:solidFill>
                  <a:srgbClr val="538235"/>
                </a:solidFill>
              </a:rPr>
              <a:t>using</a:t>
            </a:r>
            <a:r>
              <a:rPr sz="3200" spc="-85" dirty="0">
                <a:solidFill>
                  <a:srgbClr val="538235"/>
                </a:solidFill>
              </a:rPr>
              <a:t> </a:t>
            </a:r>
            <a:r>
              <a:rPr sz="3200" spc="-25" dirty="0">
                <a:solidFill>
                  <a:srgbClr val="538235"/>
                </a:solidFill>
              </a:rPr>
              <a:t>C++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671186" y="3291585"/>
            <a:ext cx="23463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Calibri"/>
                <a:cs typeface="Calibri"/>
              </a:rPr>
              <a:t>Study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Materials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Basics</a:t>
            </a:r>
            <a:r>
              <a:rPr spc="-3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20" dirty="0"/>
              <a:t>C++: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0817"/>
            <a:ext cx="9577070" cy="413448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19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C++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versatile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programming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language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efficiency,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flexibility,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applicability.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combines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procedural,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object-</a:t>
            </a:r>
            <a:r>
              <a:rPr sz="2400" spc="-10" dirty="0">
                <a:latin typeface="Calibri"/>
                <a:cs typeface="Calibri"/>
              </a:rPr>
              <a:t>oriented,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generic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programming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features,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allowing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developers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create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high-</a:t>
            </a:r>
            <a:r>
              <a:rPr sz="2400" spc="-10" dirty="0">
                <a:latin typeface="Calibri"/>
                <a:cs typeface="Calibri"/>
              </a:rPr>
              <a:t>performance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software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across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various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domains.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standard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library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support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low-</a:t>
            </a:r>
            <a:r>
              <a:rPr sz="2400" dirty="0">
                <a:latin typeface="Calibri"/>
                <a:cs typeface="Calibri"/>
              </a:rPr>
              <a:t>level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memory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manipulation,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C++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commonly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software,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game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development,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embedded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systems,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more.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syntax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enhancing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features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classes,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inheritance,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polymorphism,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templates,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exception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handling,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powerful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tool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software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development.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38919"/>
            <a:ext cx="1978661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Arrays: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19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The</a:t>
            </a:r>
            <a:r>
              <a:rPr spc="-45" dirty="0"/>
              <a:t> </a:t>
            </a:r>
            <a:r>
              <a:rPr spc="-10" dirty="0"/>
              <a:t>array</a:t>
            </a:r>
            <a:r>
              <a:rPr spc="-60" dirty="0"/>
              <a:t> </a:t>
            </a:r>
            <a:r>
              <a:rPr dirty="0"/>
              <a:t>stores</a:t>
            </a:r>
            <a:r>
              <a:rPr spc="-55" dirty="0"/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spc="-30" dirty="0"/>
              <a:t>fixed-</a:t>
            </a:r>
            <a:r>
              <a:rPr dirty="0"/>
              <a:t>size</a:t>
            </a:r>
            <a:r>
              <a:rPr spc="-50" dirty="0"/>
              <a:t> </a:t>
            </a:r>
            <a:r>
              <a:rPr dirty="0"/>
              <a:t>sequential</a:t>
            </a:r>
            <a:r>
              <a:rPr spc="-50" dirty="0"/>
              <a:t> </a:t>
            </a:r>
            <a:r>
              <a:rPr dirty="0"/>
              <a:t>collection</a:t>
            </a:r>
            <a:r>
              <a:rPr spc="-8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elements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same</a:t>
            </a:r>
            <a:r>
              <a:rPr spc="-45" dirty="0"/>
              <a:t> </a:t>
            </a:r>
            <a:r>
              <a:rPr spc="-10" dirty="0"/>
              <a:t>type.</a:t>
            </a:r>
          </a:p>
          <a:p>
            <a:pPr marL="216535" marR="5080" indent="-204470">
              <a:lnSpc>
                <a:spcPct val="124600"/>
              </a:lnSpc>
              <a:spcBef>
                <a:spcPts val="15"/>
              </a:spcBef>
              <a:buFont typeface="Arial MT"/>
              <a:buChar char="•"/>
              <a:tabLst>
                <a:tab pos="216535" algn="l"/>
                <a:tab pos="239395" algn="l"/>
              </a:tabLst>
            </a:pPr>
            <a:r>
              <a:rPr dirty="0"/>
              <a:t>	An</a:t>
            </a:r>
            <a:r>
              <a:rPr spc="-45" dirty="0"/>
              <a:t> </a:t>
            </a:r>
            <a:r>
              <a:rPr spc="-10" dirty="0"/>
              <a:t>array</a:t>
            </a:r>
            <a:r>
              <a:rPr spc="-65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dirty="0"/>
              <a:t>used</a:t>
            </a:r>
            <a:r>
              <a:rPr spc="-35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dirty="0"/>
              <a:t>store</a:t>
            </a:r>
            <a:r>
              <a:rPr spc="-4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collection</a:t>
            </a:r>
            <a:r>
              <a:rPr spc="-7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data,</a:t>
            </a:r>
            <a:r>
              <a:rPr spc="-60" dirty="0"/>
              <a:t> </a:t>
            </a:r>
            <a:r>
              <a:rPr dirty="0"/>
              <a:t>but</a:t>
            </a:r>
            <a:r>
              <a:rPr spc="-45" dirty="0"/>
              <a:t> </a:t>
            </a:r>
            <a:r>
              <a:rPr dirty="0"/>
              <a:t>it</a:t>
            </a:r>
            <a:r>
              <a:rPr spc="-65" dirty="0"/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dirty="0"/>
              <a:t>often</a:t>
            </a:r>
            <a:r>
              <a:rPr spc="-50" dirty="0"/>
              <a:t> </a:t>
            </a:r>
            <a:r>
              <a:rPr dirty="0"/>
              <a:t>more</a:t>
            </a:r>
            <a:r>
              <a:rPr spc="-50" dirty="0"/>
              <a:t> </a:t>
            </a:r>
            <a:r>
              <a:rPr dirty="0"/>
              <a:t>useful</a:t>
            </a:r>
            <a:r>
              <a:rPr spc="-40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think</a:t>
            </a:r>
            <a:r>
              <a:rPr spc="-50" dirty="0"/>
              <a:t> </a:t>
            </a:r>
            <a:r>
              <a:rPr spc="-25" dirty="0"/>
              <a:t>of </a:t>
            </a:r>
            <a:r>
              <a:rPr dirty="0"/>
              <a:t>an</a:t>
            </a:r>
            <a:r>
              <a:rPr spc="-40" dirty="0"/>
              <a:t> </a:t>
            </a:r>
            <a:r>
              <a:rPr spc="-10" dirty="0"/>
              <a:t>array</a:t>
            </a:r>
            <a:r>
              <a:rPr spc="-45" dirty="0"/>
              <a:t> </a:t>
            </a:r>
            <a:r>
              <a:rPr dirty="0"/>
              <a:t>as</a:t>
            </a:r>
            <a:r>
              <a:rPr spc="-35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collection</a:t>
            </a:r>
            <a:r>
              <a:rPr spc="-5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variables</a:t>
            </a:r>
            <a:r>
              <a:rPr spc="-3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same</a:t>
            </a:r>
            <a:r>
              <a:rPr spc="-45" dirty="0"/>
              <a:t> </a:t>
            </a:r>
            <a:r>
              <a:rPr spc="-10" dirty="0"/>
              <a:t>type.</a:t>
            </a:r>
          </a:p>
          <a:p>
            <a:pPr marL="240029" marR="177800" indent="-227329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Instead</a:t>
            </a:r>
            <a:r>
              <a:rPr spc="-65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dirty="0"/>
              <a:t>declaring</a:t>
            </a:r>
            <a:r>
              <a:rPr spc="-60" dirty="0"/>
              <a:t> </a:t>
            </a:r>
            <a:r>
              <a:rPr dirty="0"/>
              <a:t>individual</a:t>
            </a:r>
            <a:r>
              <a:rPr spc="-50" dirty="0"/>
              <a:t> </a:t>
            </a:r>
            <a:r>
              <a:rPr spc="-10" dirty="0"/>
              <a:t>variables,</a:t>
            </a:r>
            <a:r>
              <a:rPr spc="-50" dirty="0"/>
              <a:t> </a:t>
            </a:r>
            <a:r>
              <a:rPr dirty="0"/>
              <a:t>such</a:t>
            </a:r>
            <a:r>
              <a:rPr spc="-50" dirty="0"/>
              <a:t> </a:t>
            </a:r>
            <a:r>
              <a:rPr dirty="0"/>
              <a:t>as</a:t>
            </a:r>
            <a:r>
              <a:rPr spc="-65" dirty="0"/>
              <a:t> </a:t>
            </a:r>
            <a:r>
              <a:rPr dirty="0"/>
              <a:t>number0,</a:t>
            </a:r>
            <a:r>
              <a:rPr spc="-45" dirty="0"/>
              <a:t> </a:t>
            </a:r>
            <a:r>
              <a:rPr dirty="0"/>
              <a:t>number1,</a:t>
            </a:r>
            <a:r>
              <a:rPr spc="-50" dirty="0"/>
              <a:t> </a:t>
            </a:r>
            <a:r>
              <a:rPr dirty="0"/>
              <a:t>...,</a:t>
            </a:r>
            <a:r>
              <a:rPr spc="-80" dirty="0"/>
              <a:t> </a:t>
            </a:r>
            <a:r>
              <a:rPr spc="-25" dirty="0"/>
              <a:t>and 	</a:t>
            </a:r>
            <a:r>
              <a:rPr dirty="0"/>
              <a:t>number99,</a:t>
            </a:r>
            <a:r>
              <a:rPr spc="-40" dirty="0"/>
              <a:t> </a:t>
            </a:r>
            <a:r>
              <a:rPr dirty="0"/>
              <a:t>you</a:t>
            </a:r>
            <a:r>
              <a:rPr spc="-60" dirty="0"/>
              <a:t> </a:t>
            </a:r>
            <a:r>
              <a:rPr dirty="0"/>
              <a:t>declare</a:t>
            </a:r>
            <a:r>
              <a:rPr spc="-50" dirty="0"/>
              <a:t> </a:t>
            </a:r>
            <a:r>
              <a:rPr dirty="0"/>
              <a:t>one</a:t>
            </a:r>
            <a:r>
              <a:rPr spc="-25" dirty="0"/>
              <a:t> </a:t>
            </a:r>
            <a:r>
              <a:rPr spc="-10" dirty="0"/>
              <a:t>array</a:t>
            </a:r>
            <a:r>
              <a:rPr spc="-70" dirty="0"/>
              <a:t> </a:t>
            </a:r>
            <a:r>
              <a:rPr dirty="0"/>
              <a:t>variable</a:t>
            </a:r>
            <a:r>
              <a:rPr spc="-35" dirty="0"/>
              <a:t> </a:t>
            </a:r>
            <a:r>
              <a:rPr dirty="0"/>
              <a:t>such</a:t>
            </a:r>
            <a:r>
              <a:rPr spc="-45" dirty="0"/>
              <a:t> </a:t>
            </a:r>
            <a:r>
              <a:rPr dirty="0"/>
              <a:t>as</a:t>
            </a:r>
            <a:r>
              <a:rPr spc="-45" dirty="0"/>
              <a:t> </a:t>
            </a:r>
            <a:r>
              <a:rPr dirty="0"/>
              <a:t>numbers</a:t>
            </a:r>
            <a:r>
              <a:rPr spc="-5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use</a:t>
            </a:r>
            <a:r>
              <a:rPr spc="-35" dirty="0"/>
              <a:t> </a:t>
            </a:r>
            <a:r>
              <a:rPr spc="-10" dirty="0"/>
              <a:t>numbers[0], 	</a:t>
            </a:r>
            <a:r>
              <a:rPr dirty="0"/>
              <a:t>numbers[1],</a:t>
            </a:r>
            <a:r>
              <a:rPr spc="-85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dirty="0"/>
              <a:t>...numbers[99]</a:t>
            </a:r>
            <a:r>
              <a:rPr spc="-85" dirty="0"/>
              <a:t> </a:t>
            </a:r>
            <a:r>
              <a:rPr dirty="0"/>
              <a:t>to</a:t>
            </a:r>
            <a:r>
              <a:rPr spc="-95" dirty="0"/>
              <a:t> </a:t>
            </a:r>
            <a:r>
              <a:rPr spc="-10" dirty="0"/>
              <a:t>represent</a:t>
            </a:r>
            <a:r>
              <a:rPr spc="-75" dirty="0"/>
              <a:t> </a:t>
            </a:r>
            <a:r>
              <a:rPr dirty="0"/>
              <a:t>individual</a:t>
            </a:r>
            <a:r>
              <a:rPr spc="-80" dirty="0"/>
              <a:t> </a:t>
            </a:r>
            <a:r>
              <a:rPr spc="-10" dirty="0"/>
              <a:t>variables.</a:t>
            </a: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A</a:t>
            </a:r>
            <a:r>
              <a:rPr spc="-60" dirty="0"/>
              <a:t> </a:t>
            </a:r>
            <a:r>
              <a:rPr dirty="0"/>
              <a:t>specific</a:t>
            </a:r>
            <a:r>
              <a:rPr spc="-60" dirty="0"/>
              <a:t> </a:t>
            </a:r>
            <a:r>
              <a:rPr dirty="0"/>
              <a:t>element</a:t>
            </a:r>
            <a:r>
              <a:rPr spc="-60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dirty="0"/>
              <a:t>an</a:t>
            </a:r>
            <a:r>
              <a:rPr spc="-50" dirty="0"/>
              <a:t> </a:t>
            </a:r>
            <a:r>
              <a:rPr spc="-10" dirty="0"/>
              <a:t>array</a:t>
            </a:r>
            <a:r>
              <a:rPr spc="-55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dirty="0"/>
              <a:t>accessed</a:t>
            </a:r>
            <a:r>
              <a:rPr spc="-65" dirty="0"/>
              <a:t> </a:t>
            </a:r>
            <a:r>
              <a:rPr dirty="0"/>
              <a:t>by</a:t>
            </a:r>
            <a:r>
              <a:rPr spc="-55" dirty="0"/>
              <a:t> </a:t>
            </a:r>
            <a:r>
              <a:rPr dirty="0"/>
              <a:t>an</a:t>
            </a:r>
            <a:r>
              <a:rPr spc="-50" dirty="0"/>
              <a:t> </a:t>
            </a:r>
            <a:r>
              <a:rPr spc="-10" dirty="0"/>
              <a:t>index.</a:t>
            </a: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All</a:t>
            </a:r>
            <a:r>
              <a:rPr spc="-60" dirty="0"/>
              <a:t> </a:t>
            </a:r>
            <a:r>
              <a:rPr spc="-10" dirty="0"/>
              <a:t>arrays</a:t>
            </a:r>
            <a:r>
              <a:rPr spc="-65" dirty="0"/>
              <a:t> </a:t>
            </a:r>
            <a:r>
              <a:rPr dirty="0"/>
              <a:t>consist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contiguous</a:t>
            </a:r>
            <a:r>
              <a:rPr spc="-55" dirty="0"/>
              <a:t> </a:t>
            </a:r>
            <a:r>
              <a:rPr dirty="0"/>
              <a:t>memory</a:t>
            </a:r>
            <a:r>
              <a:rPr spc="-75" dirty="0"/>
              <a:t> </a:t>
            </a:r>
            <a:r>
              <a:rPr spc="-10" dirty="0"/>
              <a:t>locations.</a:t>
            </a:r>
          </a:p>
          <a:p>
            <a:pPr marL="240029" marR="323850" indent="-227329">
              <a:lnSpc>
                <a:spcPts val="259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The</a:t>
            </a:r>
            <a:r>
              <a:rPr spc="-70" dirty="0"/>
              <a:t> </a:t>
            </a:r>
            <a:r>
              <a:rPr dirty="0"/>
              <a:t>lowest</a:t>
            </a:r>
            <a:r>
              <a:rPr spc="-90" dirty="0"/>
              <a:t> </a:t>
            </a:r>
            <a:r>
              <a:rPr dirty="0"/>
              <a:t>address</a:t>
            </a:r>
            <a:r>
              <a:rPr spc="-70" dirty="0"/>
              <a:t> </a:t>
            </a:r>
            <a:r>
              <a:rPr spc="-10" dirty="0"/>
              <a:t>corresponds</a:t>
            </a:r>
            <a:r>
              <a:rPr spc="-70" dirty="0"/>
              <a:t> </a:t>
            </a:r>
            <a:r>
              <a:rPr dirty="0"/>
              <a:t>to</a:t>
            </a:r>
            <a:r>
              <a:rPr spc="-95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dirty="0"/>
              <a:t>first</a:t>
            </a:r>
            <a:r>
              <a:rPr spc="-90" dirty="0"/>
              <a:t> </a:t>
            </a:r>
            <a:r>
              <a:rPr dirty="0"/>
              <a:t>element</a:t>
            </a:r>
            <a:r>
              <a:rPr spc="-85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dirty="0"/>
              <a:t>highest</a:t>
            </a:r>
            <a:r>
              <a:rPr spc="-85" dirty="0"/>
              <a:t> </a:t>
            </a:r>
            <a:r>
              <a:rPr dirty="0"/>
              <a:t>address</a:t>
            </a:r>
            <a:r>
              <a:rPr spc="-70" dirty="0"/>
              <a:t> </a:t>
            </a:r>
            <a:r>
              <a:rPr spc="-25" dirty="0"/>
              <a:t>to 	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last</a:t>
            </a:r>
            <a:r>
              <a:rPr spc="-50" dirty="0"/>
              <a:t> </a:t>
            </a:r>
            <a:r>
              <a:rPr spc="-10" dirty="0"/>
              <a:t>element.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Types</a:t>
            </a:r>
            <a:r>
              <a:rPr spc="-55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20" dirty="0"/>
              <a:t>array: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393489"/>
            <a:ext cx="9734550" cy="263906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2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arrays: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One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Dimensional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Array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Multi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Dimensional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Array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35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dirty="0">
                <a:latin typeface="Calibri"/>
                <a:cs typeface="Calibri"/>
              </a:rPr>
              <a:t>One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Dimensional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Array: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dimensional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array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collection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sz="2400" spc="-10" dirty="0">
                <a:latin typeface="Calibri"/>
                <a:cs typeface="Calibri"/>
              </a:rPr>
              <a:t>types.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alibri"/>
                <a:cs typeface="Calibri"/>
              </a:rPr>
              <a:t>1-</a:t>
            </a:r>
            <a:r>
              <a:rPr sz="2400" dirty="0">
                <a:latin typeface="Calibri"/>
                <a:cs typeface="Calibri"/>
              </a:rPr>
              <a:t>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array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declared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as: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8816" y="4250435"/>
            <a:ext cx="6754368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Representation</a:t>
            </a:r>
            <a:r>
              <a:rPr spc="-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10" dirty="0"/>
              <a:t>Array: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8627" y="2324100"/>
            <a:ext cx="7059168" cy="20863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Multi-</a:t>
            </a:r>
            <a:r>
              <a:rPr dirty="0"/>
              <a:t>Dimensional</a:t>
            </a:r>
            <a:r>
              <a:rPr spc="25" dirty="0"/>
              <a:t> </a:t>
            </a:r>
            <a:r>
              <a:rPr spc="-10" dirty="0"/>
              <a:t>Array: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0817"/>
            <a:ext cx="8799830" cy="230949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19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multidimensional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array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array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arrays.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25" dirty="0">
                <a:latin typeface="Calibri"/>
                <a:cs typeface="Calibri"/>
              </a:rPr>
              <a:t>Generally,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two-</a:t>
            </a:r>
            <a:r>
              <a:rPr sz="2400" dirty="0">
                <a:latin typeface="Calibri"/>
                <a:cs typeface="Calibri"/>
              </a:rPr>
              <a:t>dimensional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array.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matrix.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We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indices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traverse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rows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columns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array.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declared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as: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9839" y="4358640"/>
            <a:ext cx="6534911" cy="19248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Multi-</a:t>
            </a:r>
            <a:r>
              <a:rPr dirty="0"/>
              <a:t>Dimensional</a:t>
            </a:r>
            <a:r>
              <a:rPr spc="25" dirty="0"/>
              <a:t> </a:t>
            </a:r>
            <a:r>
              <a:rPr spc="-10" dirty="0"/>
              <a:t>Array: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6707" y="2077211"/>
            <a:ext cx="6288023" cy="36484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Strings: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19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C++</a:t>
            </a:r>
            <a:r>
              <a:rPr spc="-60" dirty="0"/>
              <a:t> </a:t>
            </a:r>
            <a:r>
              <a:rPr dirty="0"/>
              <a:t>strings</a:t>
            </a:r>
            <a:r>
              <a:rPr spc="-55" dirty="0"/>
              <a:t> </a:t>
            </a:r>
            <a:r>
              <a:rPr dirty="0"/>
              <a:t>are</a:t>
            </a:r>
            <a:r>
              <a:rPr spc="-60" dirty="0"/>
              <a:t> </a:t>
            </a:r>
            <a:r>
              <a:rPr dirty="0"/>
              <a:t>sequences</a:t>
            </a:r>
            <a:r>
              <a:rPr spc="-5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10" dirty="0"/>
              <a:t>characters</a:t>
            </a:r>
            <a:r>
              <a:rPr spc="-90" dirty="0"/>
              <a:t> </a:t>
            </a:r>
            <a:r>
              <a:rPr dirty="0"/>
              <a:t>stored</a:t>
            </a:r>
            <a:r>
              <a:rPr spc="-50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char</a:t>
            </a:r>
            <a:r>
              <a:rPr spc="-60" dirty="0"/>
              <a:t> </a:t>
            </a:r>
            <a:r>
              <a:rPr spc="-10" dirty="0"/>
              <a:t>array.</a:t>
            </a: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Strings</a:t>
            </a:r>
            <a:r>
              <a:rPr spc="-75" dirty="0"/>
              <a:t> </a:t>
            </a:r>
            <a:r>
              <a:rPr dirty="0"/>
              <a:t>are</a:t>
            </a:r>
            <a:r>
              <a:rPr spc="-65" dirty="0"/>
              <a:t> </a:t>
            </a:r>
            <a:r>
              <a:rPr dirty="0"/>
              <a:t>used</a:t>
            </a:r>
            <a:r>
              <a:rPr spc="-65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store</a:t>
            </a:r>
            <a:r>
              <a:rPr spc="-70" dirty="0"/>
              <a:t> </a:t>
            </a:r>
            <a:r>
              <a:rPr dirty="0"/>
              <a:t>words</a:t>
            </a:r>
            <a:r>
              <a:rPr spc="-60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spc="-10" dirty="0"/>
              <a:t>text.</a:t>
            </a: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They</a:t>
            </a:r>
            <a:r>
              <a:rPr spc="-60" dirty="0"/>
              <a:t> </a:t>
            </a:r>
            <a:r>
              <a:rPr dirty="0"/>
              <a:t>are</a:t>
            </a:r>
            <a:r>
              <a:rPr spc="-50" dirty="0"/>
              <a:t> </a:t>
            </a:r>
            <a:r>
              <a:rPr dirty="0"/>
              <a:t>also</a:t>
            </a:r>
            <a:r>
              <a:rPr spc="-55" dirty="0"/>
              <a:t> </a:t>
            </a:r>
            <a:r>
              <a:rPr dirty="0"/>
              <a:t>used</a:t>
            </a:r>
            <a:r>
              <a:rPr spc="-55" dirty="0"/>
              <a:t> </a:t>
            </a:r>
            <a:r>
              <a:rPr dirty="0"/>
              <a:t>to</a:t>
            </a:r>
            <a:r>
              <a:rPr spc="-65" dirty="0"/>
              <a:t> </a:t>
            </a:r>
            <a:r>
              <a:rPr dirty="0"/>
              <a:t>store</a:t>
            </a:r>
            <a:r>
              <a:rPr spc="-50" dirty="0"/>
              <a:t> </a:t>
            </a:r>
            <a:r>
              <a:rPr dirty="0"/>
              <a:t>data,</a:t>
            </a:r>
            <a:r>
              <a:rPr spc="-65" dirty="0"/>
              <a:t> </a:t>
            </a:r>
            <a:r>
              <a:rPr dirty="0"/>
              <a:t>such</a:t>
            </a:r>
            <a:r>
              <a:rPr spc="-65" dirty="0"/>
              <a:t> </a:t>
            </a:r>
            <a:r>
              <a:rPr dirty="0"/>
              <a:t>as</a:t>
            </a:r>
            <a:r>
              <a:rPr spc="-55" dirty="0"/>
              <a:t> </a:t>
            </a:r>
            <a:r>
              <a:rPr dirty="0"/>
              <a:t>numbers</a:t>
            </a:r>
            <a:r>
              <a:rPr spc="-7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other</a:t>
            </a:r>
            <a:r>
              <a:rPr spc="-55" dirty="0"/>
              <a:t> </a:t>
            </a:r>
            <a:r>
              <a:rPr dirty="0"/>
              <a:t>types</a:t>
            </a:r>
            <a:r>
              <a:rPr spc="-55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10" dirty="0"/>
              <a:t>information.</a:t>
            </a:r>
          </a:p>
          <a:p>
            <a:pPr marL="240029" marR="841375" indent="-227329">
              <a:lnSpc>
                <a:spcPts val="259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Strings</a:t>
            </a:r>
            <a:r>
              <a:rPr spc="-4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dirty="0"/>
              <a:t>C++</a:t>
            </a:r>
            <a:r>
              <a:rPr spc="-40" dirty="0"/>
              <a:t> </a:t>
            </a:r>
            <a:r>
              <a:rPr dirty="0"/>
              <a:t>can</a:t>
            </a:r>
            <a:r>
              <a:rPr spc="-30" dirty="0"/>
              <a:t> </a:t>
            </a:r>
            <a:r>
              <a:rPr dirty="0"/>
              <a:t>be</a:t>
            </a:r>
            <a:r>
              <a:rPr spc="-30" dirty="0"/>
              <a:t> </a:t>
            </a:r>
            <a:r>
              <a:rPr dirty="0"/>
              <a:t>defined</a:t>
            </a:r>
            <a:r>
              <a:rPr spc="-15" dirty="0"/>
              <a:t> </a:t>
            </a:r>
            <a:r>
              <a:rPr dirty="0"/>
              <a:t>either</a:t>
            </a:r>
            <a:r>
              <a:rPr spc="-45" dirty="0"/>
              <a:t> </a:t>
            </a:r>
            <a:r>
              <a:rPr dirty="0"/>
              <a:t>using</a:t>
            </a:r>
            <a:r>
              <a:rPr spc="-3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spc="-10" dirty="0"/>
              <a:t>std::string</a:t>
            </a:r>
            <a:r>
              <a:rPr spc="-70" dirty="0"/>
              <a:t> </a:t>
            </a:r>
            <a:r>
              <a:rPr dirty="0"/>
              <a:t>class</a:t>
            </a:r>
            <a:r>
              <a:rPr spc="-45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10" dirty="0"/>
              <a:t>C-style 	</a:t>
            </a:r>
            <a:r>
              <a:rPr dirty="0"/>
              <a:t>character</a:t>
            </a:r>
            <a:r>
              <a:rPr spc="-120" dirty="0"/>
              <a:t> </a:t>
            </a:r>
            <a:r>
              <a:rPr spc="-10" dirty="0"/>
              <a:t>arrays.</a:t>
            </a:r>
          </a:p>
          <a:p>
            <a:pPr marL="240029" marR="328295" indent="-227329">
              <a:lnSpc>
                <a:spcPts val="259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This</a:t>
            </a:r>
            <a:r>
              <a:rPr spc="-65" dirty="0"/>
              <a:t> </a:t>
            </a:r>
            <a:r>
              <a:rPr dirty="0"/>
              <a:t>class</a:t>
            </a:r>
            <a:r>
              <a:rPr spc="-75" dirty="0"/>
              <a:t> </a:t>
            </a:r>
            <a:r>
              <a:rPr spc="-10" dirty="0"/>
              <a:t>provides</a:t>
            </a:r>
            <a:r>
              <a:rPr spc="-50" dirty="0"/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spc="-10" dirty="0"/>
              <a:t>convenient</a:t>
            </a:r>
            <a:r>
              <a:rPr spc="-50" dirty="0"/>
              <a:t> </a:t>
            </a:r>
            <a:r>
              <a:rPr dirty="0"/>
              <a:t>way</a:t>
            </a:r>
            <a:r>
              <a:rPr spc="-70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manipulate</a:t>
            </a:r>
            <a:r>
              <a:rPr spc="-70" dirty="0"/>
              <a:t> </a:t>
            </a:r>
            <a:r>
              <a:rPr dirty="0"/>
              <a:t>strings,including</a:t>
            </a:r>
            <a:r>
              <a:rPr spc="-70" dirty="0"/>
              <a:t> </a:t>
            </a:r>
            <a:r>
              <a:rPr spc="-10" dirty="0"/>
              <a:t>operations 	</a:t>
            </a:r>
            <a:r>
              <a:rPr dirty="0"/>
              <a:t>like</a:t>
            </a:r>
            <a:r>
              <a:rPr spc="-80" dirty="0"/>
              <a:t> </a:t>
            </a:r>
            <a:r>
              <a:rPr spc="-10" dirty="0"/>
              <a:t>concatenation,</a:t>
            </a:r>
            <a:r>
              <a:rPr spc="-80" dirty="0"/>
              <a:t> </a:t>
            </a:r>
            <a:r>
              <a:rPr dirty="0"/>
              <a:t>substring</a:t>
            </a:r>
            <a:r>
              <a:rPr spc="-85" dirty="0"/>
              <a:t> </a:t>
            </a:r>
            <a:r>
              <a:rPr dirty="0"/>
              <a:t>extraction,</a:t>
            </a:r>
            <a:r>
              <a:rPr spc="-11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spc="-10" dirty="0"/>
              <a:t>comparison.</a:t>
            </a:r>
          </a:p>
          <a:p>
            <a:pPr marL="240029" indent="-227329">
              <a:lnSpc>
                <a:spcPts val="2735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/>
              <a:t>Strings</a:t>
            </a:r>
            <a:r>
              <a:rPr spc="-70" dirty="0"/>
              <a:t> </a:t>
            </a:r>
            <a:r>
              <a:rPr dirty="0"/>
              <a:t>are</a:t>
            </a:r>
            <a:r>
              <a:rPr spc="-45" dirty="0"/>
              <a:t> </a:t>
            </a:r>
            <a:r>
              <a:rPr spc="-10" dirty="0"/>
              <a:t>fundamental</a:t>
            </a:r>
            <a:r>
              <a:rPr spc="-65" dirty="0"/>
              <a:t> </a:t>
            </a:r>
            <a:r>
              <a:rPr dirty="0"/>
              <a:t>for</a:t>
            </a:r>
            <a:r>
              <a:rPr spc="-55" dirty="0"/>
              <a:t> </a:t>
            </a:r>
            <a:r>
              <a:rPr spc="-10" dirty="0"/>
              <a:t>representing</a:t>
            </a:r>
            <a:r>
              <a:rPr spc="-50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processing</a:t>
            </a:r>
            <a:r>
              <a:rPr spc="-75" dirty="0"/>
              <a:t> </a:t>
            </a:r>
            <a:r>
              <a:rPr dirty="0"/>
              <a:t>textual</a:t>
            </a:r>
            <a:r>
              <a:rPr spc="-75" dirty="0"/>
              <a:t> </a:t>
            </a:r>
            <a:r>
              <a:rPr dirty="0"/>
              <a:t>data</a:t>
            </a:r>
            <a:r>
              <a:rPr spc="-60" dirty="0"/>
              <a:t> </a:t>
            </a:r>
            <a:r>
              <a:rPr dirty="0"/>
              <a:t>in</a:t>
            </a:r>
            <a:r>
              <a:rPr spc="-55" dirty="0"/>
              <a:t> </a:t>
            </a:r>
            <a:r>
              <a:rPr spc="-10" dirty="0"/>
              <a:t>computer</a:t>
            </a:r>
          </a:p>
          <a:p>
            <a:pPr marL="241300">
              <a:lnSpc>
                <a:spcPts val="2735"/>
              </a:lnSpc>
            </a:pPr>
            <a:r>
              <a:rPr spc="-10" dirty="0"/>
              <a:t>programs.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Declaration</a:t>
            </a:r>
            <a:r>
              <a:rPr spc="-65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spc="-10" dirty="0"/>
              <a:t>Initialization::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8760" y="1833372"/>
            <a:ext cx="7182611" cy="37917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String</a:t>
            </a:r>
            <a:r>
              <a:rPr spc="-85" dirty="0"/>
              <a:t> </a:t>
            </a:r>
            <a:r>
              <a:rPr spc="-10" dirty="0"/>
              <a:t>Concatenation: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4100" y="2051304"/>
            <a:ext cx="6259067" cy="26868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String</a:t>
            </a:r>
            <a:r>
              <a:rPr spc="-85" dirty="0"/>
              <a:t> </a:t>
            </a:r>
            <a:r>
              <a:rPr spc="-10" dirty="0"/>
              <a:t>Manipulation: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0817"/>
            <a:ext cx="7877809" cy="3678554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19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substr():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Extracts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substring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string.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find():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Finds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occurrence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substring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string.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replace():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Replaces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portion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another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string.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erase():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Removes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characters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string.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insert():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Inserts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characters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string.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alibri"/>
                <a:cs typeface="Calibri"/>
              </a:rPr>
              <a:t>Conversion: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c_str():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Converts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std::string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C-</a:t>
            </a:r>
            <a:r>
              <a:rPr sz="2400" dirty="0">
                <a:latin typeface="Calibri"/>
                <a:cs typeface="Calibri"/>
              </a:rPr>
              <a:t>style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(const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char*).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alibri"/>
                <a:cs typeface="Calibri"/>
              </a:rPr>
              <a:t>std::to_string():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Converts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numeric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string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Pointers: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558290"/>
            <a:ext cx="10057130" cy="307721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403860" indent="-227329" algn="just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Pointers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symbolic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representations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addresses.They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enable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programs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	</a:t>
            </a:r>
            <a:r>
              <a:rPr sz="2400" dirty="0">
                <a:latin typeface="Calibri"/>
                <a:cs typeface="Calibri"/>
              </a:rPr>
              <a:t>simulate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call-</a:t>
            </a:r>
            <a:r>
              <a:rPr sz="2400" spc="-25" dirty="0">
                <a:latin typeface="Calibri"/>
                <a:cs typeface="Calibri"/>
              </a:rPr>
              <a:t>by-</a:t>
            </a:r>
            <a:r>
              <a:rPr sz="2400" spc="-20" dirty="0">
                <a:latin typeface="Calibri"/>
                <a:cs typeface="Calibri"/>
              </a:rPr>
              <a:t>reference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well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create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manipulate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dynamic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 	</a:t>
            </a:r>
            <a:r>
              <a:rPr sz="2400" spc="-10" dirty="0">
                <a:latin typeface="Calibri"/>
                <a:cs typeface="Calibri"/>
              </a:rPr>
              <a:t>structures.</a:t>
            </a:r>
            <a:endParaRPr sz="2400">
              <a:latin typeface="Calibri"/>
              <a:cs typeface="Calibri"/>
            </a:endParaRPr>
          </a:p>
          <a:p>
            <a:pPr marL="240029" marR="5080" indent="-227329" algn="just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spc="-10" dirty="0">
                <a:latin typeface="Calibri"/>
                <a:cs typeface="Calibri"/>
              </a:rPr>
              <a:t>Iterating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arrays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use 	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pointers.</a:t>
            </a:r>
            <a:endParaRPr sz="2400">
              <a:latin typeface="Calibri"/>
              <a:cs typeface="Calibri"/>
            </a:endParaRPr>
          </a:p>
          <a:p>
            <a:pPr marL="240029" indent="-227329" algn="just">
              <a:lnSpc>
                <a:spcPts val="2735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address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variable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you’re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working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assigned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pointer</a:t>
            </a:r>
            <a:endParaRPr sz="2400">
              <a:latin typeface="Calibri"/>
              <a:cs typeface="Calibri"/>
            </a:endParaRPr>
          </a:p>
          <a:p>
            <a:pPr marL="241300" algn="just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variable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(such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string).</a:t>
            </a:r>
            <a:endParaRPr sz="2400">
              <a:latin typeface="Calibri"/>
              <a:cs typeface="Calibri"/>
            </a:endParaRPr>
          </a:p>
          <a:p>
            <a:pPr marL="240029" indent="-227329" algn="just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spc="-10" dirty="0">
                <a:latin typeface="Calibri"/>
                <a:cs typeface="Calibri"/>
              </a:rPr>
              <a:t>Syntax: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1660" y="5062728"/>
            <a:ext cx="7039356" cy="7711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Steps</a:t>
            </a:r>
            <a:r>
              <a:rPr spc="-60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Solve</a:t>
            </a:r>
            <a:r>
              <a:rPr spc="-50" dirty="0"/>
              <a:t> </a:t>
            </a:r>
            <a:r>
              <a:rPr dirty="0"/>
              <a:t>RMQ</a:t>
            </a:r>
            <a:r>
              <a:rPr spc="-60" dirty="0"/>
              <a:t> </a:t>
            </a:r>
            <a:r>
              <a:rPr dirty="0"/>
              <a:t>Using</a:t>
            </a:r>
            <a:r>
              <a:rPr spc="-70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Segment</a:t>
            </a:r>
            <a:r>
              <a:rPr spc="-25" dirty="0"/>
              <a:t> </a:t>
            </a:r>
            <a:r>
              <a:rPr spc="-10" dirty="0"/>
              <a:t>Tree: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4832" y="2165604"/>
            <a:ext cx="7117080" cy="35631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3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use</a:t>
            </a:r>
            <a:r>
              <a:rPr spc="-25" dirty="0"/>
              <a:t> </a:t>
            </a:r>
            <a:r>
              <a:rPr dirty="0"/>
              <a:t>a</a:t>
            </a:r>
            <a:r>
              <a:rPr spc="-10" dirty="0"/>
              <a:t> pointer?: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0817"/>
            <a:ext cx="10333990" cy="316928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19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Define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variable</a:t>
            </a:r>
            <a:endParaRPr sz="2400">
              <a:latin typeface="Calibri"/>
              <a:cs typeface="Calibri"/>
            </a:endParaRPr>
          </a:p>
          <a:p>
            <a:pPr marL="240029" marR="706755" indent="-227329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Assigning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address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variable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unary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(&amp;) 	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returns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address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variable.</a:t>
            </a:r>
            <a:endParaRPr sz="2400">
              <a:latin typeface="Calibri"/>
              <a:cs typeface="Calibri"/>
            </a:endParaRPr>
          </a:p>
          <a:p>
            <a:pPr marL="240029" marR="170180" indent="-227329">
              <a:lnSpc>
                <a:spcPts val="259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Accessing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address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unary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(*)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returns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variable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located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address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operand.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ts val="259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reason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associate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how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bytes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in.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increment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pointer,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increase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by</a:t>
            </a:r>
            <a:r>
              <a:rPr sz="2400" dirty="0">
                <a:latin typeface="Calibri"/>
                <a:cs typeface="Calibri"/>
              </a:rPr>
              <a:t> 	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size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points.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Pointers: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0092" y="1537716"/>
            <a:ext cx="6982968" cy="3619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References</a:t>
            </a:r>
            <a:r>
              <a:rPr spc="-85" dirty="0"/>
              <a:t> </a:t>
            </a:r>
            <a:r>
              <a:rPr dirty="0"/>
              <a:t>and</a:t>
            </a:r>
            <a:r>
              <a:rPr spc="-105" dirty="0"/>
              <a:t> </a:t>
            </a:r>
            <a:r>
              <a:rPr spc="-10" dirty="0"/>
              <a:t>Pointers: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2638"/>
            <a:ext cx="6941184" cy="2218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There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ways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pass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C++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arguments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function: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80"/>
              </a:spcBef>
              <a:buFont typeface="Arial MT"/>
              <a:buChar char="•"/>
            </a:pP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alibri"/>
                <a:cs typeface="Calibri"/>
              </a:rPr>
              <a:t>Call-</a:t>
            </a:r>
            <a:r>
              <a:rPr sz="2400" spc="-20" dirty="0">
                <a:latin typeface="Calibri"/>
                <a:cs typeface="Calibri"/>
              </a:rPr>
              <a:t>By-</a:t>
            </a:r>
            <a:r>
              <a:rPr sz="2400" spc="-10" dirty="0">
                <a:latin typeface="Calibri"/>
                <a:cs typeface="Calibri"/>
              </a:rPr>
              <a:t>Value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alibri"/>
                <a:cs typeface="Calibri"/>
              </a:rPr>
              <a:t>Call-</a:t>
            </a:r>
            <a:r>
              <a:rPr sz="2400" spc="-20" dirty="0">
                <a:latin typeface="Calibri"/>
                <a:cs typeface="Calibri"/>
              </a:rPr>
              <a:t>By-Reference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Pointer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Argument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alibri"/>
                <a:cs typeface="Calibri"/>
              </a:rPr>
              <a:t>Call-</a:t>
            </a:r>
            <a:r>
              <a:rPr sz="2400" spc="-20" dirty="0">
                <a:latin typeface="Calibri"/>
                <a:cs typeface="Calibri"/>
              </a:rPr>
              <a:t>By-Reference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Reference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Argument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Structures: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0817"/>
            <a:ext cx="10047605" cy="329692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819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user-</a:t>
            </a:r>
            <a:r>
              <a:rPr sz="2400" dirty="0">
                <a:latin typeface="Calibri"/>
                <a:cs typeface="Calibri"/>
              </a:rPr>
              <a:t>defined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C/C++.</a:t>
            </a:r>
            <a:endParaRPr sz="2400">
              <a:latin typeface="Calibri"/>
              <a:cs typeface="Calibri"/>
            </a:endParaRPr>
          </a:p>
          <a:p>
            <a:pPr marL="240029" marR="631825" indent="-227329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creates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group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items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possibly 	</a:t>
            </a:r>
            <a:r>
              <a:rPr sz="2400" spc="-20" dirty="0">
                <a:latin typeface="Calibri"/>
                <a:cs typeface="Calibri"/>
              </a:rPr>
              <a:t>different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single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type.</a:t>
            </a:r>
            <a:endParaRPr sz="2400">
              <a:latin typeface="Calibri"/>
              <a:cs typeface="Calibri"/>
            </a:endParaRPr>
          </a:p>
          <a:p>
            <a:pPr marL="240029" marR="621030" indent="-227329">
              <a:lnSpc>
                <a:spcPts val="259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C++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Course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covers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how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effectively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C++, 	</a:t>
            </a:r>
            <a:r>
              <a:rPr sz="2400" dirty="0">
                <a:latin typeface="Calibri"/>
                <a:cs typeface="Calibri"/>
              </a:rPr>
              <a:t>helping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manage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complex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efficiently.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ts val="259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user-</a:t>
            </a:r>
            <a:r>
              <a:rPr sz="2400" dirty="0">
                <a:latin typeface="Calibri"/>
                <a:cs typeface="Calibri"/>
              </a:rPr>
              <a:t>defined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type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groups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variables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different 	types.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Key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Points: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Structures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records.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Structures: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5520" y="1786127"/>
            <a:ext cx="6268211" cy="404926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574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Declaration: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1451" y="2779776"/>
            <a:ext cx="4236720" cy="212750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62571" y="2516123"/>
            <a:ext cx="3566160" cy="255422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Difference</a:t>
            </a:r>
            <a:r>
              <a:rPr spc="-105" dirty="0"/>
              <a:t> </a:t>
            </a:r>
            <a:r>
              <a:rPr dirty="0"/>
              <a:t>Between</a:t>
            </a:r>
            <a:r>
              <a:rPr spc="-110" dirty="0"/>
              <a:t> </a:t>
            </a:r>
            <a:r>
              <a:rPr dirty="0"/>
              <a:t>Array</a:t>
            </a:r>
            <a:r>
              <a:rPr spc="-110" dirty="0"/>
              <a:t> </a:t>
            </a:r>
            <a:r>
              <a:rPr dirty="0"/>
              <a:t>and</a:t>
            </a:r>
            <a:r>
              <a:rPr spc="-105" dirty="0"/>
              <a:t> </a:t>
            </a:r>
            <a:r>
              <a:rPr spc="-10" dirty="0"/>
              <a:t>Structure: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7192" y="2223516"/>
            <a:ext cx="7507224" cy="27050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854</Words>
  <Application>Microsoft Office PowerPoint</Application>
  <PresentationFormat>Widescreen</PresentationFormat>
  <Paragraphs>81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Arial MT</vt:lpstr>
      <vt:lpstr>Calibri</vt:lpstr>
      <vt:lpstr>Calibri Light</vt:lpstr>
      <vt:lpstr>Office Theme</vt:lpstr>
      <vt:lpstr>23CS201 - Data Structures and Algorithms using C++</vt:lpstr>
      <vt:lpstr>Basics of C++:</vt:lpstr>
      <vt:lpstr>Arrays:</vt:lpstr>
      <vt:lpstr>Types of array:</vt:lpstr>
      <vt:lpstr>Representation of Array:</vt:lpstr>
      <vt:lpstr>Multi-Dimensional Array:</vt:lpstr>
      <vt:lpstr>Multi-Dimensional Array:</vt:lpstr>
      <vt:lpstr>Strings:</vt:lpstr>
      <vt:lpstr>Declaration and Initialization::</vt:lpstr>
      <vt:lpstr>String Concatenation:</vt:lpstr>
      <vt:lpstr>String Manipulation:</vt:lpstr>
      <vt:lpstr>Pointers:</vt:lpstr>
      <vt:lpstr>Steps to Solve RMQ Using a Segment Tree:</vt:lpstr>
      <vt:lpstr>How to use a pointer?:</vt:lpstr>
      <vt:lpstr>Pointers:</vt:lpstr>
      <vt:lpstr>References and Pointers:</vt:lpstr>
      <vt:lpstr>Structures:</vt:lpstr>
      <vt:lpstr>Structures:</vt:lpstr>
      <vt:lpstr>Declaration:</vt:lpstr>
      <vt:lpstr>Difference Between Array and Structure: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Mani</dc:creator>
  <cp:lastModifiedBy>Sandhiya Ravikumar</cp:lastModifiedBy>
  <cp:revision>1</cp:revision>
  <dcterms:created xsi:type="dcterms:W3CDTF">2025-01-27T04:59:39Z</dcterms:created>
  <dcterms:modified xsi:type="dcterms:W3CDTF">2025-01-27T05:02:12Z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2024-12-28T00:00:00Z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2025-01-27T00:00:00Z</vt:filetime>
  </property>
  <property fmtid="{D5CDD505-2E9C-101B-9397-08002B2CF9AE}" pid="5" name="Producer">
    <vt:lpwstr>iLovePDF</vt:lpwstr>
  </property>
</Properties>
</file>