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410" r:id="rId2"/>
    <p:sldId id="258" r:id="rId3"/>
    <p:sldId id="413" r:id="rId4"/>
    <p:sldId id="556" r:id="rId5"/>
    <p:sldId id="557" r:id="rId6"/>
    <p:sldId id="558" r:id="rId7"/>
    <p:sldId id="559" r:id="rId8"/>
    <p:sldId id="560" r:id="rId9"/>
    <p:sldId id="561" r:id="rId10"/>
    <p:sldId id="562" r:id="rId11"/>
    <p:sldId id="563" r:id="rId12"/>
    <p:sldId id="564"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824" autoAdjust="0"/>
    <p:restoredTop sz="87971" autoAdjust="0"/>
  </p:normalViewPr>
  <p:slideViewPr>
    <p:cSldViewPr>
      <p:cViewPr varScale="1">
        <p:scale>
          <a:sx n="70" d="100"/>
          <a:sy n="70" d="100"/>
        </p:scale>
        <p:origin x="966"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40B9AE-A6FD-4340-8796-B3DD08C49BFA}" type="datetimeFigureOut">
              <a:rPr lang="en-IN" smtClean="0"/>
              <a:t>10-03-2025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DDDBCF-62DD-41D3-BF56-2DCC13696638}" type="slidenum">
              <a:rPr lang="en-IN" smtClean="0"/>
              <a:t>‹#›</a:t>
            </a:fld>
            <a:endParaRPr lang="en-IN"/>
          </a:p>
        </p:txBody>
      </p:sp>
    </p:spTree>
    <p:extLst>
      <p:ext uri="{BB962C8B-B14F-4D97-AF65-F5344CB8AC3E}">
        <p14:creationId xmlns:p14="http://schemas.microsoft.com/office/powerpoint/2010/main" val="1580960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87F7F5A-C11F-41DC-8103-F9FFE06AE41C}" type="slidenum">
              <a:rPr lang="en-IN" smtClean="0"/>
              <a:t>1</a:t>
            </a:fld>
            <a:endParaRPr lang="en-IN"/>
          </a:p>
        </p:txBody>
      </p:sp>
    </p:spTree>
    <p:extLst>
      <p:ext uri="{BB962C8B-B14F-4D97-AF65-F5344CB8AC3E}">
        <p14:creationId xmlns:p14="http://schemas.microsoft.com/office/powerpoint/2010/main" val="4103978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1DDDBCF-62DD-41D3-BF56-2DCC13696638}" type="slidenum">
              <a:rPr lang="en-IN" smtClean="0"/>
              <a:t>2</a:t>
            </a:fld>
            <a:endParaRPr lang="en-IN"/>
          </a:p>
        </p:txBody>
      </p:sp>
    </p:spTree>
    <p:extLst>
      <p:ext uri="{BB962C8B-B14F-4D97-AF65-F5344CB8AC3E}">
        <p14:creationId xmlns:p14="http://schemas.microsoft.com/office/powerpoint/2010/main" val="914745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F11A8E1-26E0-49DB-AC7E-2EF92CC601DA}" type="datetime1">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1458237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BA0C967-BB2F-4E2B-BD5F-30068A8ED89F}" type="datetime1">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2871079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6E7700-F1ED-428F-B552-7FEC0EA1E817}" type="datetime1">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1573652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2AD98B2-5E35-4EE6-89C9-61C3AEB0E92F}" type="datetime1">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1942580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1B07B0B-6576-4AE5-8659-D0607FB34AE6}" type="datetime1">
              <a:rPr lang="en-IN" smtClean="0"/>
              <a:t>10-03-2025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1545376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3D0EBDC-738C-4FFA-8183-317ADFC99BC3}" type="datetime1">
              <a:rPr lang="en-IN" smtClean="0"/>
              <a:t>10-03-2025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9028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A26F79-9F22-4D00-B288-E7577EAC9FBB}" type="datetime1">
              <a:rPr lang="en-IN" smtClean="0"/>
              <a:t>10-03-2025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2180432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928742-CBA0-479C-AE2A-0007ABD60319}" type="datetime1">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1245635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C75703-5067-4702-B21A-A755B6F05279}" type="datetime1">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1426111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65EBF32-5D0C-4656-BF58-4A5C319433D1}" type="datetime1">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3487439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44689C9-C399-4532-B87C-B30B3FFA1D3F}" type="datetime1">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39DD5-181C-42B6-8328-C1C2EC19C5EA}" type="slidenum">
              <a:rPr lang="en-IN" smtClean="0"/>
              <a:t>‹#›</a:t>
            </a:fld>
            <a:endParaRPr lang="en-IN"/>
          </a:p>
        </p:txBody>
      </p:sp>
    </p:spTree>
    <p:extLst>
      <p:ext uri="{BB962C8B-B14F-4D97-AF65-F5344CB8AC3E}">
        <p14:creationId xmlns:p14="http://schemas.microsoft.com/office/powerpoint/2010/main" val="135394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48F396-2623-48A1-A9CB-3F7AFE6DE5CF}" type="datetime1">
              <a:rPr lang="en-IN" smtClean="0"/>
              <a:t>10-03-2025</a:t>
            </a:fld>
            <a:endParaRPr lang="en-IN"/>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E39DD5-181C-42B6-8328-C1C2EC19C5EA}" type="slidenum">
              <a:rPr lang="en-IN" smtClean="0"/>
              <a:t>‹#›</a:t>
            </a:fld>
            <a:endParaRPr lang="en-IN"/>
          </a:p>
        </p:txBody>
      </p:sp>
    </p:spTree>
    <p:extLst>
      <p:ext uri="{BB962C8B-B14F-4D97-AF65-F5344CB8AC3E}">
        <p14:creationId xmlns:p14="http://schemas.microsoft.com/office/powerpoint/2010/main" val="3845642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drive.google.com/file/d/1mge_fxk3qnHtWXeNr6h9FgdohMyIkQzB/view?usp=sharing"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hyperlink" Target="https://drive.google.com/file/d/1Qoj2xTLSiE_GeWl_O7pf3perj3gsME3h/view?usp=sharing"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700808"/>
            <a:ext cx="9144000" cy="3456384"/>
          </a:xfrm>
        </p:spPr>
        <p:txBody>
          <a:bodyPr>
            <a:noAutofit/>
          </a:bodyPr>
          <a:lstStyle/>
          <a:p>
            <a:pPr>
              <a:lnSpc>
                <a:spcPct val="150000"/>
              </a:lnSpc>
            </a:pPr>
            <a:r>
              <a:rPr lang="en-IN" sz="2200" b="1" dirty="0" smtClean="0">
                <a:solidFill>
                  <a:schemeClr val="tx2"/>
                </a:solidFill>
                <a:latin typeface="Arial" pitchFamily="34" charset="0"/>
                <a:cs typeface="Arial" pitchFamily="34" charset="0"/>
              </a:rPr>
              <a:t>Title of Topic: </a:t>
            </a:r>
            <a:r>
              <a:rPr lang="en-US" sz="2200" b="1" dirty="0" smtClean="0">
                <a:solidFill>
                  <a:schemeClr val="tx2"/>
                </a:solidFill>
                <a:latin typeface="Arial" panose="020B0604020202020204" pitchFamily="34" charset="0"/>
                <a:cs typeface="Arial" panose="020B0604020202020204" pitchFamily="34" charset="0"/>
              </a:rPr>
              <a:t>JOINS</a:t>
            </a:r>
            <a:br>
              <a:rPr lang="en-US" sz="2200" b="1" dirty="0" smtClean="0">
                <a:solidFill>
                  <a:schemeClr val="tx2"/>
                </a:solidFill>
                <a:latin typeface="Arial" panose="020B0604020202020204" pitchFamily="34" charset="0"/>
                <a:cs typeface="Arial" panose="020B0604020202020204" pitchFamily="34" charset="0"/>
              </a:rPr>
            </a:br>
            <a:r>
              <a:rPr lang="en-IN" sz="2200" b="1" dirty="0" smtClean="0">
                <a:solidFill>
                  <a:srgbClr val="C00000"/>
                </a:solidFill>
                <a:latin typeface="Arial" pitchFamily="34" charset="0"/>
                <a:cs typeface="Arial" pitchFamily="34" charset="0"/>
              </a:rPr>
              <a:t>Course </a:t>
            </a:r>
            <a:r>
              <a:rPr lang="en-IN" sz="2200" b="1" dirty="0" smtClean="0">
                <a:solidFill>
                  <a:srgbClr val="C00000"/>
                </a:solidFill>
                <a:latin typeface="Arial" pitchFamily="34" charset="0"/>
                <a:cs typeface="Arial" pitchFamily="34" charset="0"/>
              </a:rPr>
              <a:t>Code: </a:t>
            </a:r>
            <a:r>
              <a:rPr lang="en-IN" sz="2200" b="1" dirty="0" smtClean="0">
                <a:solidFill>
                  <a:srgbClr val="C00000"/>
                </a:solidFill>
                <a:latin typeface="Arial" pitchFamily="34" charset="0"/>
                <a:cs typeface="Arial" pitchFamily="34" charset="0"/>
              </a:rPr>
              <a:t>23IT201</a:t>
            </a:r>
            <a:r>
              <a:rPr lang="en-IN" sz="2200" b="1" dirty="0" smtClean="0">
                <a:latin typeface="Arial" pitchFamily="34" charset="0"/>
                <a:cs typeface="Arial" pitchFamily="34" charset="0"/>
              </a:rPr>
              <a:t/>
            </a:r>
            <a:br>
              <a:rPr lang="en-IN" sz="2200" b="1" dirty="0" smtClean="0">
                <a:latin typeface="Arial" pitchFamily="34" charset="0"/>
                <a:cs typeface="Arial" pitchFamily="34" charset="0"/>
              </a:rPr>
            </a:br>
            <a:r>
              <a:rPr lang="en-IN" sz="2200" b="1" dirty="0" smtClean="0">
                <a:solidFill>
                  <a:schemeClr val="tx2"/>
                </a:solidFill>
                <a:latin typeface="Arial" pitchFamily="34" charset="0"/>
                <a:cs typeface="Arial" pitchFamily="34" charset="0"/>
              </a:rPr>
              <a:t>Course Title: </a:t>
            </a:r>
            <a:r>
              <a:rPr lang="en-IN" sz="2200" b="1" dirty="0" err="1" smtClean="0">
                <a:solidFill>
                  <a:schemeClr val="tx2"/>
                </a:solidFill>
                <a:latin typeface="Arial" pitchFamily="34" charset="0"/>
                <a:cs typeface="Arial" pitchFamily="34" charset="0"/>
              </a:rPr>
              <a:t>DataBase</a:t>
            </a:r>
            <a:r>
              <a:rPr lang="en-IN" sz="2200" b="1" dirty="0" smtClean="0">
                <a:solidFill>
                  <a:schemeClr val="tx2"/>
                </a:solidFill>
                <a:latin typeface="Arial" pitchFamily="34" charset="0"/>
                <a:cs typeface="Arial" pitchFamily="34" charset="0"/>
              </a:rPr>
              <a:t> Management Systems</a:t>
            </a:r>
            <a:br>
              <a:rPr lang="en-IN" sz="2200" b="1" dirty="0" smtClean="0">
                <a:solidFill>
                  <a:schemeClr val="tx2"/>
                </a:solidFill>
                <a:latin typeface="Arial" pitchFamily="34" charset="0"/>
                <a:cs typeface="Arial" pitchFamily="34" charset="0"/>
              </a:rPr>
            </a:br>
            <a:r>
              <a:rPr lang="en-IN" sz="2200" b="1" dirty="0" smtClean="0">
                <a:latin typeface="Arial" pitchFamily="34" charset="0"/>
                <a:cs typeface="Arial" pitchFamily="34" charset="0"/>
              </a:rPr>
              <a:t/>
            </a:r>
            <a:br>
              <a:rPr lang="en-IN" sz="2200" b="1" dirty="0" smtClean="0">
                <a:latin typeface="Arial" pitchFamily="34" charset="0"/>
                <a:cs typeface="Arial" pitchFamily="34" charset="0"/>
              </a:rPr>
            </a:br>
            <a:r>
              <a:rPr lang="en-IN" sz="2200" b="1" dirty="0" smtClean="0">
                <a:solidFill>
                  <a:srgbClr val="C00000"/>
                </a:solidFill>
                <a:latin typeface="Arial" pitchFamily="34" charset="0"/>
                <a:cs typeface="Arial" pitchFamily="34" charset="0"/>
              </a:rPr>
              <a:t>Academic Year: </a:t>
            </a:r>
            <a:r>
              <a:rPr lang="en-IN" sz="2200" b="1" dirty="0" smtClean="0">
                <a:solidFill>
                  <a:srgbClr val="C00000"/>
                </a:solidFill>
                <a:latin typeface="Arial" pitchFamily="34" charset="0"/>
                <a:cs typeface="Arial" pitchFamily="34" charset="0"/>
              </a:rPr>
              <a:t>2024 </a:t>
            </a:r>
            <a:r>
              <a:rPr lang="en-IN" sz="2200" b="1" dirty="0" smtClean="0">
                <a:solidFill>
                  <a:srgbClr val="C00000"/>
                </a:solidFill>
                <a:latin typeface="Arial" pitchFamily="34" charset="0"/>
                <a:cs typeface="Arial" pitchFamily="34" charset="0"/>
              </a:rPr>
              <a:t>- </a:t>
            </a:r>
            <a:r>
              <a:rPr lang="en-IN" sz="2200" b="1" dirty="0" smtClean="0">
                <a:solidFill>
                  <a:srgbClr val="C00000"/>
                </a:solidFill>
                <a:latin typeface="Arial" pitchFamily="34" charset="0"/>
                <a:cs typeface="Arial" pitchFamily="34" charset="0"/>
              </a:rPr>
              <a:t>2025 </a:t>
            </a:r>
            <a:r>
              <a:rPr lang="en-IN" sz="2200" b="1" dirty="0" smtClean="0">
                <a:solidFill>
                  <a:srgbClr val="C00000"/>
                </a:solidFill>
                <a:latin typeface="Arial" pitchFamily="34" charset="0"/>
                <a:cs typeface="Arial" pitchFamily="34" charset="0"/>
              </a:rPr>
              <a:t>(Even </a:t>
            </a:r>
            <a:r>
              <a:rPr lang="en-IN" sz="2200" b="1" dirty="0" err="1" smtClean="0">
                <a:solidFill>
                  <a:srgbClr val="C00000"/>
                </a:solidFill>
                <a:latin typeface="Arial" pitchFamily="34" charset="0"/>
                <a:cs typeface="Arial" pitchFamily="34" charset="0"/>
              </a:rPr>
              <a:t>Sem</a:t>
            </a:r>
            <a:r>
              <a:rPr lang="en-IN" sz="2200" b="1" dirty="0" smtClean="0">
                <a:solidFill>
                  <a:srgbClr val="C00000"/>
                </a:solidFill>
                <a:latin typeface="Arial" pitchFamily="34" charset="0"/>
                <a:cs typeface="Arial" pitchFamily="34" charset="0"/>
              </a:rPr>
              <a:t>)</a:t>
            </a:r>
            <a:endParaRPr lang="en-IN" sz="2200" b="1" dirty="0">
              <a:solidFill>
                <a:srgbClr val="C00000"/>
              </a:solidFill>
              <a:latin typeface="Arial" pitchFamily="34" charset="0"/>
              <a:cs typeface="Arial" pitchFamily="34" charset="0"/>
            </a:endParaRPr>
          </a:p>
        </p:txBody>
      </p:sp>
      <p:sp>
        <p:nvSpPr>
          <p:cNvPr id="4"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smtClean="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7" name="Footer Placeholder 2"/>
          <p:cNvSpPr txBox="1">
            <a:spLocks/>
          </p:cNvSpPr>
          <p:nvPr/>
        </p:nvSpPr>
        <p:spPr>
          <a:xfrm>
            <a:off x="0" y="6492875"/>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a:xfrm>
            <a:off x="7010400" y="6492875"/>
            <a:ext cx="2133600" cy="365125"/>
          </a:xfrm>
        </p:spPr>
        <p:txBody>
          <a:bodyPr/>
          <a:lstStyle/>
          <a:p>
            <a:r>
              <a:rPr lang="en-US" sz="1400" b="1" dirty="0" smtClean="0">
                <a:solidFill>
                  <a:schemeClr val="bg1"/>
                </a:solidFill>
                <a:latin typeface="Arial" panose="020B0604020202020204" pitchFamily="34" charset="0"/>
                <a:cs typeface="Arial" panose="020B0604020202020204" pitchFamily="34" charset="0"/>
              </a:rPr>
              <a:t>1</a:t>
            </a:r>
            <a:endParaRPr lang="en-IN" sz="1400" b="1" dirty="0">
              <a:solidFill>
                <a:schemeClr val="bg1"/>
              </a:solidFill>
              <a:latin typeface="Arial" panose="020B0604020202020204" pitchFamily="34" charset="0"/>
              <a:cs typeface="Arial" panose="020B0604020202020204" pitchFamily="34" charset="0"/>
            </a:endParaRPr>
          </a:p>
        </p:txBody>
      </p:sp>
      <p:sp>
        <p:nvSpPr>
          <p:cNvPr id="8"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5253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530105"/>
            <a:ext cx="9131374" cy="6009132"/>
          </a:xfrm>
        </p:spPr>
        <p:txBody>
          <a:bodyPr>
            <a:normAutofit/>
          </a:bodyPr>
          <a:lstStyle/>
          <a:p>
            <a:pPr>
              <a:lnSpc>
                <a:spcPct val="150000"/>
              </a:lnSpc>
              <a:tabLst>
                <a:tab pos="1527175" algn="l"/>
              </a:tabLst>
            </a:pPr>
            <a:r>
              <a:rPr lang="en-US" sz="2000" dirty="0" smtClean="0">
                <a:latin typeface="Arial" panose="020B0604020202020204" pitchFamily="34" charset="0"/>
                <a:cs typeface="Arial" panose="020B0604020202020204" pitchFamily="34" charset="0"/>
              </a:rPr>
              <a:t>JOINS</a:t>
            </a:r>
            <a:endParaRPr lang="en-IN" sz="2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a:xfrm>
            <a:off x="7001792" y="6458545"/>
            <a:ext cx="2133600" cy="365125"/>
          </a:xfrm>
        </p:spPr>
        <p:txBody>
          <a:bodyPr/>
          <a:lstStyle/>
          <a:p>
            <a:fld id="{DDE39DD5-181C-42B6-8328-C1C2EC19C5EA}" type="slidenum">
              <a:rPr lang="en-IN" sz="1600" b="1" smtClean="0">
                <a:solidFill>
                  <a:schemeClr val="bg1"/>
                </a:solidFill>
                <a:latin typeface="Arial" panose="020B0604020202020204" pitchFamily="34" charset="0"/>
                <a:cs typeface="Arial" panose="020B0604020202020204" pitchFamily="34" charset="0"/>
              </a:rPr>
              <a:t>2</a:t>
            </a:fld>
            <a:endParaRPr lang="en-IN" sz="1600" b="1" dirty="0">
              <a:solidFill>
                <a:schemeClr val="bg1"/>
              </a:solidFill>
              <a:latin typeface="Arial" panose="020B0604020202020204" pitchFamily="34" charset="0"/>
              <a:cs typeface="Arial" panose="020B0604020202020204" pitchFamily="34" charset="0"/>
            </a:endParaRPr>
          </a:p>
        </p:txBody>
      </p:sp>
      <p:sp>
        <p:nvSpPr>
          <p:cNvPr id="7" name="Title 1"/>
          <p:cNvSpPr txBox="1">
            <a:spLocks/>
          </p:cNvSpPr>
          <p:nvPr/>
        </p:nvSpPr>
        <p:spPr>
          <a:xfrm>
            <a:off x="611560" y="328464"/>
            <a:ext cx="7920880" cy="137234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300" b="1" dirty="0" smtClean="0">
                <a:solidFill>
                  <a:srgbClr val="C00000"/>
                </a:solidFill>
                <a:latin typeface="Arial" panose="020B0604020202020204" pitchFamily="34" charset="0"/>
                <a:cs typeface="Arial" pitchFamily="34" charset="0"/>
              </a:rPr>
              <a:t>Module </a:t>
            </a:r>
            <a:r>
              <a:rPr lang="en-IN" sz="2300" b="1" dirty="0" smtClean="0">
                <a:solidFill>
                  <a:srgbClr val="C00000"/>
                </a:solidFill>
                <a:latin typeface="Arial" panose="020B0604020202020204" pitchFamily="34" charset="0"/>
                <a:cs typeface="Arial" pitchFamily="34" charset="0"/>
              </a:rPr>
              <a:t>2</a:t>
            </a:r>
            <a:endParaRPr lang="en-IN" sz="2200" dirty="0">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smtClean="0">
                <a:solidFill>
                  <a:schemeClr val="bg1"/>
                </a:solidFill>
                <a:latin typeface="Arial" panose="020B0604020202020204" pitchFamily="34" charset="0"/>
                <a:cs typeface="Arial" panose="020B0604020202020204" pitchFamily="34" charset="0"/>
              </a:rPr>
              <a:t>                                                                                                   </a:t>
            </a:r>
          </a:p>
          <a:p>
            <a:pPr algn="r">
              <a:defRPr/>
            </a:pPr>
            <a:r>
              <a:rPr lang="en-US" sz="1600" b="1"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10" name="Slide Number Placeholder 3"/>
          <p:cNvSpPr txBox="1">
            <a:spLocks/>
          </p:cNvSpPr>
          <p:nvPr/>
        </p:nvSpPr>
        <p:spPr>
          <a:xfrm>
            <a:off x="6997774"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dirty="0" smtClean="0">
                <a:solidFill>
                  <a:schemeClr val="bg1"/>
                </a:solidFill>
                <a:latin typeface="Arial" panose="020B0604020202020204" pitchFamily="34" charset="0"/>
                <a:cs typeface="Arial" panose="020B0604020202020204" pitchFamily="34" charset="0"/>
              </a:rPr>
              <a:t>2</a:t>
            </a:r>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smtClean="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3"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82120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692696"/>
            <a:ext cx="7920880" cy="137234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300" b="1" dirty="0" smtClean="0">
                <a:solidFill>
                  <a:schemeClr val="tx2"/>
                </a:solidFill>
                <a:latin typeface="Arial" panose="020B0604020202020204" pitchFamily="34" charset="0"/>
                <a:cs typeface="Arial" pitchFamily="34" charset="0"/>
              </a:rPr>
              <a:t>Topics to be Covered</a:t>
            </a:r>
            <a:endParaRPr lang="en-IN" sz="2200" dirty="0">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0" y="1628800"/>
            <a:ext cx="9144000" cy="332398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itchFamily="34" charset="0"/>
              </a:rPr>
              <a:t>Joins</a:t>
            </a:r>
            <a:endParaRPr lang="en-US" sz="2000" dirty="0" smtClean="0">
              <a:latin typeface="Arial" panose="020B0604020202020204" pitchFamily="34" charset="0"/>
              <a:cs typeface="Arial" pitchFamily="34" charset="0"/>
            </a:endParaRPr>
          </a:p>
          <a:p>
            <a:pPr marL="804863" indent="-447675" algn="just">
              <a:lnSpc>
                <a:spcPct val="150000"/>
              </a:lnSpc>
              <a:buFont typeface="Wingdings" panose="05000000000000000000" pitchFamily="2" charset="2"/>
              <a:buChar char="ü"/>
            </a:pPr>
            <a:r>
              <a:rPr lang="en-US" sz="2000" dirty="0" smtClean="0">
                <a:latin typeface="Arial" panose="020B0604020202020204" pitchFamily="34" charset="0"/>
                <a:cs typeface="Arial" pitchFamily="34" charset="0"/>
              </a:rPr>
              <a:t>Natural Join</a:t>
            </a:r>
          </a:p>
          <a:p>
            <a:pPr marL="804863" indent="-447675" algn="just">
              <a:lnSpc>
                <a:spcPct val="150000"/>
              </a:lnSpc>
              <a:buFont typeface="Wingdings" panose="05000000000000000000" pitchFamily="2" charset="2"/>
              <a:buChar char="ü"/>
            </a:pPr>
            <a:r>
              <a:rPr lang="en-US" sz="2000" dirty="0" smtClean="0">
                <a:latin typeface="Arial" panose="020B0604020202020204" pitchFamily="34" charset="0"/>
                <a:cs typeface="Arial" pitchFamily="34" charset="0"/>
              </a:rPr>
              <a:t>Inner </a:t>
            </a:r>
            <a:r>
              <a:rPr lang="en-US" sz="2000" dirty="0">
                <a:latin typeface="Arial" panose="020B0604020202020204" pitchFamily="34" charset="0"/>
                <a:cs typeface="Arial" pitchFamily="34" charset="0"/>
              </a:rPr>
              <a:t>Join</a:t>
            </a:r>
          </a:p>
          <a:p>
            <a:pPr marL="804863" indent="-447675" algn="just">
              <a:lnSpc>
                <a:spcPct val="150000"/>
              </a:lnSpc>
              <a:buFont typeface="Wingdings" panose="05000000000000000000" pitchFamily="2" charset="2"/>
              <a:buChar char="ü"/>
            </a:pPr>
            <a:r>
              <a:rPr lang="en-US" sz="2000" dirty="0" smtClean="0">
                <a:latin typeface="Arial" panose="020B0604020202020204" pitchFamily="34" charset="0"/>
                <a:cs typeface="Arial" pitchFamily="34" charset="0"/>
              </a:rPr>
              <a:t>Outer </a:t>
            </a:r>
            <a:r>
              <a:rPr lang="en-US" sz="2000" dirty="0">
                <a:latin typeface="Arial" panose="020B0604020202020204" pitchFamily="34" charset="0"/>
                <a:cs typeface="Arial" pitchFamily="34" charset="0"/>
              </a:rPr>
              <a:t>Join</a:t>
            </a:r>
          </a:p>
          <a:p>
            <a:pPr marL="804863" indent="539750" algn="just">
              <a:lnSpc>
                <a:spcPct val="150000"/>
              </a:lnSpc>
              <a:buFont typeface="Wingdings" panose="05000000000000000000" pitchFamily="2" charset="2"/>
              <a:buChar char="v"/>
            </a:pPr>
            <a:r>
              <a:rPr lang="en-US" sz="2000" dirty="0" smtClean="0">
                <a:latin typeface="Arial" panose="020B0604020202020204" pitchFamily="34" charset="0"/>
                <a:cs typeface="Arial" pitchFamily="34" charset="0"/>
              </a:rPr>
              <a:t>Left </a:t>
            </a:r>
            <a:r>
              <a:rPr lang="en-US" sz="2000" dirty="0">
                <a:latin typeface="Arial" panose="020B0604020202020204" pitchFamily="34" charset="0"/>
                <a:cs typeface="Arial" pitchFamily="34" charset="0"/>
              </a:rPr>
              <a:t>Outer Join</a:t>
            </a:r>
          </a:p>
          <a:p>
            <a:pPr marL="804863" indent="539750" algn="just">
              <a:lnSpc>
                <a:spcPct val="150000"/>
              </a:lnSpc>
              <a:buFont typeface="Wingdings" panose="05000000000000000000" pitchFamily="2" charset="2"/>
              <a:buChar char="v"/>
            </a:pPr>
            <a:r>
              <a:rPr lang="en-US" sz="2000" dirty="0" smtClean="0">
                <a:latin typeface="Arial" panose="020B0604020202020204" pitchFamily="34" charset="0"/>
                <a:cs typeface="Arial" pitchFamily="34" charset="0"/>
              </a:rPr>
              <a:t>Right </a:t>
            </a:r>
            <a:r>
              <a:rPr lang="en-US" sz="2000" dirty="0">
                <a:latin typeface="Arial" panose="020B0604020202020204" pitchFamily="34" charset="0"/>
                <a:cs typeface="Arial" pitchFamily="34" charset="0"/>
              </a:rPr>
              <a:t>Outer Join</a:t>
            </a:r>
          </a:p>
          <a:p>
            <a:pPr marL="804863" indent="539750" algn="just">
              <a:lnSpc>
                <a:spcPct val="150000"/>
              </a:lnSpc>
              <a:buFont typeface="Wingdings" panose="05000000000000000000" pitchFamily="2" charset="2"/>
              <a:buChar char="v"/>
            </a:pPr>
            <a:r>
              <a:rPr lang="en-US" sz="2000" dirty="0" smtClean="0">
                <a:latin typeface="Arial" panose="020B0604020202020204" pitchFamily="34" charset="0"/>
                <a:cs typeface="Arial" pitchFamily="34" charset="0"/>
              </a:rPr>
              <a:t>Full </a:t>
            </a:r>
            <a:r>
              <a:rPr lang="en-US" sz="2000" dirty="0">
                <a:latin typeface="Arial" panose="020B0604020202020204" pitchFamily="34" charset="0"/>
                <a:cs typeface="Arial" pitchFamily="34" charset="0"/>
              </a:rPr>
              <a:t>Outer </a:t>
            </a:r>
            <a:r>
              <a:rPr lang="en-US" sz="2000" dirty="0" smtClean="0">
                <a:latin typeface="Arial" panose="020B0604020202020204" pitchFamily="34" charset="0"/>
                <a:cs typeface="Arial" pitchFamily="34" charset="0"/>
              </a:rPr>
              <a:t>Join</a:t>
            </a:r>
            <a:endParaRPr lang="en-US" sz="2000" dirty="0" smtClean="0">
              <a:latin typeface="Arial" panose="020B0604020202020204" pitchFamily="34" charset="0"/>
              <a:cs typeface="Arial" pitchFamily="34" charset="0"/>
            </a:endParaRPr>
          </a:p>
        </p:txBody>
      </p:sp>
      <p:sp>
        <p:nvSpPr>
          <p:cNvPr id="2" name="Slide Number Placeholder 1"/>
          <p:cNvSpPr>
            <a:spLocks noGrp="1"/>
          </p:cNvSpPr>
          <p:nvPr>
            <p:ph type="sldNum" sz="quarter" idx="12"/>
          </p:nvPr>
        </p:nvSpPr>
        <p:spPr>
          <a:xfrm>
            <a:off x="7010400" y="6453336"/>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3</a:t>
            </a:fld>
            <a:endParaRPr lang="en-IN" sz="1400" b="1" dirty="0">
              <a:solidFill>
                <a:schemeClr val="bg1"/>
              </a:solidFill>
              <a:latin typeface="Arial" panose="020B0604020202020204" pitchFamily="34" charset="0"/>
              <a:cs typeface="Arial" panose="020B0604020202020204" pitchFamily="34" charset="0"/>
            </a:endParaRPr>
          </a:p>
        </p:txBody>
      </p:sp>
      <p:sp>
        <p:nvSpPr>
          <p:cNvPr id="13" name="Title 1"/>
          <p:cNvSpPr txBox="1">
            <a:spLocks/>
          </p:cNvSpPr>
          <p:nvPr/>
        </p:nvSpPr>
        <p:spPr>
          <a:xfrm>
            <a:off x="0" y="404664"/>
            <a:ext cx="9144000" cy="13723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US" sz="2200" b="1" dirty="0" smtClean="0">
                <a:solidFill>
                  <a:srgbClr val="C00000"/>
                </a:solidFill>
                <a:latin typeface="Arial" panose="020B0604020202020204" pitchFamily="34" charset="0"/>
                <a:cs typeface="Arial" panose="020B0604020202020204" pitchFamily="34" charset="0"/>
              </a:rPr>
              <a:t>JOINS</a:t>
            </a:r>
          </a:p>
          <a:p>
            <a:pPr>
              <a:lnSpc>
                <a:spcPct val="150000"/>
              </a:lnSpc>
            </a:pPr>
            <a:endParaRPr lang="en-IN" sz="2200" dirty="0">
              <a:latin typeface="Arial" panose="020B0604020202020204" pitchFamily="34" charset="0"/>
              <a:cs typeface="Arial" panose="020B0604020202020204" pitchFamily="34" charset="0"/>
            </a:endParaRPr>
          </a:p>
        </p:txBody>
      </p:sp>
      <p:sp>
        <p:nvSpPr>
          <p:cNvPr id="10"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smtClean="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63388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Join Operations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2400657"/>
          </a:xfrm>
          <a:prstGeom prst="rect">
            <a:avLst/>
          </a:prstGeom>
        </p:spPr>
        <p:txBody>
          <a:bodyPr wrap="square">
            <a:spAutoFit/>
          </a:bodyPr>
          <a:lstStyle/>
          <a:p>
            <a:pPr algn="just" fontAlgn="base">
              <a:lnSpc>
                <a:spcPct val="150000"/>
              </a:lnSpc>
              <a:spcBef>
                <a:spcPct val="0"/>
              </a:spcBef>
              <a:spcAft>
                <a:spcPct val="0"/>
              </a:spcAft>
            </a:pPr>
            <a:r>
              <a:rPr lang="en-US" sz="2000" b="1" dirty="0">
                <a:solidFill>
                  <a:schemeClr val="tx2"/>
                </a:solidFill>
                <a:latin typeface="Arial" panose="020B0604020202020204" pitchFamily="34" charset="0"/>
                <a:ea typeface="+mj-ea"/>
                <a:cs typeface="Arial" panose="020B0604020202020204" pitchFamily="34" charset="0"/>
              </a:rPr>
              <a:t>Natural Join</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Operates on two relations and produces a relation as the result</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Considers only those pairs of tuples with the same value on those attributes that appear in the schemas of both relations</a:t>
            </a:r>
          </a:p>
          <a:p>
            <a:pPr lvl="0" eaLnBrk="0" fontAlgn="base" hangingPunct="0">
              <a:lnSpc>
                <a:spcPct val="150000"/>
              </a:lnSpc>
              <a:spcBef>
                <a:spcPct val="0"/>
              </a:spcBef>
              <a:spcAft>
                <a:spcPct val="0"/>
              </a:spcAft>
            </a:pPr>
            <a:r>
              <a:rPr lang="en-US" sz="2000" dirty="0">
                <a:latin typeface="Arial" panose="020B0604020202020204" pitchFamily="34" charset="0"/>
                <a:cs typeface="Arial" panose="020B0604020202020204" pitchFamily="34" charset="0"/>
              </a:rPr>
              <a:t>E.g., SELECT * FROM Student S NATURAL JOIN Marks M;</a:t>
            </a:r>
            <a:r>
              <a:rPr lang="en-US" sz="1100" dirty="0">
                <a:latin typeface="Arial" panose="020B0604020202020204" pitchFamily="34" charset="0"/>
                <a:cs typeface="Arial" panose="020B0604020202020204" pitchFamily="34" charset="0"/>
              </a:rPr>
              <a:t> </a:t>
            </a:r>
            <a:endParaRPr lang="en-US" sz="3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4</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pic>
        <p:nvPicPr>
          <p:cNvPr id="8" name="Picture 7"/>
          <p:cNvPicPr>
            <a:picLocks noChangeAspect="1"/>
          </p:cNvPicPr>
          <p:nvPr/>
        </p:nvPicPr>
        <p:blipFill>
          <a:blip r:embed="rId2"/>
          <a:stretch>
            <a:fillRect/>
          </a:stretch>
        </p:blipFill>
        <p:spPr>
          <a:xfrm>
            <a:off x="334045" y="3429000"/>
            <a:ext cx="2005707" cy="1615598"/>
          </a:xfrm>
          <a:prstGeom prst="rect">
            <a:avLst/>
          </a:prstGeom>
        </p:spPr>
      </p:pic>
      <p:pic>
        <p:nvPicPr>
          <p:cNvPr id="10" name="Picture 9"/>
          <p:cNvPicPr>
            <a:picLocks noChangeAspect="1"/>
          </p:cNvPicPr>
          <p:nvPr/>
        </p:nvPicPr>
        <p:blipFill>
          <a:blip r:embed="rId3"/>
          <a:stretch>
            <a:fillRect/>
          </a:stretch>
        </p:blipFill>
        <p:spPr>
          <a:xfrm>
            <a:off x="2634864" y="3429000"/>
            <a:ext cx="2081152" cy="1670433"/>
          </a:xfrm>
          <a:prstGeom prst="rect">
            <a:avLst/>
          </a:prstGeom>
        </p:spPr>
      </p:pic>
      <p:pic>
        <p:nvPicPr>
          <p:cNvPr id="13" name="Picture 12"/>
          <p:cNvPicPr>
            <a:picLocks noChangeAspect="1"/>
          </p:cNvPicPr>
          <p:nvPr/>
        </p:nvPicPr>
        <p:blipFill>
          <a:blip r:embed="rId4"/>
          <a:stretch>
            <a:fillRect/>
          </a:stretch>
        </p:blipFill>
        <p:spPr>
          <a:xfrm>
            <a:off x="5011128" y="3789040"/>
            <a:ext cx="3744416" cy="1944216"/>
          </a:xfrm>
          <a:prstGeom prst="rect">
            <a:avLst/>
          </a:prstGeom>
        </p:spPr>
      </p:pic>
      <p:sp>
        <p:nvSpPr>
          <p:cNvPr id="14" name="TextBox 13"/>
          <p:cNvSpPr txBox="1"/>
          <p:nvPr/>
        </p:nvSpPr>
        <p:spPr>
          <a:xfrm>
            <a:off x="6314347" y="3356992"/>
            <a:ext cx="1728192" cy="400110"/>
          </a:xfrm>
          <a:prstGeom prst="rect">
            <a:avLst/>
          </a:prstGeom>
          <a:noFill/>
        </p:spPr>
        <p:txBody>
          <a:bodyPr wrap="square" rtlCol="0">
            <a:spAutoFit/>
          </a:bodyPr>
          <a:lstStyle/>
          <a:p>
            <a:r>
              <a:rPr lang="en-US" sz="2000" b="1" dirty="0" smtClean="0">
                <a:solidFill>
                  <a:srgbClr val="C00000"/>
                </a:solidFill>
                <a:latin typeface="Arial" panose="020B0604020202020204" pitchFamily="34" charset="0"/>
                <a:cs typeface="Arial" panose="020B0604020202020204" pitchFamily="34" charset="0"/>
              </a:rPr>
              <a:t>Output</a:t>
            </a:r>
            <a:endParaRPr lang="en-IN" sz="2000" b="1" dirty="0">
              <a:solidFill>
                <a:srgbClr val="C00000"/>
              </a:solidFill>
              <a:latin typeface="Arial" panose="020B0604020202020204" pitchFamily="34" charset="0"/>
              <a:cs typeface="Arial" panose="020B0604020202020204" pitchFamily="34" charset="0"/>
            </a:endParaRPr>
          </a:p>
        </p:txBody>
      </p:sp>
      <p:sp>
        <p:nvSpPr>
          <p:cNvPr id="15" name="Rectangle 14"/>
          <p:cNvSpPr/>
          <p:nvPr/>
        </p:nvSpPr>
        <p:spPr>
          <a:xfrm>
            <a:off x="26386" y="5827330"/>
            <a:ext cx="9144000" cy="553998"/>
          </a:xfrm>
          <a:prstGeom prst="rect">
            <a:avLst/>
          </a:prstGeom>
        </p:spPr>
        <p:txBody>
          <a:bodyPr wrap="square">
            <a:spAutoFit/>
          </a:bodyPr>
          <a:lstStyle/>
          <a:p>
            <a:pPr>
              <a:lnSpc>
                <a:spcPct val="150000"/>
              </a:lnSpc>
            </a:pPr>
            <a:r>
              <a:rPr lang="en-US" sz="2000" b="1" dirty="0" smtClean="0">
                <a:latin typeface="Arial" panose="020B0604020202020204" pitchFamily="34" charset="0"/>
                <a:cs typeface="Arial" panose="020B0604020202020204" pitchFamily="34" charset="0"/>
              </a:rPr>
              <a:t>Join: Part 1:                                  Part 2:</a:t>
            </a:r>
          </a:p>
        </p:txBody>
      </p:sp>
      <p:pic>
        <p:nvPicPr>
          <p:cNvPr id="16" name="Picture 15">
            <a:hlinkClick r:id="rId5"/>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712" y="5805264"/>
            <a:ext cx="576064" cy="491839"/>
          </a:xfrm>
          <a:prstGeom prst="rect">
            <a:avLst/>
          </a:prstGeom>
        </p:spPr>
      </p:pic>
      <p:pic>
        <p:nvPicPr>
          <p:cNvPr id="17" name="Picture 16">
            <a:hlinkClick r:id="rId7"/>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48064" y="5805264"/>
            <a:ext cx="576064" cy="491839"/>
          </a:xfrm>
          <a:prstGeom prst="rect">
            <a:avLst/>
          </a:prstGeom>
        </p:spPr>
      </p:pic>
    </p:spTree>
    <p:extLst>
      <p:ext uri="{BB962C8B-B14F-4D97-AF65-F5344CB8AC3E}">
        <p14:creationId xmlns:p14="http://schemas.microsoft.com/office/powerpoint/2010/main" val="2022333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Join Operations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2862322"/>
          </a:xfrm>
          <a:prstGeom prst="rect">
            <a:avLst/>
          </a:prstGeom>
        </p:spPr>
        <p:txBody>
          <a:bodyPr wrap="square">
            <a:spAutoFit/>
          </a:bodyPr>
          <a:lstStyle/>
          <a:p>
            <a:pPr algn="just" fontAlgn="base">
              <a:lnSpc>
                <a:spcPct val="150000"/>
              </a:lnSpc>
              <a:spcBef>
                <a:spcPct val="0"/>
              </a:spcBef>
              <a:spcAft>
                <a:spcPct val="0"/>
              </a:spcAft>
            </a:pPr>
            <a:r>
              <a:rPr lang="en-US" sz="2000" b="1" dirty="0" smtClean="0">
                <a:solidFill>
                  <a:schemeClr val="tx2"/>
                </a:solidFill>
                <a:latin typeface="Arial" panose="020B0604020202020204" pitchFamily="34" charset="0"/>
                <a:ea typeface="+mj-ea"/>
                <a:cs typeface="Arial" panose="020B0604020202020204" pitchFamily="34" charset="0"/>
              </a:rPr>
              <a:t>Inner Join</a:t>
            </a:r>
            <a:endParaRPr lang="en-US" sz="2000" b="1" dirty="0">
              <a:solidFill>
                <a:schemeClr val="tx2"/>
              </a:solidFill>
              <a:latin typeface="Arial" panose="020B0604020202020204" pitchFamily="34" charset="0"/>
              <a:ea typeface="+mj-ea"/>
              <a:cs typeface="Arial" panose="020B0604020202020204" pitchFamily="34" charset="0"/>
            </a:endParaRP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Selects all rows from both the tables as long as the condition satisfies</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Create the result-set by combining all rows from both the tables where the value of the common field will be same</a:t>
            </a:r>
          </a:p>
          <a:p>
            <a:pPr algn="just">
              <a:lnSpc>
                <a:spcPct val="150000"/>
              </a:lnSpc>
            </a:pPr>
            <a:r>
              <a:rPr lang="en-US" sz="2000" dirty="0">
                <a:latin typeface="Arial" panose="020B0604020202020204" pitchFamily="34" charset="0"/>
                <a:cs typeface="Arial" panose="020B0604020202020204" pitchFamily="34" charset="0"/>
              </a:rPr>
              <a:t>E.g., SELECT * FROM student S INNER JOIN Marks M ON </a:t>
            </a:r>
            <a:r>
              <a:rPr lang="en-US" sz="2000" dirty="0" err="1">
                <a:latin typeface="Arial" panose="020B0604020202020204" pitchFamily="34" charset="0"/>
                <a:cs typeface="Arial" panose="020B0604020202020204" pitchFamily="34" charset="0"/>
              </a:rPr>
              <a:t>S.Roll_No</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M.Roll_No</a:t>
            </a:r>
            <a:r>
              <a:rPr lang="en-US" sz="20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5</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pic>
        <p:nvPicPr>
          <p:cNvPr id="18" name="Picture 17"/>
          <p:cNvPicPr>
            <a:picLocks noChangeAspect="1"/>
          </p:cNvPicPr>
          <p:nvPr/>
        </p:nvPicPr>
        <p:blipFill>
          <a:blip r:embed="rId2"/>
          <a:stretch>
            <a:fillRect/>
          </a:stretch>
        </p:blipFill>
        <p:spPr>
          <a:xfrm>
            <a:off x="334045" y="4293096"/>
            <a:ext cx="2005707" cy="1615598"/>
          </a:xfrm>
          <a:prstGeom prst="rect">
            <a:avLst/>
          </a:prstGeom>
        </p:spPr>
      </p:pic>
      <p:pic>
        <p:nvPicPr>
          <p:cNvPr id="19" name="Picture 18"/>
          <p:cNvPicPr>
            <a:picLocks noChangeAspect="1"/>
          </p:cNvPicPr>
          <p:nvPr/>
        </p:nvPicPr>
        <p:blipFill>
          <a:blip r:embed="rId3"/>
          <a:stretch>
            <a:fillRect/>
          </a:stretch>
        </p:blipFill>
        <p:spPr>
          <a:xfrm>
            <a:off x="2634864" y="4293096"/>
            <a:ext cx="2081152" cy="1670433"/>
          </a:xfrm>
          <a:prstGeom prst="rect">
            <a:avLst/>
          </a:prstGeom>
        </p:spPr>
      </p:pic>
      <p:pic>
        <p:nvPicPr>
          <p:cNvPr id="20" name="Picture 19"/>
          <p:cNvPicPr>
            <a:picLocks noChangeAspect="1"/>
          </p:cNvPicPr>
          <p:nvPr/>
        </p:nvPicPr>
        <p:blipFill>
          <a:blip r:embed="rId4"/>
          <a:stretch>
            <a:fillRect/>
          </a:stretch>
        </p:blipFill>
        <p:spPr>
          <a:xfrm>
            <a:off x="4795837" y="4149080"/>
            <a:ext cx="4024635" cy="1991181"/>
          </a:xfrm>
          <a:prstGeom prst="rect">
            <a:avLst/>
          </a:prstGeom>
        </p:spPr>
      </p:pic>
      <p:sp>
        <p:nvSpPr>
          <p:cNvPr id="21" name="TextBox 20"/>
          <p:cNvSpPr txBox="1"/>
          <p:nvPr/>
        </p:nvSpPr>
        <p:spPr>
          <a:xfrm>
            <a:off x="6228184" y="3573016"/>
            <a:ext cx="1728192" cy="400110"/>
          </a:xfrm>
          <a:prstGeom prst="rect">
            <a:avLst/>
          </a:prstGeom>
          <a:noFill/>
        </p:spPr>
        <p:txBody>
          <a:bodyPr wrap="square" rtlCol="0">
            <a:spAutoFit/>
          </a:bodyPr>
          <a:lstStyle/>
          <a:p>
            <a:r>
              <a:rPr lang="en-US" sz="2000" b="1" dirty="0" smtClean="0">
                <a:solidFill>
                  <a:srgbClr val="C00000"/>
                </a:solidFill>
                <a:latin typeface="Arial" panose="020B0604020202020204" pitchFamily="34" charset="0"/>
                <a:cs typeface="Arial" panose="020B0604020202020204" pitchFamily="34" charset="0"/>
              </a:rPr>
              <a:t>Output</a:t>
            </a:r>
            <a:endParaRPr lang="en-IN"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0997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Join Operations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3323987"/>
          </a:xfrm>
          <a:prstGeom prst="rect">
            <a:avLst/>
          </a:prstGeom>
        </p:spPr>
        <p:txBody>
          <a:bodyPr wrap="square">
            <a:spAutoFit/>
          </a:bodyPr>
          <a:lstStyle/>
          <a:p>
            <a:pPr algn="just" fontAlgn="base">
              <a:lnSpc>
                <a:spcPct val="150000"/>
              </a:lnSpc>
              <a:spcBef>
                <a:spcPct val="0"/>
              </a:spcBef>
              <a:spcAft>
                <a:spcPct val="0"/>
              </a:spcAft>
            </a:pPr>
            <a:r>
              <a:rPr lang="en-US" sz="2000" b="1" dirty="0">
                <a:solidFill>
                  <a:schemeClr val="tx2"/>
                </a:solidFill>
                <a:latin typeface="Arial" panose="020B0604020202020204" pitchFamily="34" charset="0"/>
                <a:ea typeface="+mj-ea"/>
                <a:cs typeface="Arial" panose="020B0604020202020204" pitchFamily="34" charset="0"/>
              </a:rPr>
              <a:t>Outer Join</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Three forms of outer join</a:t>
            </a:r>
          </a:p>
          <a:p>
            <a:pPr marL="342900"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The left outer join (left join) preserves tuples only in the relation named before (to the left of) the left outer join operation </a:t>
            </a:r>
          </a:p>
          <a:p>
            <a:pPr marL="342900"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The right outer join (right join) preserves tuples only in the relation named after (to the right of) the right outer join operation</a:t>
            </a:r>
          </a:p>
          <a:p>
            <a:pPr marL="342900"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The full outer join (full join) preserves tuples in both relations</a:t>
            </a: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6</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22266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Join Operations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3323987"/>
          </a:xfrm>
          <a:prstGeom prst="rect">
            <a:avLst/>
          </a:prstGeom>
        </p:spPr>
        <p:txBody>
          <a:bodyPr wrap="square">
            <a:spAutoFit/>
          </a:bodyPr>
          <a:lstStyle/>
          <a:p>
            <a:pPr algn="just" fontAlgn="base">
              <a:lnSpc>
                <a:spcPct val="150000"/>
              </a:lnSpc>
              <a:spcBef>
                <a:spcPct val="0"/>
              </a:spcBef>
              <a:spcAft>
                <a:spcPct val="0"/>
              </a:spcAft>
            </a:pPr>
            <a:r>
              <a:rPr lang="en-US" sz="2000" b="1" dirty="0">
                <a:solidFill>
                  <a:schemeClr val="tx2"/>
                </a:solidFill>
                <a:latin typeface="Arial" panose="020B0604020202020204" pitchFamily="34" charset="0"/>
                <a:ea typeface="+mj-ea"/>
                <a:cs typeface="Arial" panose="020B0604020202020204" pitchFamily="34" charset="0"/>
              </a:rPr>
              <a:t>Left Outer Join</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Returns all the rows of the table on the left side of the join and matching rows for the table on the right side of join (The rows for which there is no matching row on right side, the result-set will contain null)</a:t>
            </a:r>
          </a:p>
          <a:p>
            <a:pPr lvl="0" algn="just">
              <a:lnSpc>
                <a:spcPct val="150000"/>
              </a:lnSpc>
            </a:pPr>
            <a:r>
              <a:rPr lang="en-US" sz="2000" dirty="0">
                <a:latin typeface="Arial" panose="020B0604020202020204" pitchFamily="34" charset="0"/>
                <a:cs typeface="Arial" panose="020B0604020202020204" pitchFamily="34" charset="0"/>
              </a:rPr>
              <a:t>E.g., SELECT Student.NAME, </a:t>
            </a:r>
            <a:r>
              <a:rPr lang="en-US" sz="2000" dirty="0" err="1">
                <a:latin typeface="Arial" panose="020B0604020202020204" pitchFamily="34" charset="0"/>
                <a:cs typeface="Arial" panose="020B0604020202020204" pitchFamily="34" charset="0"/>
              </a:rPr>
              <a:t>StudentCourse.COURSE_ID</a:t>
            </a:r>
            <a:r>
              <a:rPr lang="en-US" sz="2000" dirty="0">
                <a:latin typeface="Arial" panose="020B0604020202020204" pitchFamily="34" charset="0"/>
                <a:cs typeface="Arial" panose="020B0604020202020204" pitchFamily="34" charset="0"/>
              </a:rPr>
              <a:t> FROM Student LEFT JOIN </a:t>
            </a:r>
            <a:r>
              <a:rPr lang="en-US" sz="2000" dirty="0" err="1">
                <a:latin typeface="Arial" panose="020B0604020202020204" pitchFamily="34" charset="0"/>
                <a:cs typeface="Arial" panose="020B0604020202020204" pitchFamily="34" charset="0"/>
              </a:rPr>
              <a:t>StudentCourse</a:t>
            </a:r>
            <a:r>
              <a:rPr lang="en-US" sz="2000" dirty="0">
                <a:latin typeface="Arial" panose="020B0604020202020204" pitchFamily="34" charset="0"/>
                <a:cs typeface="Arial" panose="020B0604020202020204" pitchFamily="34" charset="0"/>
              </a:rPr>
              <a:t> ON </a:t>
            </a:r>
            <a:r>
              <a:rPr lang="en-US" sz="2000" dirty="0" err="1">
                <a:latin typeface="Arial" panose="020B0604020202020204" pitchFamily="34" charset="0"/>
                <a:cs typeface="Arial" panose="020B0604020202020204" pitchFamily="34" charset="0"/>
              </a:rPr>
              <a:t>StudentCourse.ROLL_NO</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Student.ROLL_NO</a:t>
            </a:r>
            <a:r>
              <a:rPr lang="en-US" sz="20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7</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
        <p:nvSpPr>
          <p:cNvPr id="8" name="TextBox 7"/>
          <p:cNvSpPr txBox="1"/>
          <p:nvPr/>
        </p:nvSpPr>
        <p:spPr>
          <a:xfrm>
            <a:off x="6876256" y="3861048"/>
            <a:ext cx="1728192" cy="400110"/>
          </a:xfrm>
          <a:prstGeom prst="rect">
            <a:avLst/>
          </a:prstGeom>
          <a:noFill/>
        </p:spPr>
        <p:txBody>
          <a:bodyPr wrap="square" rtlCol="0">
            <a:spAutoFit/>
          </a:bodyPr>
          <a:lstStyle/>
          <a:p>
            <a:r>
              <a:rPr lang="en-US" sz="2000" b="1" dirty="0" smtClean="0">
                <a:solidFill>
                  <a:srgbClr val="C00000"/>
                </a:solidFill>
                <a:latin typeface="Arial" panose="020B0604020202020204" pitchFamily="34" charset="0"/>
                <a:cs typeface="Arial" panose="020B0604020202020204" pitchFamily="34" charset="0"/>
              </a:rPr>
              <a:t>Output</a:t>
            </a:r>
            <a:endParaRPr lang="en-IN" sz="2000" b="1" dirty="0">
              <a:solidFill>
                <a:srgbClr val="C00000"/>
              </a:solidFill>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2"/>
          <a:stretch>
            <a:fillRect/>
          </a:stretch>
        </p:blipFill>
        <p:spPr>
          <a:xfrm>
            <a:off x="175647" y="4304715"/>
            <a:ext cx="3244225" cy="2136369"/>
          </a:xfrm>
          <a:prstGeom prst="rect">
            <a:avLst/>
          </a:prstGeom>
        </p:spPr>
      </p:pic>
      <p:pic>
        <p:nvPicPr>
          <p:cNvPr id="13" name="Picture 12"/>
          <p:cNvPicPr>
            <a:picLocks noChangeAspect="1"/>
          </p:cNvPicPr>
          <p:nvPr/>
        </p:nvPicPr>
        <p:blipFill>
          <a:blip r:embed="rId3"/>
          <a:stretch>
            <a:fillRect/>
          </a:stretch>
        </p:blipFill>
        <p:spPr>
          <a:xfrm>
            <a:off x="3419872" y="4195048"/>
            <a:ext cx="2304256" cy="2246036"/>
          </a:xfrm>
          <a:prstGeom prst="rect">
            <a:avLst/>
          </a:prstGeom>
        </p:spPr>
      </p:pic>
      <p:pic>
        <p:nvPicPr>
          <p:cNvPr id="14" name="Picture 13"/>
          <p:cNvPicPr>
            <a:picLocks noChangeAspect="1"/>
          </p:cNvPicPr>
          <p:nvPr/>
        </p:nvPicPr>
        <p:blipFill>
          <a:blip r:embed="rId4"/>
          <a:stretch>
            <a:fillRect/>
          </a:stretch>
        </p:blipFill>
        <p:spPr>
          <a:xfrm>
            <a:off x="5722937" y="4261158"/>
            <a:ext cx="3421063" cy="2192178"/>
          </a:xfrm>
          <a:prstGeom prst="rect">
            <a:avLst/>
          </a:prstGeom>
        </p:spPr>
      </p:pic>
    </p:spTree>
    <p:extLst>
      <p:ext uri="{BB962C8B-B14F-4D97-AF65-F5344CB8AC3E}">
        <p14:creationId xmlns:p14="http://schemas.microsoft.com/office/powerpoint/2010/main" val="13682574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Join Operations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3323987"/>
          </a:xfrm>
          <a:prstGeom prst="rect">
            <a:avLst/>
          </a:prstGeom>
        </p:spPr>
        <p:txBody>
          <a:bodyPr wrap="square">
            <a:spAutoFit/>
          </a:bodyPr>
          <a:lstStyle/>
          <a:p>
            <a:pPr algn="just" fontAlgn="base">
              <a:lnSpc>
                <a:spcPct val="150000"/>
              </a:lnSpc>
              <a:spcBef>
                <a:spcPct val="0"/>
              </a:spcBef>
              <a:spcAft>
                <a:spcPct val="0"/>
              </a:spcAft>
            </a:pPr>
            <a:r>
              <a:rPr lang="en-US" sz="2000" b="1" dirty="0">
                <a:solidFill>
                  <a:schemeClr val="tx2"/>
                </a:solidFill>
                <a:latin typeface="Arial" panose="020B0604020202020204" pitchFamily="34" charset="0"/>
                <a:ea typeface="+mj-ea"/>
                <a:cs typeface="Arial" panose="020B0604020202020204" pitchFamily="34" charset="0"/>
              </a:rPr>
              <a:t>Right Outer Join</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Returns all the rows of the table on the right side of the join and matching rows for the table on the left side of join (The rows for which there is no matching row on left side, the result-set will contain null)</a:t>
            </a:r>
          </a:p>
          <a:p>
            <a:pPr lvl="0" algn="just" eaLnBrk="0" fontAlgn="base" hangingPunct="0">
              <a:lnSpc>
                <a:spcPct val="150000"/>
              </a:lnSpc>
              <a:spcBef>
                <a:spcPct val="0"/>
              </a:spcBef>
              <a:spcAft>
                <a:spcPct val="0"/>
              </a:spcAft>
            </a:pPr>
            <a:r>
              <a:rPr lang="en-US" sz="2000" dirty="0">
                <a:latin typeface="Arial" panose="020B0604020202020204" pitchFamily="34" charset="0"/>
                <a:cs typeface="Arial" panose="020B0604020202020204" pitchFamily="34" charset="0"/>
              </a:rPr>
              <a:t>E.g., SELECT Student.NAME, </a:t>
            </a:r>
            <a:r>
              <a:rPr lang="en-US" sz="2000" dirty="0" err="1">
                <a:latin typeface="Arial" panose="020B0604020202020204" pitchFamily="34" charset="0"/>
                <a:cs typeface="Arial" panose="020B0604020202020204" pitchFamily="34" charset="0"/>
              </a:rPr>
              <a:t>StudentCourse.COURSE_ID</a:t>
            </a:r>
            <a:r>
              <a:rPr lang="en-US" sz="2000" dirty="0">
                <a:latin typeface="Arial" panose="020B0604020202020204" pitchFamily="34" charset="0"/>
                <a:cs typeface="Arial" panose="020B0604020202020204" pitchFamily="34" charset="0"/>
              </a:rPr>
              <a:t> FROM Student RIGHT JOIN </a:t>
            </a:r>
            <a:r>
              <a:rPr lang="en-US" sz="2000" dirty="0" err="1">
                <a:latin typeface="Arial" panose="020B0604020202020204" pitchFamily="34" charset="0"/>
                <a:cs typeface="Arial" panose="020B0604020202020204" pitchFamily="34" charset="0"/>
              </a:rPr>
              <a:t>StudentCourse</a:t>
            </a:r>
            <a:r>
              <a:rPr lang="en-US" sz="2000" dirty="0">
                <a:latin typeface="Arial" panose="020B0604020202020204" pitchFamily="34" charset="0"/>
                <a:cs typeface="Arial" panose="020B0604020202020204" pitchFamily="34" charset="0"/>
              </a:rPr>
              <a:t> ON </a:t>
            </a:r>
            <a:r>
              <a:rPr lang="en-US" sz="2000" dirty="0" err="1">
                <a:latin typeface="Arial" panose="020B0604020202020204" pitchFamily="34" charset="0"/>
                <a:cs typeface="Arial" panose="020B0604020202020204" pitchFamily="34" charset="0"/>
              </a:rPr>
              <a:t>StudentCourse.ROLL_NO</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Student.ROLL_NO</a:t>
            </a:r>
            <a:r>
              <a:rPr lang="en-US" sz="20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8</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
        <p:nvSpPr>
          <p:cNvPr id="8" name="TextBox 7"/>
          <p:cNvSpPr txBox="1"/>
          <p:nvPr/>
        </p:nvSpPr>
        <p:spPr>
          <a:xfrm>
            <a:off x="6876256" y="3861048"/>
            <a:ext cx="1728192" cy="400110"/>
          </a:xfrm>
          <a:prstGeom prst="rect">
            <a:avLst/>
          </a:prstGeom>
          <a:noFill/>
        </p:spPr>
        <p:txBody>
          <a:bodyPr wrap="square" rtlCol="0">
            <a:spAutoFit/>
          </a:bodyPr>
          <a:lstStyle/>
          <a:p>
            <a:r>
              <a:rPr lang="en-US" sz="2000" b="1" dirty="0" smtClean="0">
                <a:solidFill>
                  <a:srgbClr val="C00000"/>
                </a:solidFill>
                <a:latin typeface="Arial" panose="020B0604020202020204" pitchFamily="34" charset="0"/>
                <a:cs typeface="Arial" panose="020B0604020202020204" pitchFamily="34" charset="0"/>
              </a:rPr>
              <a:t>Output</a:t>
            </a:r>
            <a:endParaRPr lang="en-IN" sz="2000" b="1" dirty="0">
              <a:solidFill>
                <a:srgbClr val="C00000"/>
              </a:solidFill>
              <a:latin typeface="Arial" panose="020B0604020202020204" pitchFamily="34" charset="0"/>
              <a:cs typeface="Arial" panose="020B0604020202020204" pitchFamily="34" charset="0"/>
            </a:endParaRPr>
          </a:p>
        </p:txBody>
      </p:sp>
      <p:pic>
        <p:nvPicPr>
          <p:cNvPr id="15" name="Picture 14"/>
          <p:cNvPicPr>
            <a:picLocks noChangeAspect="1"/>
          </p:cNvPicPr>
          <p:nvPr/>
        </p:nvPicPr>
        <p:blipFill>
          <a:blip r:embed="rId2"/>
          <a:stretch>
            <a:fillRect/>
          </a:stretch>
        </p:blipFill>
        <p:spPr>
          <a:xfrm>
            <a:off x="175647" y="4261158"/>
            <a:ext cx="3244225" cy="2179926"/>
          </a:xfrm>
          <a:prstGeom prst="rect">
            <a:avLst/>
          </a:prstGeom>
        </p:spPr>
      </p:pic>
      <p:pic>
        <p:nvPicPr>
          <p:cNvPr id="16" name="Picture 15"/>
          <p:cNvPicPr>
            <a:picLocks noChangeAspect="1"/>
          </p:cNvPicPr>
          <p:nvPr/>
        </p:nvPicPr>
        <p:blipFill>
          <a:blip r:embed="rId3"/>
          <a:stretch>
            <a:fillRect/>
          </a:stretch>
        </p:blipFill>
        <p:spPr>
          <a:xfrm>
            <a:off x="3419872" y="4149080"/>
            <a:ext cx="2304256" cy="2292004"/>
          </a:xfrm>
          <a:prstGeom prst="rect">
            <a:avLst/>
          </a:prstGeom>
        </p:spPr>
      </p:pic>
      <p:pic>
        <p:nvPicPr>
          <p:cNvPr id="17" name="Picture 16"/>
          <p:cNvPicPr>
            <a:picLocks noChangeAspect="1"/>
          </p:cNvPicPr>
          <p:nvPr/>
        </p:nvPicPr>
        <p:blipFill>
          <a:blip r:embed="rId4"/>
          <a:stretch>
            <a:fillRect/>
          </a:stretch>
        </p:blipFill>
        <p:spPr>
          <a:xfrm>
            <a:off x="5736654" y="4261158"/>
            <a:ext cx="3407346" cy="2186052"/>
          </a:xfrm>
          <a:prstGeom prst="rect">
            <a:avLst/>
          </a:prstGeom>
        </p:spPr>
      </p:pic>
    </p:spTree>
    <p:extLst>
      <p:ext uri="{BB962C8B-B14F-4D97-AF65-F5344CB8AC3E}">
        <p14:creationId xmlns:p14="http://schemas.microsoft.com/office/powerpoint/2010/main" val="36053605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Join Operations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3323987"/>
          </a:xfrm>
          <a:prstGeom prst="rect">
            <a:avLst/>
          </a:prstGeom>
        </p:spPr>
        <p:txBody>
          <a:bodyPr wrap="square">
            <a:spAutoFit/>
          </a:bodyPr>
          <a:lstStyle/>
          <a:p>
            <a:pPr algn="just" fontAlgn="base">
              <a:lnSpc>
                <a:spcPct val="150000"/>
              </a:lnSpc>
              <a:spcBef>
                <a:spcPct val="0"/>
              </a:spcBef>
              <a:spcAft>
                <a:spcPct val="0"/>
              </a:spcAft>
            </a:pPr>
            <a:r>
              <a:rPr lang="en-US" sz="2000" b="1" dirty="0">
                <a:solidFill>
                  <a:schemeClr val="tx2"/>
                </a:solidFill>
                <a:latin typeface="Arial" panose="020B0604020202020204" pitchFamily="34" charset="0"/>
                <a:ea typeface="+mj-ea"/>
                <a:cs typeface="Arial" panose="020B0604020202020204" pitchFamily="34" charset="0"/>
              </a:rPr>
              <a:t>Full Outer Join</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Combining result of both LEFT JOIN and RIGHT JOIN </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result-set will contain all the rows from both the tables (The rows for which there is no matching, the result-set will contain NULL values)</a:t>
            </a:r>
          </a:p>
          <a:p>
            <a:pPr lvl="0" algn="just">
              <a:lnSpc>
                <a:spcPct val="150000"/>
              </a:lnSpc>
            </a:pPr>
            <a:r>
              <a:rPr lang="en-US" sz="2000" dirty="0">
                <a:latin typeface="Arial" panose="020B0604020202020204" pitchFamily="34" charset="0"/>
                <a:cs typeface="Arial" panose="020B0604020202020204" pitchFamily="34" charset="0"/>
              </a:rPr>
              <a:t>E.g., SELECT Student.NAME, </a:t>
            </a:r>
            <a:r>
              <a:rPr lang="en-US" sz="2000" dirty="0" err="1">
                <a:latin typeface="Arial" panose="020B0604020202020204" pitchFamily="34" charset="0"/>
                <a:cs typeface="Arial" panose="020B0604020202020204" pitchFamily="34" charset="0"/>
              </a:rPr>
              <a:t>StudentCourse.COURSE_ID</a:t>
            </a:r>
            <a:r>
              <a:rPr lang="en-US" sz="2000" dirty="0">
                <a:latin typeface="Arial" panose="020B0604020202020204" pitchFamily="34" charset="0"/>
                <a:cs typeface="Arial" panose="020B0604020202020204" pitchFamily="34" charset="0"/>
              </a:rPr>
              <a:t> FROM Student FULL JOIN </a:t>
            </a:r>
            <a:r>
              <a:rPr lang="en-US" sz="2000" dirty="0" err="1">
                <a:latin typeface="Arial" panose="020B0604020202020204" pitchFamily="34" charset="0"/>
                <a:cs typeface="Arial" panose="020B0604020202020204" pitchFamily="34" charset="0"/>
              </a:rPr>
              <a:t>StudentCourse</a:t>
            </a:r>
            <a:r>
              <a:rPr lang="en-US" sz="2000" dirty="0">
                <a:latin typeface="Arial" panose="020B0604020202020204" pitchFamily="34" charset="0"/>
                <a:cs typeface="Arial" panose="020B0604020202020204" pitchFamily="34" charset="0"/>
              </a:rPr>
              <a:t> ON </a:t>
            </a:r>
            <a:r>
              <a:rPr lang="en-US" sz="2000" dirty="0" err="1">
                <a:latin typeface="Arial" panose="020B0604020202020204" pitchFamily="34" charset="0"/>
                <a:cs typeface="Arial" panose="020B0604020202020204" pitchFamily="34" charset="0"/>
              </a:rPr>
              <a:t>StudentCourse.ROLL_NO</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Student.ROLL_NO</a:t>
            </a:r>
            <a:r>
              <a:rPr lang="en-US" sz="20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9</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
        <p:nvSpPr>
          <p:cNvPr id="8" name="TextBox 7"/>
          <p:cNvSpPr txBox="1"/>
          <p:nvPr/>
        </p:nvSpPr>
        <p:spPr>
          <a:xfrm>
            <a:off x="6876256" y="3861048"/>
            <a:ext cx="1728192" cy="400110"/>
          </a:xfrm>
          <a:prstGeom prst="rect">
            <a:avLst/>
          </a:prstGeom>
          <a:noFill/>
        </p:spPr>
        <p:txBody>
          <a:bodyPr wrap="square" rtlCol="0">
            <a:spAutoFit/>
          </a:bodyPr>
          <a:lstStyle/>
          <a:p>
            <a:r>
              <a:rPr lang="en-US" sz="2000" b="1" dirty="0" smtClean="0">
                <a:solidFill>
                  <a:srgbClr val="C00000"/>
                </a:solidFill>
                <a:latin typeface="Arial" panose="020B0604020202020204" pitchFamily="34" charset="0"/>
                <a:cs typeface="Arial" panose="020B0604020202020204" pitchFamily="34" charset="0"/>
              </a:rPr>
              <a:t>Output</a:t>
            </a:r>
            <a:endParaRPr lang="en-IN" sz="2000" b="1" dirty="0">
              <a:solidFill>
                <a:srgbClr val="C00000"/>
              </a:solidFill>
              <a:latin typeface="Arial" panose="020B0604020202020204" pitchFamily="34" charset="0"/>
              <a:cs typeface="Arial" panose="020B0604020202020204" pitchFamily="34" charset="0"/>
            </a:endParaRPr>
          </a:p>
        </p:txBody>
      </p:sp>
      <p:pic>
        <p:nvPicPr>
          <p:cNvPr id="13" name="Picture 12"/>
          <p:cNvPicPr>
            <a:picLocks noChangeAspect="1"/>
          </p:cNvPicPr>
          <p:nvPr/>
        </p:nvPicPr>
        <p:blipFill>
          <a:blip r:embed="rId2"/>
          <a:stretch>
            <a:fillRect/>
          </a:stretch>
        </p:blipFill>
        <p:spPr>
          <a:xfrm>
            <a:off x="302938" y="4304715"/>
            <a:ext cx="3244225" cy="2147860"/>
          </a:xfrm>
          <a:prstGeom prst="rect">
            <a:avLst/>
          </a:prstGeom>
        </p:spPr>
      </p:pic>
      <p:pic>
        <p:nvPicPr>
          <p:cNvPr id="14" name="Picture 13"/>
          <p:cNvPicPr>
            <a:picLocks noChangeAspect="1"/>
          </p:cNvPicPr>
          <p:nvPr/>
        </p:nvPicPr>
        <p:blipFill>
          <a:blip r:embed="rId3"/>
          <a:stretch>
            <a:fillRect/>
          </a:stretch>
        </p:blipFill>
        <p:spPr>
          <a:xfrm>
            <a:off x="3768147" y="4261158"/>
            <a:ext cx="2304256" cy="2190656"/>
          </a:xfrm>
          <a:prstGeom prst="rect">
            <a:avLst/>
          </a:prstGeom>
        </p:spPr>
      </p:pic>
      <p:pic>
        <p:nvPicPr>
          <p:cNvPr id="18" name="Picture 17"/>
          <p:cNvPicPr>
            <a:picLocks noChangeAspect="1"/>
          </p:cNvPicPr>
          <p:nvPr/>
        </p:nvPicPr>
        <p:blipFill>
          <a:blip r:embed="rId4"/>
          <a:stretch>
            <a:fillRect/>
          </a:stretch>
        </p:blipFill>
        <p:spPr>
          <a:xfrm>
            <a:off x="6343088" y="4344254"/>
            <a:ext cx="2505075" cy="2109082"/>
          </a:xfrm>
          <a:prstGeom prst="rect">
            <a:avLst/>
          </a:prstGeom>
        </p:spPr>
      </p:pic>
    </p:spTree>
    <p:extLst>
      <p:ext uri="{BB962C8B-B14F-4D97-AF65-F5344CB8AC3E}">
        <p14:creationId xmlns:p14="http://schemas.microsoft.com/office/powerpoint/2010/main" val="22794075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Writing Optimized Queries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563231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Given a query, there are generally a variety of methods for computing the </a:t>
            </a:r>
            <a:r>
              <a:rPr lang="en-US" sz="2000" dirty="0" smtClean="0">
                <a:latin typeface="Arial" panose="020B0604020202020204" pitchFamily="34" charset="0"/>
                <a:cs typeface="Arial" panose="020B0604020202020204" pitchFamily="34" charset="0"/>
              </a:rPr>
              <a:t>answer</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A query </a:t>
            </a:r>
            <a:r>
              <a:rPr lang="en-US" sz="2000" dirty="0">
                <a:latin typeface="Arial" panose="020B0604020202020204" pitchFamily="34" charset="0"/>
                <a:cs typeface="Arial" panose="020B0604020202020204" pitchFamily="34" charset="0"/>
              </a:rPr>
              <a:t>could be expressed in several different </a:t>
            </a:r>
            <a:r>
              <a:rPr lang="en-US" sz="2000" dirty="0" smtClean="0">
                <a:latin typeface="Arial" panose="020B0604020202020204" pitchFamily="34" charset="0"/>
                <a:cs typeface="Arial" panose="020B0604020202020204" pitchFamily="34" charset="0"/>
              </a:rPr>
              <a:t>ways</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Each </a:t>
            </a:r>
            <a:r>
              <a:rPr lang="en-US" sz="2000" dirty="0">
                <a:latin typeface="Arial" panose="020B0604020202020204" pitchFamily="34" charset="0"/>
                <a:cs typeface="Arial" panose="020B0604020202020204" pitchFamily="34" charset="0"/>
              </a:rPr>
              <a:t>SQL query can itself be translated into a </a:t>
            </a:r>
            <a:r>
              <a:rPr lang="en-US" sz="2000" dirty="0" smtClean="0">
                <a:latin typeface="Arial" panose="020B0604020202020204" pitchFamily="34" charset="0"/>
                <a:cs typeface="Arial" panose="020B0604020202020204" pitchFamily="34" charset="0"/>
              </a:rPr>
              <a:t>relational-algebra </a:t>
            </a:r>
            <a:r>
              <a:rPr lang="en-US" sz="2000" dirty="0">
                <a:latin typeface="Arial" panose="020B0604020202020204" pitchFamily="34" charset="0"/>
                <a:cs typeface="Arial" panose="020B0604020202020204" pitchFamily="34" charset="0"/>
              </a:rPr>
              <a:t>expression in one of several </a:t>
            </a:r>
            <a:r>
              <a:rPr lang="en-US" sz="2000" dirty="0" smtClean="0">
                <a:latin typeface="Arial" panose="020B0604020202020204" pitchFamily="34" charset="0"/>
                <a:cs typeface="Arial" panose="020B0604020202020204" pitchFamily="34" charset="0"/>
              </a:rPr>
              <a:t>ways</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Furthermore</a:t>
            </a:r>
            <a:r>
              <a:rPr lang="en-US" sz="2000" dirty="0">
                <a:latin typeface="Arial" panose="020B0604020202020204" pitchFamily="34" charset="0"/>
                <a:cs typeface="Arial" panose="020B0604020202020204" pitchFamily="34" charset="0"/>
              </a:rPr>
              <a:t>, the relational-algebra representation of a query specifies only partially how to evaluate a query; there are usually several ways to evaluate relational-algebra </a:t>
            </a:r>
            <a:r>
              <a:rPr lang="en-US" sz="2000" dirty="0" smtClean="0">
                <a:latin typeface="Arial" panose="020B0604020202020204" pitchFamily="34" charset="0"/>
                <a:cs typeface="Arial" panose="020B0604020202020204" pitchFamily="34" charset="0"/>
              </a:rPr>
              <a:t>expressions</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As </a:t>
            </a:r>
            <a:r>
              <a:rPr lang="en-US" sz="2000" dirty="0">
                <a:latin typeface="Arial" panose="020B0604020202020204" pitchFamily="34" charset="0"/>
                <a:cs typeface="Arial" panose="020B0604020202020204" pitchFamily="34" charset="0"/>
              </a:rPr>
              <a:t>an illustration, consider the query:</a:t>
            </a:r>
          </a:p>
          <a:p>
            <a:pPr algn="just">
              <a:lnSpc>
                <a:spcPct val="150000"/>
              </a:lnSpc>
            </a:pPr>
            <a:r>
              <a:rPr lang="en-US" sz="2000" b="1" dirty="0" smtClean="0">
                <a:latin typeface="Arial" panose="020B0604020202020204" pitchFamily="34" charset="0"/>
                <a:cs typeface="Arial" panose="020B0604020202020204" pitchFamily="34" charset="0"/>
              </a:rPr>
              <a:t>select</a:t>
            </a:r>
            <a:r>
              <a:rPr lang="en-US" sz="2000" dirty="0" smtClean="0">
                <a:latin typeface="Arial" panose="020B0604020202020204" pitchFamily="34" charset="0"/>
                <a:cs typeface="Arial" panose="020B0604020202020204" pitchFamily="34" charset="0"/>
              </a:rPr>
              <a:t> salary </a:t>
            </a:r>
          </a:p>
          <a:p>
            <a:pPr algn="just">
              <a:lnSpc>
                <a:spcPct val="150000"/>
              </a:lnSpc>
            </a:pPr>
            <a:r>
              <a:rPr lang="en-US" sz="2000" b="1" dirty="0">
                <a:latin typeface="Arial" panose="020B0604020202020204" pitchFamily="34" charset="0"/>
                <a:cs typeface="Arial" panose="020B0604020202020204" pitchFamily="34" charset="0"/>
              </a:rPr>
              <a:t>f</a:t>
            </a:r>
            <a:r>
              <a:rPr lang="en-US" sz="2000" b="1" dirty="0" smtClean="0">
                <a:latin typeface="Arial" panose="020B0604020202020204" pitchFamily="34" charset="0"/>
                <a:cs typeface="Arial" panose="020B0604020202020204" pitchFamily="34" charset="0"/>
              </a:rPr>
              <a:t>rom</a:t>
            </a:r>
            <a:r>
              <a:rPr lang="en-US" sz="2000" dirty="0" smtClean="0">
                <a:latin typeface="Arial" panose="020B0604020202020204" pitchFamily="34" charset="0"/>
                <a:cs typeface="Arial" panose="020B0604020202020204" pitchFamily="34" charset="0"/>
              </a:rPr>
              <a:t> instructor</a:t>
            </a:r>
          </a:p>
          <a:p>
            <a:pPr algn="just">
              <a:lnSpc>
                <a:spcPct val="150000"/>
              </a:lnSpc>
            </a:pPr>
            <a:r>
              <a:rPr lang="en-US" sz="2000" b="1" dirty="0">
                <a:latin typeface="Arial" panose="020B0604020202020204" pitchFamily="34" charset="0"/>
                <a:cs typeface="Arial" panose="020B0604020202020204" pitchFamily="34" charset="0"/>
              </a:rPr>
              <a:t>w</a:t>
            </a:r>
            <a:r>
              <a:rPr lang="en-US" sz="2000" b="1" dirty="0" smtClean="0">
                <a:latin typeface="Arial" panose="020B0604020202020204" pitchFamily="34" charset="0"/>
                <a:cs typeface="Arial" panose="020B0604020202020204" pitchFamily="34" charset="0"/>
              </a:rPr>
              <a:t>here </a:t>
            </a:r>
            <a:r>
              <a:rPr lang="en-US" sz="2000" dirty="0" smtClean="0">
                <a:latin typeface="Arial" panose="020B0604020202020204" pitchFamily="34" charset="0"/>
                <a:cs typeface="Arial" panose="020B0604020202020204" pitchFamily="34" charset="0"/>
              </a:rPr>
              <a:t>salary &lt; 75000;</a:t>
            </a:r>
            <a:endParaRPr lang="en-US" sz="2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10</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93736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Writing Optimized Queries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This query can be translated into either of the following relational-algebra expressions:</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Further</a:t>
            </a:r>
            <a:r>
              <a:rPr lang="en-US" sz="2000" dirty="0">
                <a:latin typeface="Arial" panose="020B0604020202020204" pitchFamily="34" charset="0"/>
                <a:cs typeface="Arial" panose="020B0604020202020204" pitchFamily="34" charset="0"/>
              </a:rPr>
              <a:t>, we can execute each relational-algebra operation by one of several different </a:t>
            </a:r>
            <a:r>
              <a:rPr lang="en-US" sz="2000" dirty="0" smtClean="0">
                <a:latin typeface="Arial" panose="020B0604020202020204" pitchFamily="34" charset="0"/>
                <a:cs typeface="Arial" panose="020B0604020202020204" pitchFamily="34" charset="0"/>
              </a:rPr>
              <a:t>algorithms</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For </a:t>
            </a:r>
            <a:r>
              <a:rPr lang="en-US" sz="2000" dirty="0">
                <a:latin typeface="Arial" panose="020B0604020202020204" pitchFamily="34" charset="0"/>
                <a:cs typeface="Arial" panose="020B0604020202020204" pitchFamily="34" charset="0"/>
              </a:rPr>
              <a:t>example, to implement the preceding selection, </a:t>
            </a:r>
            <a:r>
              <a:rPr lang="en-US" sz="2000" dirty="0" smtClean="0">
                <a:latin typeface="Arial" panose="020B0604020202020204" pitchFamily="34" charset="0"/>
                <a:cs typeface="Arial" panose="020B0604020202020204" pitchFamily="34" charset="0"/>
              </a:rPr>
              <a:t>every </a:t>
            </a:r>
            <a:r>
              <a:rPr lang="en-US" sz="2000" dirty="0">
                <a:latin typeface="Arial" panose="020B0604020202020204" pitchFamily="34" charset="0"/>
                <a:cs typeface="Arial" panose="020B0604020202020204" pitchFamily="34" charset="0"/>
              </a:rPr>
              <a:t>tuple in instructor </a:t>
            </a:r>
            <a:r>
              <a:rPr lang="en-US" sz="2000" dirty="0" smtClean="0">
                <a:latin typeface="Arial" panose="020B0604020202020204" pitchFamily="34" charset="0"/>
                <a:cs typeface="Arial" panose="020B0604020202020204" pitchFamily="34" charset="0"/>
              </a:rPr>
              <a:t>can be searched to </a:t>
            </a:r>
            <a:r>
              <a:rPr lang="en-US" sz="2000" dirty="0">
                <a:latin typeface="Arial" panose="020B0604020202020204" pitchFamily="34" charset="0"/>
                <a:cs typeface="Arial" panose="020B0604020202020204" pitchFamily="34" charset="0"/>
              </a:rPr>
              <a:t>find tuples with salary less than </a:t>
            </a:r>
            <a:r>
              <a:rPr lang="en-US" sz="2000" dirty="0" smtClean="0">
                <a:latin typeface="Arial" panose="020B0604020202020204" pitchFamily="34" charset="0"/>
                <a:cs typeface="Arial" panose="020B0604020202020204" pitchFamily="34" charset="0"/>
              </a:rPr>
              <a:t>75000</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r>
              <a:rPr lang="en-US" sz="2000" dirty="0">
                <a:latin typeface="Arial" panose="020B0604020202020204" pitchFamily="34" charset="0"/>
                <a:cs typeface="Arial" panose="020B0604020202020204" pitchFamily="34" charset="0"/>
              </a:rPr>
              <a:t>a B+-tree index is available on the attribute salary, we can use the index instead to locate the </a:t>
            </a:r>
            <a:r>
              <a:rPr lang="en-US" sz="2000" dirty="0" smtClean="0">
                <a:latin typeface="Arial" panose="020B0604020202020204" pitchFamily="34" charset="0"/>
                <a:cs typeface="Arial" panose="020B0604020202020204" pitchFamily="34" charset="0"/>
              </a:rPr>
              <a:t>tuples</a:t>
            </a: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11</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a:stretch>
            <a:fillRect/>
          </a:stretch>
        </p:blipFill>
        <p:spPr>
          <a:xfrm>
            <a:off x="2524080" y="1827167"/>
            <a:ext cx="4114577" cy="1025769"/>
          </a:xfrm>
          <a:prstGeom prst="rect">
            <a:avLst/>
          </a:prstGeom>
        </p:spPr>
      </p:pic>
    </p:spTree>
    <p:extLst>
      <p:ext uri="{BB962C8B-B14F-4D97-AF65-F5344CB8AC3E}">
        <p14:creationId xmlns:p14="http://schemas.microsoft.com/office/powerpoint/2010/main" val="32859700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1560" y="472480"/>
            <a:ext cx="7920880" cy="1372344"/>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IN" sz="2400" b="1" dirty="0" smtClean="0">
                <a:solidFill>
                  <a:srgbClr val="C00000"/>
                </a:solidFill>
                <a:latin typeface="Arial" panose="020B0604020202020204" pitchFamily="34" charset="0"/>
                <a:cs typeface="Arial" panose="020B0604020202020204" pitchFamily="34" charset="0"/>
              </a:rPr>
              <a:t>Writing Optimized Queries</a:t>
            </a:r>
            <a:endParaRPr lang="en-IN" sz="2400" b="1" dirty="0">
              <a:solidFill>
                <a:srgbClr val="C00000"/>
              </a:solidFill>
              <a:latin typeface="Arial" panose="020B0604020202020204" pitchFamily="34" charset="0"/>
              <a:cs typeface="Arial" panose="020B0604020202020204" pitchFamily="34" charset="0"/>
            </a:endParaRPr>
          </a:p>
          <a:p>
            <a:pPr>
              <a:lnSpc>
                <a:spcPct val="150000"/>
              </a:lnSpc>
            </a:pPr>
            <a:r>
              <a:rPr lang="en-IN" sz="2200" b="1" dirty="0" smtClean="0">
                <a:solidFill>
                  <a:srgbClr val="C00000"/>
                </a:solidFill>
                <a:latin typeface="Arial" panose="020B0604020202020204" pitchFamily="34" charset="0"/>
                <a:cs typeface="Arial" pitchFamily="34" charset="0"/>
              </a:rPr>
              <a:t> </a:t>
            </a:r>
            <a:br>
              <a:rPr lang="en-IN" sz="2200" b="1" dirty="0" smtClean="0">
                <a:solidFill>
                  <a:srgbClr val="C00000"/>
                </a:solidFill>
                <a:latin typeface="Arial" panose="020B0604020202020204" pitchFamily="34" charset="0"/>
                <a:cs typeface="Arial" pitchFamily="34" charset="0"/>
              </a:rPr>
            </a:br>
            <a:endParaRPr lang="en-IN" sz="2200" dirty="0">
              <a:solidFill>
                <a:srgbClr val="C00000"/>
              </a:solidFill>
              <a:latin typeface="Arial" panose="020B0604020202020204" pitchFamily="34" charset="0"/>
              <a:cs typeface="Arial" panose="020B0604020202020204" pitchFamily="34" charset="0"/>
            </a:endParaRPr>
          </a:p>
        </p:txBody>
      </p:sp>
      <p:sp>
        <p:nvSpPr>
          <p:cNvPr id="9" name="Footer Placeholder 2"/>
          <p:cNvSpPr txBox="1">
            <a:spLocks/>
          </p:cNvSpPr>
          <p:nvPr/>
        </p:nvSpPr>
        <p:spPr>
          <a:xfrm>
            <a:off x="0" y="6453336"/>
            <a:ext cx="9144000" cy="404664"/>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r">
              <a:defRPr/>
            </a:pPr>
            <a:r>
              <a:rPr lang="en-US" sz="1600" b="1" dirty="0" smtClean="0">
                <a:solidFill>
                  <a:schemeClr val="bg1"/>
                </a:solidFill>
                <a:latin typeface="Arial" panose="020B0604020202020204" pitchFamily="34" charset="0"/>
                <a:cs typeface="Arial" panose="020B0604020202020204" pitchFamily="34" charset="0"/>
              </a:rPr>
              <a:t>                                                                                                   </a:t>
            </a:r>
          </a:p>
          <a:p>
            <a:pPr algn="r">
              <a:defRPr/>
            </a:pPr>
            <a:r>
              <a:rPr lang="en-US" sz="1600" b="1" dirty="0">
                <a:solidFill>
                  <a:schemeClr val="bg1"/>
                </a:solidFill>
                <a:latin typeface="Arial" panose="020B0604020202020204" pitchFamily="34" charset="0"/>
                <a:cs typeface="Arial" panose="020B0604020202020204" pitchFamily="34" charset="0"/>
              </a:rPr>
              <a:t> </a:t>
            </a:r>
            <a:r>
              <a:rPr lang="en-US" sz="1600" b="1" dirty="0" smtClean="0">
                <a:solidFill>
                  <a:schemeClr val="bg1"/>
                </a:solidFill>
                <a:latin typeface="Arial" panose="020B0604020202020204" pitchFamily="34" charset="0"/>
                <a:cs typeface="Arial" panose="020B0604020202020204" pitchFamily="34" charset="0"/>
              </a:rPr>
              <a:t>                                                                                                        </a:t>
            </a:r>
            <a:endParaRPr lang="en-US" sz="1600" b="1" dirty="0">
              <a:solidFill>
                <a:schemeClr val="bg1"/>
              </a:solidFill>
              <a:latin typeface="Arial" panose="020B0604020202020204" pitchFamily="34" charset="0"/>
              <a:cs typeface="Arial" panose="020B0604020202020204" pitchFamily="34" charset="0"/>
            </a:endParaRPr>
          </a:p>
        </p:txBody>
      </p:sp>
      <p:sp>
        <p:nvSpPr>
          <p:cNvPr id="3" name="Rectangle 2"/>
          <p:cNvSpPr/>
          <p:nvPr/>
        </p:nvSpPr>
        <p:spPr>
          <a:xfrm>
            <a:off x="15682" y="980728"/>
            <a:ext cx="9131374" cy="424731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To </a:t>
            </a:r>
            <a:r>
              <a:rPr lang="en-US" sz="2000" dirty="0">
                <a:latin typeface="Arial" panose="020B0604020202020204" pitchFamily="34" charset="0"/>
                <a:cs typeface="Arial" panose="020B0604020202020204" pitchFamily="34" charset="0"/>
              </a:rPr>
              <a:t>specify fully how to evaluate a query, we need not only to provide the relational-algebra expression, but also to annotate it with instructions specifying how to evaluate each </a:t>
            </a:r>
            <a:r>
              <a:rPr lang="en-US" sz="2000" dirty="0" smtClean="0">
                <a:latin typeface="Arial" panose="020B0604020202020204" pitchFamily="34" charset="0"/>
                <a:cs typeface="Arial" panose="020B0604020202020204" pitchFamily="34" charset="0"/>
              </a:rPr>
              <a:t>operation</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different evaluation plans for a given query can have different </a:t>
            </a:r>
            <a:r>
              <a:rPr lang="en-US" sz="2000" dirty="0" smtClean="0">
                <a:latin typeface="Arial" panose="020B0604020202020204" pitchFamily="34" charset="0"/>
                <a:cs typeface="Arial" panose="020B0604020202020204" pitchFamily="34" charset="0"/>
              </a:rPr>
              <a:t>costs</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It is </a:t>
            </a:r>
            <a:r>
              <a:rPr lang="en-US" sz="2000" dirty="0">
                <a:latin typeface="Arial" panose="020B0604020202020204" pitchFamily="34" charset="0"/>
                <a:cs typeface="Arial" panose="020B0604020202020204" pitchFamily="34" charset="0"/>
              </a:rPr>
              <a:t>not </a:t>
            </a:r>
            <a:r>
              <a:rPr lang="en-US" sz="2000" dirty="0" smtClean="0">
                <a:latin typeface="Arial" panose="020B0604020202020204" pitchFamily="34" charset="0"/>
                <a:cs typeface="Arial" panose="020B0604020202020204" pitchFamily="34" charset="0"/>
              </a:rPr>
              <a:t>expected </a:t>
            </a:r>
            <a:r>
              <a:rPr lang="en-US" sz="2000" dirty="0">
                <a:latin typeface="Arial" panose="020B0604020202020204" pitchFamily="34" charset="0"/>
                <a:cs typeface="Arial" panose="020B0604020202020204" pitchFamily="34" charset="0"/>
              </a:rPr>
              <a:t>users to write their queries in a way that suggests the most efficient evaluation </a:t>
            </a:r>
            <a:r>
              <a:rPr lang="en-US" sz="2000" dirty="0" smtClean="0">
                <a:latin typeface="Arial" panose="020B0604020202020204" pitchFamily="34" charset="0"/>
                <a:cs typeface="Arial" panose="020B0604020202020204" pitchFamily="34" charset="0"/>
              </a:rPr>
              <a:t>plan</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Rather</a:t>
            </a:r>
            <a:r>
              <a:rPr lang="en-US" sz="2000" dirty="0">
                <a:latin typeface="Arial" panose="020B0604020202020204" pitchFamily="34" charset="0"/>
                <a:cs typeface="Arial" panose="020B0604020202020204" pitchFamily="34" charset="0"/>
              </a:rPr>
              <a:t>, it is the responsibility of the system to construct a </a:t>
            </a:r>
            <a:r>
              <a:rPr lang="en-US" sz="2000" dirty="0" smtClean="0">
                <a:latin typeface="Arial" panose="020B0604020202020204" pitchFamily="34" charset="0"/>
                <a:cs typeface="Arial" panose="020B0604020202020204" pitchFamily="34" charset="0"/>
              </a:rPr>
              <a:t>query-evaluation </a:t>
            </a:r>
            <a:r>
              <a:rPr lang="en-US" sz="2000" dirty="0">
                <a:latin typeface="Arial" panose="020B0604020202020204" pitchFamily="34" charset="0"/>
                <a:cs typeface="Arial" panose="020B0604020202020204" pitchFamily="34" charset="0"/>
              </a:rPr>
              <a:t>plan that minimizes the cost of query evaluation; this task is called query </a:t>
            </a:r>
            <a:r>
              <a:rPr lang="en-US" sz="2000" dirty="0" smtClean="0">
                <a:latin typeface="Arial" panose="020B0604020202020204" pitchFamily="34" charset="0"/>
                <a:cs typeface="Arial" panose="020B0604020202020204" pitchFamily="34" charset="0"/>
              </a:rPr>
              <a:t>optimization</a:t>
            </a:r>
            <a:endParaRPr lang="en-US" sz="2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a:xfrm>
            <a:off x="6997774" y="6492875"/>
            <a:ext cx="2133600" cy="365125"/>
          </a:xfrm>
        </p:spPr>
        <p:txBody>
          <a:bodyPr/>
          <a:lstStyle/>
          <a:p>
            <a:fld id="{DDE39DD5-181C-42B6-8328-C1C2EC19C5EA}" type="slidenum">
              <a:rPr lang="en-IN" sz="1400" b="1" smtClean="0">
                <a:solidFill>
                  <a:schemeClr val="bg1"/>
                </a:solidFill>
                <a:latin typeface="Arial" panose="020B0604020202020204" pitchFamily="34" charset="0"/>
                <a:cs typeface="Arial" panose="020B0604020202020204" pitchFamily="34" charset="0"/>
              </a:rPr>
              <a:t>12</a:t>
            </a:fld>
            <a:endParaRPr lang="en-IN" sz="1400" b="1" dirty="0">
              <a:solidFill>
                <a:schemeClr val="bg1"/>
              </a:solidFill>
              <a:latin typeface="Arial" panose="020B0604020202020204" pitchFamily="34" charset="0"/>
              <a:cs typeface="Arial" panose="020B0604020202020204" pitchFamily="34" charset="0"/>
            </a:endParaRPr>
          </a:p>
        </p:txBody>
      </p:sp>
      <p:sp>
        <p:nvSpPr>
          <p:cNvPr id="11" name="Footer Placeholder 2"/>
          <p:cNvSpPr txBox="1">
            <a:spLocks/>
          </p:cNvSpPr>
          <p:nvPr/>
        </p:nvSpPr>
        <p:spPr>
          <a:xfrm>
            <a:off x="0" y="-14287"/>
            <a:ext cx="9144000" cy="381000"/>
          </a:xfrm>
          <a:prstGeom prst="rect">
            <a:avLst/>
          </a:prstGeom>
          <a:solidFill>
            <a:srgbClr val="6534DE"/>
          </a:solidFill>
        </p:spPr>
        <p:txBody>
          <a:bodyPr anchor="ctr"/>
          <a:lstStyle>
            <a:defPPr>
              <a:defRPr lang="en-US"/>
            </a:defPPr>
            <a:lvl1pPr algn="ct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pPr algn="l">
              <a:defRPr/>
            </a:pPr>
            <a:r>
              <a:rPr lang="en-US" sz="1400" b="1" dirty="0">
                <a:solidFill>
                  <a:schemeClr val="bg1"/>
                </a:solidFill>
                <a:latin typeface="Arial" panose="020B0604020202020204" pitchFamily="34" charset="0"/>
                <a:cs typeface="Arial" panose="020B0604020202020204" pitchFamily="34" charset="0"/>
              </a:rPr>
              <a:t>JOINS</a:t>
            </a:r>
            <a:endParaRPr lang="en-US" sz="1400" b="1" dirty="0">
              <a:solidFill>
                <a:schemeClr val="bg1"/>
              </a:solidFill>
              <a:latin typeface="Arial" panose="020B0604020202020204" pitchFamily="34" charset="0"/>
              <a:cs typeface="Arial" panose="020B0604020202020204" pitchFamily="34" charset="0"/>
            </a:endParaRPr>
          </a:p>
        </p:txBody>
      </p:sp>
      <p:sp>
        <p:nvSpPr>
          <p:cNvPr id="12" name="Slide Number Placeholder 3"/>
          <p:cNvSpPr txBox="1">
            <a:spLocks/>
          </p:cNvSpPr>
          <p:nvPr/>
        </p:nvSpPr>
        <p:spPr>
          <a:xfrm>
            <a:off x="0" y="6453336"/>
            <a:ext cx="5940152" cy="4046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b="1" dirty="0" smtClean="0">
                <a:solidFill>
                  <a:schemeClr val="bg1"/>
                </a:solidFill>
                <a:latin typeface="Arial" panose="020B0604020202020204" pitchFamily="34" charset="0"/>
                <a:cs typeface="Arial" panose="020B0604020202020204" pitchFamily="34" charset="0"/>
              </a:rPr>
              <a:t>MODULE 2</a:t>
            </a:r>
            <a:endParaRPr lang="en-IN" sz="1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19367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5186</TotalTime>
  <Words>698</Words>
  <Application>Microsoft Office PowerPoint</Application>
  <PresentationFormat>On-screen Show (4:3)</PresentationFormat>
  <Paragraphs>140</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Office Theme</vt:lpstr>
      <vt:lpstr>Title of Topic: JOINS Course Code: 23IT201 Course Title: DataBase Management Systems  Academic Year: 2024 - 2025 (Even Sem)</vt:lpstr>
      <vt:lpstr>JOINS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18CS056 – THEORY OF COMPUTATION</dc:title>
  <dc:creator>Rose</dc:creator>
  <cp:lastModifiedBy>user</cp:lastModifiedBy>
  <cp:revision>721</cp:revision>
  <dcterms:created xsi:type="dcterms:W3CDTF">2020-05-18T09:43:19Z</dcterms:created>
  <dcterms:modified xsi:type="dcterms:W3CDTF">2025-03-10T10:37:11Z</dcterms:modified>
</cp:coreProperties>
</file>