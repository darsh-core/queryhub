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72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95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27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307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899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35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81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20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33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97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089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85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831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3401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370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176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9124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916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44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233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9440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926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0265F-B042-43FE-BCD7-3F4F3312CBAA}" type="datetimeFigureOut">
              <a:rPr lang="en-IN" smtClean="0"/>
              <a:t>12-03-2025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F1955-766A-48F5-B108-C1BCEACA4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83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 txBox="1">
            <a:spLocks/>
          </p:cNvSpPr>
          <p:nvPr/>
        </p:nvSpPr>
        <p:spPr bwMode="auto">
          <a:xfrm>
            <a:off x="1627188" y="1343025"/>
            <a:ext cx="8716962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ＭＳ Ｐゴシック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ＭＳ Ｐゴシック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ＭＳ Ｐゴシック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ＭＳ Ｐゴシック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en-IN" sz="2200" b="1" dirty="0">
                <a:solidFill>
                  <a:srgbClr val="000000"/>
                </a:solidFill>
                <a:latin typeface="Arial" charset="0"/>
                <a:cs typeface="Arial" charset="0"/>
              </a:rPr>
              <a:t/>
            </a:r>
            <a:br>
              <a:rPr lang="en-IN" sz="2200" b="1" dirty="0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IN" sz="2200" b="1" dirty="0">
                <a:solidFill>
                  <a:srgbClr val="1F497D"/>
                </a:solidFill>
                <a:latin typeface="Arial" charset="0"/>
                <a:cs typeface="Arial" charset="0"/>
              </a:rPr>
              <a:t>Course Title: Database Management Systems</a:t>
            </a:r>
            <a:br>
              <a:rPr lang="en-IN" sz="2200" b="1" dirty="0">
                <a:solidFill>
                  <a:srgbClr val="1F497D"/>
                </a:solidFill>
                <a:latin typeface="Arial" charset="0"/>
                <a:cs typeface="Arial" charset="0"/>
              </a:rPr>
            </a:br>
            <a:endParaRPr lang="en-IN" sz="2200" b="1" dirty="0">
              <a:solidFill>
                <a:srgbClr val="C00000"/>
              </a:solidFill>
              <a:latin typeface="Arial" charset="0"/>
              <a:cs typeface="Arial" charset="0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en-IN" sz="2200" b="1" dirty="0">
                <a:solidFill>
                  <a:srgbClr val="C00000"/>
                </a:solidFill>
                <a:latin typeface="Arial" charset="0"/>
                <a:cs typeface="Arial" charset="0"/>
              </a:rPr>
              <a:t>Academic </a:t>
            </a:r>
            <a:r>
              <a:rPr lang="en-IN" sz="2200" b="1" dirty="0">
                <a:solidFill>
                  <a:srgbClr val="C00000"/>
                </a:solidFill>
                <a:latin typeface="Arial" charset="0"/>
                <a:cs typeface="Arial" charset="0"/>
              </a:rPr>
              <a:t>Year: </a:t>
            </a:r>
            <a:r>
              <a:rPr lang="en-IN" sz="2200" b="1" dirty="0">
                <a:solidFill>
                  <a:srgbClr val="C00000"/>
                </a:solidFill>
                <a:latin typeface="Arial" charset="0"/>
                <a:cs typeface="Arial" charset="0"/>
              </a:rPr>
              <a:t>2024 </a:t>
            </a:r>
            <a:r>
              <a:rPr lang="en-IN" sz="2200" b="1" dirty="0">
                <a:solidFill>
                  <a:srgbClr val="C00000"/>
                </a:solidFill>
                <a:latin typeface="Arial" charset="0"/>
                <a:cs typeface="Arial" charset="0"/>
              </a:rPr>
              <a:t>- </a:t>
            </a:r>
            <a:r>
              <a:rPr lang="en-IN" sz="2200" b="1" dirty="0">
                <a:solidFill>
                  <a:srgbClr val="C00000"/>
                </a:solidFill>
                <a:latin typeface="Arial" charset="0"/>
                <a:cs typeface="Arial" charset="0"/>
              </a:rPr>
              <a:t>2025 </a:t>
            </a:r>
            <a:r>
              <a:rPr lang="en-IN" sz="2200" b="1" dirty="0">
                <a:solidFill>
                  <a:srgbClr val="C00000"/>
                </a:solidFill>
                <a:latin typeface="Arial" charset="0"/>
                <a:cs typeface="Arial" charset="0"/>
              </a:rPr>
              <a:t>(Even </a:t>
            </a:r>
            <a:r>
              <a:rPr lang="en-IN" sz="2200" b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Sem</a:t>
            </a:r>
            <a:r>
              <a:rPr lang="en-IN" sz="2200" b="1" dirty="0">
                <a:solidFill>
                  <a:srgbClr val="C00000"/>
                </a:solidFill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3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11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83" y="471437"/>
            <a:ext cx="10082167" cy="6096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/>
              <a:t>Serializability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522514" y="1515291"/>
            <a:ext cx="1128630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 </a:t>
            </a:r>
            <a:r>
              <a:rPr lang="en-US" sz="2000" b="1" dirty="0" err="1">
                <a:latin typeface="Arial" pitchFamily="34" charset="0"/>
                <a:cs typeface="Arial" pitchFamily="34" charset="0"/>
              </a:rPr>
              <a:t>serializable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 schedule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over a set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of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committed transactions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is a schedule whose effect on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any consistent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database instance is guaranteed to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be identical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to that of some complete serial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schedule over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database instance that results from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executing the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given schedule is identical to the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database instance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that results from executing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the transactions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in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some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serial order.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Thus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 (possibly concurrent) schedule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is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serializable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if it is equivalent to a serial schedule.</a:t>
            </a: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6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190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648200" y="276045"/>
            <a:ext cx="370586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S</a:t>
            </a:r>
            <a:r>
              <a:rPr spc="10" dirty="0"/>
              <a:t>e</a:t>
            </a:r>
            <a:r>
              <a:rPr dirty="0"/>
              <a:t>r</a:t>
            </a:r>
            <a:r>
              <a:rPr spc="-10" dirty="0"/>
              <a:t>i</a:t>
            </a:r>
            <a:r>
              <a:rPr spc="10" dirty="0"/>
              <a:t>a</a:t>
            </a:r>
            <a:r>
              <a:rPr dirty="0"/>
              <a:t>liz</a:t>
            </a:r>
            <a:r>
              <a:rPr spc="10" dirty="0"/>
              <a:t>a</a:t>
            </a:r>
            <a:r>
              <a:rPr spc="5" dirty="0"/>
              <a:t>b</a:t>
            </a:r>
            <a:r>
              <a:rPr spc="-10" dirty="0"/>
              <a:t>i</a:t>
            </a:r>
            <a:r>
              <a:rPr dirty="0"/>
              <a:t>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8943" y="1517566"/>
            <a:ext cx="10417628" cy="360252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327660" indent="-342900">
              <a:lnSpc>
                <a:spcPts val="2350"/>
              </a:lnSpc>
              <a:spcBef>
                <a:spcPts val="219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</a:tabLst>
            </a:pPr>
            <a:r>
              <a:rPr sz="3000" baseline="1388" dirty="0">
                <a:latin typeface="Arial MT"/>
                <a:cs typeface="Arial MT"/>
              </a:rPr>
              <a:t>Basic Assumption – Each transaction preserves database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consistency.</a:t>
            </a:r>
          </a:p>
          <a:p>
            <a:pPr marL="355600" marR="611505" indent="-342900">
              <a:lnSpc>
                <a:spcPts val="2360"/>
              </a:lnSpc>
              <a:spcBef>
                <a:spcPts val="96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</a:tabLst>
            </a:pPr>
            <a:r>
              <a:rPr sz="3000" spc="-7" baseline="1388" dirty="0">
                <a:latin typeface="Arial MT"/>
                <a:cs typeface="Arial MT"/>
              </a:rPr>
              <a:t>Thus </a:t>
            </a:r>
            <a:r>
              <a:rPr sz="3000" baseline="1388" dirty="0">
                <a:latin typeface="Arial MT"/>
                <a:cs typeface="Arial MT"/>
              </a:rPr>
              <a:t>serial execution of a set </a:t>
            </a:r>
            <a:r>
              <a:rPr sz="3000" spc="-7" baseline="1388" dirty="0">
                <a:latin typeface="Arial MT"/>
                <a:cs typeface="Arial MT"/>
              </a:rPr>
              <a:t>of </a:t>
            </a:r>
            <a:r>
              <a:rPr sz="3000" baseline="1388" dirty="0">
                <a:latin typeface="Arial MT"/>
                <a:cs typeface="Arial MT"/>
              </a:rPr>
              <a:t>transactions preserves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database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consistency.</a:t>
            </a:r>
          </a:p>
          <a:p>
            <a:pPr marL="355600" marR="162560" indent="-342900">
              <a:lnSpc>
                <a:spcPct val="99000"/>
              </a:lnSpc>
              <a:spcBef>
                <a:spcPts val="875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  <a:tab pos="3990975" algn="l"/>
              </a:tabLst>
            </a:pPr>
            <a:r>
              <a:rPr sz="3000" baseline="1388" dirty="0">
                <a:latin typeface="Arial MT"/>
                <a:cs typeface="Arial MT"/>
              </a:rPr>
              <a:t>A (possibly concurrent) schedule is serializable if it is </a:t>
            </a:r>
            <a:r>
              <a:rPr sz="3000" spc="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equivalent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 serial </a:t>
            </a:r>
            <a:r>
              <a:rPr sz="2000" dirty="0" err="1" smtClean="0">
                <a:latin typeface="Arial MT"/>
                <a:cs typeface="Arial MT"/>
              </a:rPr>
              <a:t>schedule.</a:t>
            </a:r>
            <a:r>
              <a:rPr sz="2000" spc="-5" dirty="0" err="1" smtClean="0">
                <a:latin typeface="Arial MT"/>
                <a:cs typeface="Arial MT"/>
              </a:rPr>
              <a:t>Different</a:t>
            </a:r>
            <a:r>
              <a:rPr sz="2000" spc="-5" dirty="0" smtClean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forms </a:t>
            </a:r>
            <a:r>
              <a:rPr sz="2000" dirty="0">
                <a:latin typeface="Arial MT"/>
                <a:cs typeface="Arial MT"/>
              </a:rPr>
              <a:t>of schedule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equivalence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give rise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notions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of:</a:t>
            </a:r>
            <a:endParaRPr sz="2000" dirty="0">
              <a:latin typeface="Arial MT"/>
              <a:cs typeface="Arial MT"/>
            </a:endParaRPr>
          </a:p>
          <a:p>
            <a:pPr marL="755650" lvl="1" indent="-285750">
              <a:spcBef>
                <a:spcPts val="790"/>
              </a:spcBef>
              <a:buClr>
                <a:srgbClr val="000000"/>
              </a:buClr>
              <a:buAutoNum type="arabicPeriod"/>
              <a:tabLst>
                <a:tab pos="755650" algn="l"/>
              </a:tabLst>
            </a:pPr>
            <a:r>
              <a:rPr spc="-5" dirty="0">
                <a:solidFill>
                  <a:srgbClr val="CC3300"/>
                </a:solidFill>
                <a:latin typeface="Arial MT"/>
                <a:cs typeface="Arial MT"/>
              </a:rPr>
              <a:t>conflict</a:t>
            </a:r>
            <a:r>
              <a:rPr spc="-3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CC3300"/>
                </a:solidFill>
                <a:latin typeface="Arial MT"/>
                <a:cs typeface="Arial MT"/>
              </a:rPr>
              <a:t>serializability</a:t>
            </a:r>
            <a:endParaRPr dirty="0">
              <a:latin typeface="Arial MT"/>
              <a:cs typeface="Arial MT"/>
            </a:endParaRPr>
          </a:p>
          <a:p>
            <a:pPr marL="755650" lvl="1" indent="-285750">
              <a:spcBef>
                <a:spcPts val="780"/>
              </a:spcBef>
              <a:buClr>
                <a:srgbClr val="000000"/>
              </a:buClr>
              <a:buAutoNum type="arabicPeriod"/>
              <a:tabLst>
                <a:tab pos="755650" algn="l"/>
              </a:tabLst>
            </a:pPr>
            <a:r>
              <a:rPr spc="-5" dirty="0">
                <a:solidFill>
                  <a:srgbClr val="CC3300"/>
                </a:solidFill>
                <a:latin typeface="Arial MT"/>
                <a:cs typeface="Arial MT"/>
              </a:rPr>
              <a:t>view</a:t>
            </a:r>
            <a:r>
              <a:rPr spc="-40" dirty="0">
                <a:solidFill>
                  <a:srgbClr val="CC33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CC3300"/>
                </a:solidFill>
                <a:latin typeface="Arial MT"/>
                <a:cs typeface="Arial MT"/>
              </a:rPr>
              <a:t>serializability</a:t>
            </a:r>
            <a:endParaRPr dirty="0">
              <a:latin typeface="Arial MT"/>
              <a:cs typeface="Arial MT"/>
            </a:endParaRPr>
          </a:p>
          <a:p>
            <a:pPr marL="355600" marR="5080" indent="-342900">
              <a:lnSpc>
                <a:spcPct val="99600"/>
              </a:lnSpc>
              <a:spcBef>
                <a:spcPts val="925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  <a:tab pos="1231265" algn="l"/>
              </a:tabLst>
            </a:pPr>
            <a:r>
              <a:rPr sz="3000" spc="7" baseline="1388" dirty="0">
                <a:latin typeface="Arial MT"/>
                <a:cs typeface="Arial MT"/>
              </a:rPr>
              <a:t>We </a:t>
            </a:r>
            <a:r>
              <a:rPr sz="3000" baseline="1388" dirty="0">
                <a:latin typeface="Arial MT"/>
                <a:cs typeface="Arial MT"/>
              </a:rPr>
              <a:t>ignore </a:t>
            </a:r>
            <a:r>
              <a:rPr sz="3000" spc="-7" baseline="1388" dirty="0">
                <a:latin typeface="Arial MT"/>
                <a:cs typeface="Arial MT"/>
              </a:rPr>
              <a:t>operations other </a:t>
            </a:r>
            <a:r>
              <a:rPr sz="3000" baseline="1388" dirty="0">
                <a:latin typeface="Arial MT"/>
                <a:cs typeface="Arial MT"/>
              </a:rPr>
              <a:t>than </a:t>
            </a:r>
            <a:r>
              <a:rPr sz="3000" b="1" baseline="1388" dirty="0">
                <a:latin typeface="Arial"/>
                <a:cs typeface="Arial"/>
              </a:rPr>
              <a:t>read </a:t>
            </a:r>
            <a:r>
              <a:rPr sz="3000" baseline="1388" dirty="0">
                <a:latin typeface="Arial MT"/>
                <a:cs typeface="Arial MT"/>
              </a:rPr>
              <a:t>and </a:t>
            </a:r>
            <a:r>
              <a:rPr sz="3000" b="1" baseline="1388" dirty="0">
                <a:latin typeface="Arial"/>
                <a:cs typeface="Arial"/>
              </a:rPr>
              <a:t>write </a:t>
            </a:r>
            <a:r>
              <a:rPr sz="3000" baseline="1388" dirty="0">
                <a:latin typeface="Arial MT"/>
                <a:cs typeface="Arial MT"/>
              </a:rPr>
              <a:t>instructions,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 we assume that transactions </a:t>
            </a:r>
            <a:r>
              <a:rPr sz="2000" spc="-5" dirty="0">
                <a:latin typeface="Arial MT"/>
                <a:cs typeface="Arial MT"/>
              </a:rPr>
              <a:t>may perform </a:t>
            </a:r>
            <a:r>
              <a:rPr sz="2000" dirty="0">
                <a:latin typeface="Arial MT"/>
                <a:cs typeface="Arial MT"/>
              </a:rPr>
              <a:t>arbitrary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computations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on</a:t>
            </a:r>
            <a:r>
              <a:rPr sz="2000" dirty="0">
                <a:latin typeface="Arial MT"/>
                <a:cs typeface="Arial MT"/>
              </a:rPr>
              <a:t> data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 local </a:t>
            </a:r>
            <a:r>
              <a:rPr sz="2000" spc="-5" dirty="0">
                <a:latin typeface="Arial MT"/>
                <a:cs typeface="Arial MT"/>
              </a:rPr>
              <a:t>buffers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</a:t>
            </a:r>
            <a:r>
              <a:rPr sz="2000" dirty="0">
                <a:latin typeface="Arial MT"/>
                <a:cs typeface="Arial MT"/>
              </a:rPr>
              <a:t> between reads and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writes.	</a:t>
            </a:r>
            <a:r>
              <a:rPr sz="2000" spc="-5" dirty="0">
                <a:latin typeface="Arial MT"/>
                <a:cs typeface="Arial MT"/>
              </a:rPr>
              <a:t>Our </a:t>
            </a:r>
            <a:r>
              <a:rPr sz="2000" dirty="0">
                <a:latin typeface="Arial MT"/>
                <a:cs typeface="Arial MT"/>
              </a:rPr>
              <a:t>simplified schedules consist </a:t>
            </a:r>
            <a:r>
              <a:rPr sz="2000" spc="-5" dirty="0">
                <a:latin typeface="Arial MT"/>
                <a:cs typeface="Arial MT"/>
              </a:rPr>
              <a:t>of only </a:t>
            </a:r>
            <a:r>
              <a:rPr sz="2000" b="1" dirty="0">
                <a:latin typeface="Arial"/>
                <a:cs typeface="Arial"/>
              </a:rPr>
              <a:t>read </a:t>
            </a:r>
            <a:r>
              <a:rPr sz="2000" dirty="0">
                <a:latin typeface="Arial MT"/>
                <a:cs typeface="Arial MT"/>
              </a:rPr>
              <a:t>and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write </a:t>
            </a:r>
            <a:r>
              <a:rPr sz="2000" dirty="0">
                <a:latin typeface="Arial MT"/>
                <a:cs typeface="Arial MT"/>
              </a:rPr>
              <a:t>instructions.</a:t>
            </a: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5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8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429000" y="304800"/>
            <a:ext cx="612013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Conflict</a:t>
            </a:r>
            <a:r>
              <a:rPr spc="-65" dirty="0"/>
              <a:t> </a:t>
            </a:r>
            <a:r>
              <a:rPr dirty="0"/>
              <a:t>Serializability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7910" y="1554481"/>
            <a:ext cx="9470570" cy="39968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8465" marR="68580" indent="-342900">
              <a:lnSpc>
                <a:spcPct val="113799"/>
              </a:lnSpc>
              <a:spcBef>
                <a:spcPts val="95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419100" algn="l"/>
              </a:tabLst>
            </a:pPr>
            <a:r>
              <a:rPr sz="2000" spc="-5" dirty="0">
                <a:latin typeface="Arial MT"/>
                <a:cs typeface="Arial MT"/>
              </a:rPr>
              <a:t>Instructions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i</a:t>
            </a:r>
            <a:r>
              <a:rPr sz="1725" i="1" spc="337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j</a:t>
            </a:r>
            <a:r>
              <a:rPr sz="1725" i="1" spc="330" baseline="-24154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 transactions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T</a:t>
            </a:r>
            <a:r>
              <a:rPr sz="1725" i="1" spc="-7" baseline="-24154" dirty="0">
                <a:latin typeface="Arial"/>
                <a:cs typeface="Arial"/>
              </a:rPr>
              <a:t>i</a:t>
            </a:r>
            <a:r>
              <a:rPr sz="1725" i="1" spc="345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T</a:t>
            </a:r>
            <a:r>
              <a:rPr sz="1725" i="1" spc="-7" baseline="-24154" dirty="0">
                <a:latin typeface="Arial"/>
                <a:cs typeface="Arial"/>
              </a:rPr>
              <a:t>j</a:t>
            </a:r>
            <a:r>
              <a:rPr sz="1725" i="1" spc="352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respectively, </a:t>
            </a:r>
            <a:r>
              <a:rPr sz="2000" b="1" spc="-5" dirty="0">
                <a:solidFill>
                  <a:srgbClr val="CC3300"/>
                </a:solidFill>
                <a:latin typeface="Arial"/>
                <a:cs typeface="Arial"/>
              </a:rPr>
              <a:t>conflict </a:t>
            </a:r>
            <a:r>
              <a:rPr sz="2000" b="1" spc="-540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if </a:t>
            </a:r>
            <a:r>
              <a:rPr sz="2000" dirty="0">
                <a:latin typeface="Arial MT"/>
                <a:cs typeface="Arial MT"/>
              </a:rPr>
              <a:t>and </a:t>
            </a:r>
            <a:r>
              <a:rPr sz="2000" spc="-5" dirty="0">
                <a:latin typeface="Arial MT"/>
                <a:cs typeface="Arial MT"/>
              </a:rPr>
              <a:t>only </a:t>
            </a:r>
            <a:r>
              <a:rPr sz="2000" dirty="0">
                <a:latin typeface="Arial MT"/>
                <a:cs typeface="Arial MT"/>
              </a:rPr>
              <a:t>if there exists some item </a:t>
            </a:r>
            <a:r>
              <a:rPr sz="2000" i="1" dirty="0">
                <a:latin typeface="Arial"/>
                <a:cs typeface="Arial"/>
              </a:rPr>
              <a:t>Q </a:t>
            </a:r>
            <a:r>
              <a:rPr sz="2000" dirty="0">
                <a:latin typeface="Arial MT"/>
                <a:cs typeface="Arial MT"/>
              </a:rPr>
              <a:t>accessed by </a:t>
            </a:r>
            <a:r>
              <a:rPr sz="2000" spc="-5" dirty="0">
                <a:latin typeface="Arial MT"/>
                <a:cs typeface="Arial MT"/>
              </a:rPr>
              <a:t>both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i</a:t>
            </a:r>
            <a:r>
              <a:rPr sz="1725" i="1" spc="7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 </a:t>
            </a:r>
            <a:r>
              <a:rPr sz="2000" i="1" spc="-5" dirty="0">
                <a:latin typeface="Arial"/>
                <a:cs typeface="Arial"/>
              </a:rPr>
              <a:t>l</a:t>
            </a:r>
            <a:r>
              <a:rPr sz="1725" i="1" spc="-7" baseline="-24154" dirty="0">
                <a:latin typeface="Arial"/>
                <a:cs typeface="Arial"/>
              </a:rPr>
              <a:t>j</a:t>
            </a:r>
            <a:r>
              <a:rPr sz="2000" spc="-5" dirty="0">
                <a:latin typeface="Arial MT"/>
                <a:cs typeface="Arial MT"/>
              </a:rPr>
              <a:t>, </a:t>
            </a:r>
            <a:r>
              <a:rPr sz="2000" dirty="0">
                <a:latin typeface="Arial MT"/>
                <a:cs typeface="Arial MT"/>
              </a:rPr>
              <a:t> and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least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these instructions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wrote </a:t>
            </a:r>
            <a:r>
              <a:rPr sz="2000" i="1" dirty="0">
                <a:latin typeface="Arial"/>
                <a:cs typeface="Arial"/>
              </a:rPr>
              <a:t>Q.</a:t>
            </a:r>
            <a:endParaRPr sz="2000" dirty="0">
              <a:latin typeface="Arial"/>
              <a:cs typeface="Arial"/>
            </a:endParaRPr>
          </a:p>
          <a:p>
            <a:pPr marL="770890" lvl="1" indent="-352425">
              <a:spcBef>
                <a:spcPts val="869"/>
              </a:spcBef>
              <a:buFont typeface="Arial MT"/>
              <a:buAutoNum type="arabicPeriod"/>
              <a:tabLst>
                <a:tab pos="770255" algn="l"/>
                <a:tab pos="770890" algn="l"/>
                <a:tab pos="3759835" algn="l"/>
              </a:tabLst>
            </a:pP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i</a:t>
            </a:r>
            <a:r>
              <a:rPr sz="1725" i="1" spc="345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read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i="1" spc="-5" dirty="0">
                <a:latin typeface="Arial"/>
                <a:cs typeface="Arial"/>
              </a:rPr>
              <a:t>Q),</a:t>
            </a:r>
            <a:r>
              <a:rPr sz="2000" i="1" spc="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j</a:t>
            </a:r>
            <a:r>
              <a:rPr sz="1725" i="1" spc="345" baseline="-2415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read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i="1" spc="-5" dirty="0">
                <a:latin typeface="Arial"/>
                <a:cs typeface="Arial"/>
              </a:rPr>
              <a:t>Q</a:t>
            </a:r>
            <a:r>
              <a:rPr sz="2000" spc="-5" dirty="0">
                <a:latin typeface="Arial MT"/>
                <a:cs typeface="Arial MT"/>
              </a:rPr>
              <a:t>).	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i</a:t>
            </a:r>
            <a:r>
              <a:rPr sz="1725" i="1" spc="307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j</a:t>
            </a:r>
            <a:r>
              <a:rPr sz="1725" i="1" spc="307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don’t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conflict.</a:t>
            </a:r>
          </a:p>
          <a:p>
            <a:pPr marL="701040" lvl="1" indent="-282575">
              <a:spcBef>
                <a:spcPts val="330"/>
              </a:spcBef>
              <a:buFont typeface="Arial MT"/>
              <a:buAutoNum type="arabicPeriod"/>
              <a:tabLst>
                <a:tab pos="701040" algn="l"/>
                <a:tab pos="2195195" algn="l"/>
                <a:tab pos="3745865" algn="l"/>
              </a:tabLst>
            </a:pPr>
            <a:r>
              <a:rPr sz="2000" i="1" spc="-5" dirty="0">
                <a:latin typeface="Arial"/>
                <a:cs typeface="Arial"/>
              </a:rPr>
              <a:t>l</a:t>
            </a:r>
            <a:r>
              <a:rPr sz="1725" i="1" spc="-7" baseline="-24154" dirty="0">
                <a:latin typeface="Arial"/>
                <a:cs typeface="Arial"/>
              </a:rPr>
              <a:t>i</a:t>
            </a:r>
            <a:r>
              <a:rPr sz="1725" i="1" spc="345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= </a:t>
            </a:r>
            <a:r>
              <a:rPr sz="2000" b="1" dirty="0">
                <a:latin typeface="Arial"/>
                <a:cs typeface="Arial"/>
              </a:rPr>
              <a:t>read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Arial"/>
                <a:cs typeface="Arial"/>
              </a:rPr>
              <a:t>Q),	</a:t>
            </a:r>
            <a:r>
              <a:rPr sz="2000" i="1" spc="-5" dirty="0">
                <a:latin typeface="Arial"/>
                <a:cs typeface="Arial"/>
              </a:rPr>
              <a:t>l</a:t>
            </a:r>
            <a:r>
              <a:rPr sz="1725" i="1" spc="-7" baseline="-24154" dirty="0">
                <a:latin typeface="Arial"/>
                <a:cs typeface="Arial"/>
              </a:rPr>
              <a:t>j</a:t>
            </a:r>
            <a:r>
              <a:rPr sz="1725" i="1" spc="345" baseline="-2415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 </a:t>
            </a:r>
            <a:r>
              <a:rPr sz="2000" b="1" dirty="0">
                <a:latin typeface="Arial"/>
                <a:cs typeface="Arial"/>
              </a:rPr>
              <a:t>write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Arial"/>
                <a:cs typeface="Arial"/>
              </a:rPr>
              <a:t>Q</a:t>
            </a:r>
            <a:r>
              <a:rPr sz="2000" dirty="0">
                <a:latin typeface="Arial MT"/>
                <a:cs typeface="Arial MT"/>
              </a:rPr>
              <a:t>).	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conflict.</a:t>
            </a:r>
          </a:p>
          <a:p>
            <a:pPr marL="701040" lvl="1" indent="-282575">
              <a:spcBef>
                <a:spcPts val="330"/>
              </a:spcBef>
              <a:buFont typeface="Arial MT"/>
              <a:buAutoNum type="arabicPeriod"/>
              <a:tabLst>
                <a:tab pos="701040" algn="l"/>
                <a:tab pos="3745865" algn="l"/>
              </a:tabLst>
            </a:pPr>
            <a:r>
              <a:rPr sz="2000" i="1" spc="-5" dirty="0">
                <a:latin typeface="Arial"/>
                <a:cs typeface="Arial"/>
              </a:rPr>
              <a:t>l</a:t>
            </a:r>
            <a:r>
              <a:rPr sz="1725" i="1" spc="-7" baseline="-24154" dirty="0">
                <a:latin typeface="Arial"/>
                <a:cs typeface="Arial"/>
              </a:rPr>
              <a:t>i</a:t>
            </a:r>
            <a:r>
              <a:rPr sz="1725" i="1" spc="345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= </a:t>
            </a:r>
            <a:r>
              <a:rPr sz="2000" b="1" dirty="0">
                <a:latin typeface="Arial"/>
                <a:cs typeface="Arial"/>
              </a:rPr>
              <a:t>write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Arial"/>
                <a:cs typeface="Arial"/>
              </a:rPr>
              <a:t>Q),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j</a:t>
            </a:r>
            <a:r>
              <a:rPr sz="1725" i="1" spc="337" baseline="-2415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1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read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Arial"/>
                <a:cs typeface="Arial"/>
              </a:rPr>
              <a:t>Q</a:t>
            </a:r>
            <a:r>
              <a:rPr sz="2000" dirty="0">
                <a:latin typeface="Arial MT"/>
                <a:cs typeface="Arial MT"/>
              </a:rPr>
              <a:t>).	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conflict</a:t>
            </a:r>
          </a:p>
          <a:p>
            <a:pPr marL="701040" lvl="1" indent="-282575">
              <a:spcBef>
                <a:spcPts val="330"/>
              </a:spcBef>
              <a:buFont typeface="Arial MT"/>
              <a:buAutoNum type="arabicPeriod"/>
              <a:tabLst>
                <a:tab pos="701040" algn="l"/>
                <a:tab pos="3733165" algn="l"/>
              </a:tabLst>
            </a:pPr>
            <a:r>
              <a:rPr sz="2000" i="1" spc="-5" dirty="0">
                <a:latin typeface="Arial"/>
                <a:cs typeface="Arial"/>
              </a:rPr>
              <a:t>l</a:t>
            </a:r>
            <a:r>
              <a:rPr sz="1725" i="1" spc="-7" baseline="-24154" dirty="0">
                <a:latin typeface="Arial"/>
                <a:cs typeface="Arial"/>
              </a:rPr>
              <a:t>i</a:t>
            </a:r>
            <a:r>
              <a:rPr sz="1725" i="1" spc="352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write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Arial"/>
                <a:cs typeface="Arial"/>
              </a:rPr>
              <a:t>Q),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j</a:t>
            </a:r>
            <a:r>
              <a:rPr sz="1725" i="1" spc="345" baseline="-24154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=</a:t>
            </a:r>
            <a:r>
              <a:rPr sz="2000" i="1" spc="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write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i="1" spc="-5" dirty="0">
                <a:latin typeface="Arial"/>
                <a:cs typeface="Arial"/>
              </a:rPr>
              <a:t>Q</a:t>
            </a:r>
            <a:r>
              <a:rPr sz="2000" spc="-5" dirty="0">
                <a:latin typeface="Arial MT"/>
                <a:cs typeface="Arial MT"/>
              </a:rPr>
              <a:t>).	</a:t>
            </a:r>
            <a:r>
              <a:rPr sz="2000" spc="-5" dirty="0">
                <a:latin typeface="Arial MT"/>
                <a:cs typeface="Arial MT"/>
              </a:rPr>
              <a:t>They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conflict</a:t>
            </a:r>
          </a:p>
          <a:p>
            <a:pPr marL="418465" marR="331470" indent="-342900">
              <a:lnSpc>
                <a:spcPct val="109200"/>
              </a:lnSpc>
              <a:spcBef>
                <a:spcPts val="99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419100" algn="l"/>
                <a:tab pos="2893695" algn="l"/>
              </a:tabLst>
            </a:pPr>
            <a:r>
              <a:rPr sz="2000" spc="-5" dirty="0">
                <a:latin typeface="Arial MT"/>
                <a:cs typeface="Arial MT"/>
              </a:rPr>
              <a:t>Intuitively,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conflict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i</a:t>
            </a:r>
            <a:r>
              <a:rPr sz="1725" i="1" spc="330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j</a:t>
            </a:r>
            <a:r>
              <a:rPr sz="1725" i="1" spc="330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forces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(logical)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temporal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 between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them.	If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i</a:t>
            </a:r>
            <a:r>
              <a:rPr sz="1725" i="1" spc="7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 </a:t>
            </a:r>
            <a:r>
              <a:rPr sz="2000" i="1" dirty="0">
                <a:latin typeface="Arial"/>
                <a:cs typeface="Arial"/>
              </a:rPr>
              <a:t>l</a:t>
            </a:r>
            <a:r>
              <a:rPr sz="1725" i="1" baseline="-24154" dirty="0">
                <a:latin typeface="Arial"/>
                <a:cs typeface="Arial"/>
              </a:rPr>
              <a:t>j</a:t>
            </a:r>
            <a:r>
              <a:rPr sz="1725" i="1" spc="7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are consecutive </a:t>
            </a:r>
            <a:r>
              <a:rPr sz="2000" spc="-5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a schedule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 </a:t>
            </a:r>
            <a:r>
              <a:rPr sz="2000" spc="-5" dirty="0">
                <a:latin typeface="Arial MT"/>
                <a:cs typeface="Arial MT"/>
              </a:rPr>
              <a:t>they </a:t>
            </a:r>
            <a:r>
              <a:rPr sz="2000" dirty="0">
                <a:latin typeface="Arial MT"/>
                <a:cs typeface="Arial MT"/>
              </a:rPr>
              <a:t>do not conflict, </a:t>
            </a:r>
            <a:r>
              <a:rPr sz="2000" spc="-5" dirty="0">
                <a:latin typeface="Arial MT"/>
                <a:cs typeface="Arial MT"/>
              </a:rPr>
              <a:t>their </a:t>
            </a:r>
            <a:r>
              <a:rPr sz="2000" dirty="0">
                <a:latin typeface="Arial MT"/>
                <a:cs typeface="Arial MT"/>
              </a:rPr>
              <a:t>results would remain </a:t>
            </a:r>
            <a:r>
              <a:rPr sz="2000" spc="-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same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even</a:t>
            </a:r>
            <a:r>
              <a:rPr sz="2000" spc="-5" dirty="0">
                <a:latin typeface="Arial MT"/>
                <a:cs typeface="Arial MT"/>
              </a:rPr>
              <a:t> if they</a:t>
            </a:r>
            <a:r>
              <a:rPr sz="2000" dirty="0">
                <a:latin typeface="Arial MT"/>
                <a:cs typeface="Arial MT"/>
              </a:rPr>
              <a:t> had been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interchanged</a:t>
            </a:r>
            <a:r>
              <a:rPr sz="2000" spc="-5" dirty="0">
                <a:latin typeface="Arial MT"/>
                <a:cs typeface="Arial MT"/>
              </a:rPr>
              <a:t> in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 schedule.</a:t>
            </a: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5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9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882537" y="514422"/>
            <a:ext cx="713613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Conflict</a:t>
            </a:r>
            <a:r>
              <a:rPr b="1" spc="-30" dirty="0"/>
              <a:t> </a:t>
            </a:r>
            <a:r>
              <a:rPr b="1" dirty="0" err="1" smtClean="0"/>
              <a:t>Serializability</a:t>
            </a:r>
            <a:endParaRPr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53589" y="1258767"/>
            <a:ext cx="9901645" cy="415408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31800" marR="81280" indent="-342900" algn="just">
              <a:lnSpc>
                <a:spcPct val="99000"/>
              </a:lnSpc>
              <a:spcBef>
                <a:spcPts val="125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431800" algn="l"/>
              </a:tabLst>
            </a:pPr>
            <a:r>
              <a:rPr sz="3000" spc="-7" baseline="1388" dirty="0">
                <a:latin typeface="Arial MT"/>
                <a:cs typeface="Arial MT"/>
              </a:rPr>
              <a:t>If </a:t>
            </a:r>
            <a:r>
              <a:rPr sz="3000" baseline="1388" dirty="0">
                <a:latin typeface="Arial MT"/>
                <a:cs typeface="Arial MT"/>
              </a:rPr>
              <a:t>a schedule </a:t>
            </a:r>
            <a:r>
              <a:rPr sz="3000" i="1" baseline="1388" dirty="0">
                <a:latin typeface="Arial"/>
                <a:cs typeface="Arial"/>
              </a:rPr>
              <a:t>S </a:t>
            </a:r>
            <a:r>
              <a:rPr sz="3000" baseline="1388" dirty="0">
                <a:latin typeface="Arial MT"/>
                <a:cs typeface="Arial MT"/>
              </a:rPr>
              <a:t>can be </a:t>
            </a:r>
            <a:r>
              <a:rPr sz="3000" spc="-7" baseline="1388" dirty="0">
                <a:latin typeface="Arial MT"/>
                <a:cs typeface="Arial MT"/>
              </a:rPr>
              <a:t>transformed </a:t>
            </a:r>
            <a:r>
              <a:rPr sz="3000" baseline="1388" dirty="0">
                <a:latin typeface="Arial MT"/>
                <a:cs typeface="Arial MT"/>
              </a:rPr>
              <a:t>into a schedule </a:t>
            </a:r>
            <a:r>
              <a:rPr sz="3000" i="1" spc="-7" baseline="1388" dirty="0">
                <a:latin typeface="Arial"/>
                <a:cs typeface="Arial"/>
              </a:rPr>
              <a:t>S´ </a:t>
            </a:r>
            <a:r>
              <a:rPr sz="3000" spc="-7" baseline="1388" dirty="0">
                <a:latin typeface="Arial MT"/>
                <a:cs typeface="Arial MT"/>
              </a:rPr>
              <a:t>by </a:t>
            </a:r>
            <a:r>
              <a:rPr sz="3000" baseline="1388" dirty="0">
                <a:latin typeface="Arial MT"/>
                <a:cs typeface="Arial MT"/>
              </a:rPr>
              <a:t>a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series of </a:t>
            </a:r>
            <a:r>
              <a:rPr sz="2000" spc="5" dirty="0">
                <a:latin typeface="Arial MT"/>
                <a:cs typeface="Arial MT"/>
              </a:rPr>
              <a:t>swaps </a:t>
            </a:r>
            <a:r>
              <a:rPr sz="2000" spc="-5" dirty="0">
                <a:latin typeface="Arial MT"/>
                <a:cs typeface="Arial MT"/>
              </a:rPr>
              <a:t>of </a:t>
            </a:r>
            <a:r>
              <a:rPr sz="2000" dirty="0">
                <a:latin typeface="Arial MT"/>
                <a:cs typeface="Arial MT"/>
              </a:rPr>
              <a:t>non-conflicting instructions, we say that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S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 </a:t>
            </a:r>
            <a:r>
              <a:rPr sz="2000" i="1" dirty="0">
                <a:latin typeface="Arial"/>
                <a:cs typeface="Arial"/>
              </a:rPr>
              <a:t>S´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are </a:t>
            </a:r>
            <a:r>
              <a:rPr sz="2000" b="1" spc="-5" dirty="0">
                <a:solidFill>
                  <a:srgbClr val="CC3300"/>
                </a:solidFill>
                <a:latin typeface="Arial"/>
                <a:cs typeface="Arial"/>
              </a:rPr>
              <a:t>conflict</a:t>
            </a:r>
            <a:r>
              <a:rPr sz="2000" b="1" spc="5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C3300"/>
                </a:solidFill>
                <a:latin typeface="Arial"/>
                <a:cs typeface="Arial"/>
              </a:rPr>
              <a:t>equivalent</a:t>
            </a:r>
            <a:r>
              <a:rPr sz="2000" i="1" spc="-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31800" marR="481330" indent="-342900" algn="just">
              <a:lnSpc>
                <a:spcPts val="2360"/>
              </a:lnSpc>
              <a:spcBef>
                <a:spcPts val="103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431800" algn="l"/>
              </a:tabLst>
            </a:pPr>
            <a:r>
              <a:rPr sz="3000" spc="7" baseline="1388" dirty="0">
                <a:latin typeface="Arial MT"/>
                <a:cs typeface="Arial MT"/>
              </a:rPr>
              <a:t>We say </a:t>
            </a:r>
            <a:r>
              <a:rPr sz="3000" spc="-7" baseline="1388" dirty="0">
                <a:latin typeface="Arial MT"/>
                <a:cs typeface="Arial MT"/>
              </a:rPr>
              <a:t>that </a:t>
            </a:r>
            <a:r>
              <a:rPr sz="3000" baseline="1388" dirty="0">
                <a:latin typeface="Arial MT"/>
                <a:cs typeface="Arial MT"/>
              </a:rPr>
              <a:t>a schedule </a:t>
            </a:r>
            <a:r>
              <a:rPr sz="3000" i="1" baseline="1388" dirty="0">
                <a:latin typeface="Arial"/>
                <a:cs typeface="Arial"/>
              </a:rPr>
              <a:t>S </a:t>
            </a:r>
            <a:r>
              <a:rPr sz="3000" spc="-7" baseline="1388" dirty="0">
                <a:latin typeface="Arial MT"/>
                <a:cs typeface="Arial MT"/>
              </a:rPr>
              <a:t>is </a:t>
            </a:r>
            <a:r>
              <a:rPr sz="3000" b="1" spc="-7" baseline="1388" dirty="0">
                <a:solidFill>
                  <a:srgbClr val="CC3300"/>
                </a:solidFill>
                <a:latin typeface="Arial"/>
                <a:cs typeface="Arial"/>
              </a:rPr>
              <a:t>conflict serializable </a:t>
            </a:r>
            <a:r>
              <a:rPr sz="3000" spc="-7" baseline="1388" dirty="0">
                <a:latin typeface="Arial MT"/>
                <a:cs typeface="Arial MT"/>
              </a:rPr>
              <a:t>if </a:t>
            </a:r>
            <a:r>
              <a:rPr sz="3000" baseline="1388" dirty="0">
                <a:latin typeface="Arial MT"/>
                <a:cs typeface="Arial MT"/>
              </a:rPr>
              <a:t>it is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conflict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equivalent</a:t>
            </a:r>
            <a:r>
              <a:rPr sz="2000" spc="-5" dirty="0">
                <a:latin typeface="Arial MT"/>
                <a:cs typeface="Arial MT"/>
              </a:rPr>
              <a:t> to</a:t>
            </a:r>
            <a:r>
              <a:rPr sz="2000" dirty="0">
                <a:latin typeface="Arial MT"/>
                <a:cs typeface="Arial MT"/>
              </a:rPr>
              <a:t> 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serial schedule</a:t>
            </a:r>
            <a:endParaRPr sz="2000">
              <a:latin typeface="Arial MT"/>
              <a:cs typeface="Arial MT"/>
            </a:endParaRPr>
          </a:p>
          <a:p>
            <a:pPr marL="431800" indent="-342900" algn="just">
              <a:spcBef>
                <a:spcPts val="85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431800" algn="l"/>
              </a:tabLst>
            </a:pPr>
            <a:r>
              <a:rPr sz="3000" baseline="1388" dirty="0">
                <a:latin typeface="Arial MT"/>
                <a:cs typeface="Arial MT"/>
              </a:rPr>
              <a:t>Example</a:t>
            </a:r>
            <a:r>
              <a:rPr sz="3000" spc="-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of</a:t>
            </a:r>
            <a:r>
              <a:rPr sz="3000" spc="-30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a schedule</a:t>
            </a:r>
            <a:r>
              <a:rPr sz="3000" spc="-7" baseline="1388" dirty="0">
                <a:latin typeface="Arial MT"/>
                <a:cs typeface="Arial MT"/>
              </a:rPr>
              <a:t> that</a:t>
            </a:r>
            <a:r>
              <a:rPr sz="3000" spc="-15" baseline="1388" dirty="0">
                <a:latin typeface="Arial MT"/>
                <a:cs typeface="Arial MT"/>
              </a:rPr>
              <a:t> </a:t>
            </a:r>
            <a:r>
              <a:rPr sz="3000" spc="-7" baseline="1388" dirty="0">
                <a:latin typeface="Arial MT"/>
                <a:cs typeface="Arial MT"/>
              </a:rPr>
              <a:t>is</a:t>
            </a:r>
            <a:r>
              <a:rPr sz="3000" baseline="1388" dirty="0">
                <a:latin typeface="Arial MT"/>
                <a:cs typeface="Arial MT"/>
              </a:rPr>
              <a:t> not</a:t>
            </a:r>
            <a:r>
              <a:rPr sz="3000" spc="-15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conflict</a:t>
            </a:r>
            <a:r>
              <a:rPr sz="3000" spc="-30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serializable:</a:t>
            </a:r>
            <a:endParaRPr sz="3000" baseline="1388">
              <a:latin typeface="Arial MT"/>
              <a:cs typeface="Arial MT"/>
            </a:endParaRPr>
          </a:p>
          <a:p>
            <a:pPr marR="541655" algn="ctr">
              <a:spcBef>
                <a:spcPts val="830"/>
              </a:spcBef>
              <a:tabLst>
                <a:tab pos="1025525" algn="l"/>
              </a:tabLst>
            </a:pPr>
            <a:r>
              <a:rPr sz="2000" i="1" spc="5" dirty="0">
                <a:latin typeface="Arial"/>
                <a:cs typeface="Arial"/>
              </a:rPr>
              <a:t>T</a:t>
            </a:r>
            <a:r>
              <a:rPr sz="1725" spc="7" baseline="-24154" dirty="0">
                <a:latin typeface="Arial MT"/>
                <a:cs typeface="Arial MT"/>
              </a:rPr>
              <a:t>3	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725" baseline="-24154" dirty="0">
                <a:latin typeface="Arial MT"/>
                <a:cs typeface="Arial MT"/>
              </a:rPr>
              <a:t>4</a:t>
            </a:r>
            <a:endParaRPr sz="1725" baseline="-24154">
              <a:latin typeface="Arial MT"/>
              <a:cs typeface="Arial MT"/>
            </a:endParaRPr>
          </a:p>
          <a:p>
            <a:pPr marR="1590675" algn="ctr">
              <a:spcBef>
                <a:spcPts val="330"/>
              </a:spcBef>
            </a:pPr>
            <a:r>
              <a:rPr sz="2000" b="1" spc="-5" dirty="0">
                <a:latin typeface="Arial"/>
                <a:cs typeface="Arial"/>
              </a:rPr>
              <a:t>read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i="1" spc="-5" dirty="0">
                <a:latin typeface="Arial"/>
                <a:cs typeface="Arial"/>
              </a:rPr>
              <a:t>Q</a:t>
            </a:r>
            <a:r>
              <a:rPr sz="2000" spc="-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652780" algn="ctr">
              <a:spcBef>
                <a:spcPts val="330"/>
              </a:spcBef>
            </a:pPr>
            <a:r>
              <a:rPr sz="2000" b="1" spc="-5" dirty="0">
                <a:latin typeface="Arial"/>
                <a:cs typeface="Arial"/>
              </a:rPr>
              <a:t>write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i="1" spc="-5" dirty="0">
                <a:latin typeface="Arial"/>
                <a:cs typeface="Arial"/>
              </a:rPr>
              <a:t>Q</a:t>
            </a:r>
            <a:r>
              <a:rPr sz="2000" spc="-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R="1533525" algn="ctr"/>
            <a:r>
              <a:rPr sz="2000" b="1" spc="-5" dirty="0">
                <a:latin typeface="Arial"/>
                <a:cs typeface="Arial"/>
              </a:rPr>
              <a:t>write</a:t>
            </a:r>
            <a:r>
              <a:rPr sz="2000" spc="-5" dirty="0">
                <a:latin typeface="Arial MT"/>
                <a:cs typeface="Arial MT"/>
              </a:rPr>
              <a:t>(</a:t>
            </a:r>
            <a:r>
              <a:rPr sz="2000" i="1" spc="-5" dirty="0">
                <a:latin typeface="Arial"/>
                <a:cs typeface="Arial"/>
              </a:rPr>
              <a:t>Q</a:t>
            </a:r>
            <a:r>
              <a:rPr sz="2000" spc="-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>
              <a:spcBef>
                <a:spcPts val="45"/>
              </a:spcBef>
            </a:pPr>
            <a:endParaRPr sz="1900">
              <a:latin typeface="Arial MT"/>
              <a:cs typeface="Arial MT"/>
            </a:endParaRPr>
          </a:p>
          <a:p>
            <a:pPr marL="431800" marR="175895" algn="just">
              <a:lnSpc>
                <a:spcPct val="106900"/>
              </a:lnSpc>
            </a:pPr>
            <a:r>
              <a:rPr sz="2000" spc="5" dirty="0">
                <a:latin typeface="Arial MT"/>
                <a:cs typeface="Arial MT"/>
              </a:rPr>
              <a:t>We </a:t>
            </a:r>
            <a:r>
              <a:rPr sz="2000" dirty="0">
                <a:latin typeface="Arial MT"/>
                <a:cs typeface="Arial MT"/>
              </a:rPr>
              <a:t>are unable to swap instructions in </a:t>
            </a:r>
            <a:r>
              <a:rPr sz="2000" spc="-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above schedule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 obtain </a:t>
            </a:r>
            <a:r>
              <a:rPr sz="2000" dirty="0">
                <a:latin typeface="Arial MT"/>
                <a:cs typeface="Arial MT"/>
              </a:rPr>
              <a:t>either </a:t>
            </a:r>
            <a:r>
              <a:rPr sz="2000" spc="-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serial schedule &lt; </a:t>
            </a:r>
            <a:r>
              <a:rPr sz="2000" i="1" spc="-5" dirty="0">
                <a:latin typeface="Arial"/>
                <a:cs typeface="Arial"/>
              </a:rPr>
              <a:t>T</a:t>
            </a:r>
            <a:r>
              <a:rPr sz="1725" spc="-7" baseline="-24154" dirty="0">
                <a:latin typeface="Arial MT"/>
                <a:cs typeface="Arial MT"/>
              </a:rPr>
              <a:t>3</a:t>
            </a:r>
            <a:r>
              <a:rPr sz="2000" spc="-5" dirty="0">
                <a:latin typeface="Arial MT"/>
                <a:cs typeface="Arial MT"/>
              </a:rPr>
              <a:t>,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725" baseline="-24154" dirty="0">
                <a:latin typeface="Arial MT"/>
                <a:cs typeface="Arial MT"/>
              </a:rPr>
              <a:t>4 </a:t>
            </a:r>
            <a:r>
              <a:rPr sz="2000" spc="5" dirty="0">
                <a:latin typeface="Arial MT"/>
                <a:cs typeface="Arial MT"/>
              </a:rPr>
              <a:t>&gt;, </a:t>
            </a:r>
            <a:r>
              <a:rPr sz="2000" dirty="0">
                <a:latin typeface="Arial MT"/>
                <a:cs typeface="Arial MT"/>
              </a:rPr>
              <a:t>or </a:t>
            </a:r>
            <a:r>
              <a:rPr sz="2000" spc="-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serial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schedule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&lt;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T</a:t>
            </a:r>
            <a:r>
              <a:rPr sz="1725" spc="-7" baseline="-24154" dirty="0">
                <a:latin typeface="Arial MT"/>
                <a:cs typeface="Arial MT"/>
              </a:rPr>
              <a:t>4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spc="5" dirty="0">
                <a:latin typeface="Arial"/>
                <a:cs typeface="Arial"/>
              </a:rPr>
              <a:t>T</a:t>
            </a:r>
            <a:r>
              <a:rPr sz="1725" spc="7" baseline="-24154" dirty="0">
                <a:latin typeface="Arial MT"/>
                <a:cs typeface="Arial MT"/>
              </a:rPr>
              <a:t>3</a:t>
            </a:r>
            <a:r>
              <a:rPr sz="1725" spc="315" baseline="-24154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&gt;.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52490" y="3192779"/>
            <a:ext cx="0" cy="1355090"/>
          </a:xfrm>
          <a:custGeom>
            <a:avLst/>
            <a:gdLst/>
            <a:ahLst/>
            <a:cxnLst/>
            <a:rect l="l" t="t" r="r" b="b"/>
            <a:pathLst>
              <a:path h="1355089">
                <a:moveTo>
                  <a:pt x="0" y="0"/>
                </a:moveTo>
                <a:lnTo>
                  <a:pt x="0" y="13550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6659" y="3489959"/>
            <a:ext cx="1845310" cy="0"/>
          </a:xfrm>
          <a:custGeom>
            <a:avLst/>
            <a:gdLst/>
            <a:ahLst/>
            <a:cxnLst/>
            <a:rect l="l" t="t" r="r" b="b"/>
            <a:pathLst>
              <a:path w="1845310">
                <a:moveTo>
                  <a:pt x="0" y="0"/>
                </a:moveTo>
                <a:lnTo>
                  <a:pt x="184531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44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368040" y="489900"/>
            <a:ext cx="567944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Conflict</a:t>
            </a:r>
            <a:r>
              <a:rPr b="1" spc="-30" dirty="0"/>
              <a:t> </a:t>
            </a:r>
            <a:r>
              <a:rPr b="1" dirty="0" err="1" smtClean="0"/>
              <a:t>Serializability</a:t>
            </a:r>
            <a:endParaRPr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96389" y="1303020"/>
            <a:ext cx="10881360" cy="99001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000" marR="361950" indent="-342900">
              <a:lnSpc>
                <a:spcPts val="2350"/>
              </a:lnSpc>
              <a:spcBef>
                <a:spcPts val="219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81000" algn="l"/>
              </a:tabLst>
            </a:pPr>
            <a:r>
              <a:rPr sz="3000" baseline="1388" dirty="0">
                <a:latin typeface="Arial MT"/>
                <a:cs typeface="Arial MT"/>
              </a:rPr>
              <a:t>Schedule 3 below can be transformed </a:t>
            </a:r>
            <a:r>
              <a:rPr sz="3000" spc="-7" baseline="1388" dirty="0">
                <a:latin typeface="Arial MT"/>
                <a:cs typeface="Arial MT"/>
              </a:rPr>
              <a:t>into </a:t>
            </a:r>
            <a:r>
              <a:rPr sz="3000" baseline="1388" dirty="0">
                <a:latin typeface="Arial MT"/>
                <a:cs typeface="Arial MT"/>
              </a:rPr>
              <a:t>Schedule </a:t>
            </a:r>
            <a:r>
              <a:rPr sz="3000" spc="-7" baseline="1388" dirty="0">
                <a:latin typeface="Arial MT"/>
                <a:cs typeface="Arial MT"/>
              </a:rPr>
              <a:t>1, </a:t>
            </a:r>
            <a:r>
              <a:rPr sz="3000" baseline="1388" dirty="0">
                <a:latin typeface="Arial MT"/>
                <a:cs typeface="Arial MT"/>
              </a:rPr>
              <a:t>a </a:t>
            </a:r>
            <a:r>
              <a:rPr sz="3000" spc="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serial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schedule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725" baseline="-24154" dirty="0">
                <a:latin typeface="Arial MT"/>
                <a:cs typeface="Arial MT"/>
              </a:rPr>
              <a:t>2</a:t>
            </a:r>
            <a:r>
              <a:rPr sz="1725" spc="337" baseline="-24154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follows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T</a:t>
            </a:r>
            <a:r>
              <a:rPr sz="1725" spc="-7" baseline="-24154" dirty="0">
                <a:latin typeface="Arial MT"/>
                <a:cs typeface="Arial MT"/>
              </a:rPr>
              <a:t>1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by</a:t>
            </a:r>
            <a:r>
              <a:rPr sz="2000" dirty="0">
                <a:latin typeface="Arial MT"/>
                <a:cs typeface="Arial MT"/>
              </a:rPr>
              <a:t> series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dirty="0">
                <a:latin typeface="Arial MT"/>
                <a:cs typeface="Arial MT"/>
              </a:rPr>
              <a:t> swaps of</a:t>
            </a:r>
          </a:p>
          <a:p>
            <a:pPr marL="381000" marR="30480">
              <a:spcBef>
                <a:spcPts val="259"/>
              </a:spcBef>
              <a:tabLst>
                <a:tab pos="3593465" algn="l"/>
              </a:tabLst>
            </a:pPr>
            <a:r>
              <a:rPr sz="2000" dirty="0">
                <a:latin typeface="Arial MT"/>
                <a:cs typeface="Arial MT"/>
              </a:rPr>
              <a:t>non-conflicting instructions.	</a:t>
            </a:r>
            <a:r>
              <a:rPr sz="2000" spc="-5" dirty="0">
                <a:latin typeface="Arial MT"/>
                <a:cs typeface="Arial MT"/>
              </a:rPr>
              <a:t>Therefore </a:t>
            </a:r>
            <a:r>
              <a:rPr sz="2000" dirty="0">
                <a:latin typeface="Arial MT"/>
                <a:cs typeface="Arial MT"/>
              </a:rPr>
              <a:t>Schedule 3 is conflict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serializable.</a:t>
            </a:r>
          </a:p>
        </p:txBody>
      </p:sp>
      <p:sp>
        <p:nvSpPr>
          <p:cNvPr id="4" name="object 4"/>
          <p:cNvSpPr/>
          <p:nvPr/>
        </p:nvSpPr>
        <p:spPr>
          <a:xfrm>
            <a:off x="4597400" y="2647950"/>
            <a:ext cx="2989580" cy="3321050"/>
          </a:xfrm>
          <a:custGeom>
            <a:avLst/>
            <a:gdLst/>
            <a:ahLst/>
            <a:cxnLst/>
            <a:rect l="l" t="t" r="r" b="b"/>
            <a:pathLst>
              <a:path w="2989579" h="3321050">
                <a:moveTo>
                  <a:pt x="1494789" y="3321050"/>
                </a:moveTo>
                <a:lnTo>
                  <a:pt x="0" y="3321050"/>
                </a:lnTo>
                <a:lnTo>
                  <a:pt x="0" y="0"/>
                </a:lnTo>
                <a:lnTo>
                  <a:pt x="2989579" y="0"/>
                </a:lnTo>
                <a:lnTo>
                  <a:pt x="2989579" y="3321050"/>
                </a:lnTo>
                <a:lnTo>
                  <a:pt x="1494789" y="3321050"/>
                </a:lnTo>
                <a:close/>
              </a:path>
            </a:pathLst>
          </a:custGeom>
          <a:ln w="76194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5500" y="2686050"/>
            <a:ext cx="2914650" cy="3246120"/>
          </a:xfrm>
          <a:prstGeom prst="rect">
            <a:avLst/>
          </a:prstGeom>
        </p:spPr>
      </p:pic>
      <p:sp>
        <p:nvSpPr>
          <p:cNvPr id="6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17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810001" y="381000"/>
            <a:ext cx="5293361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View</a:t>
            </a:r>
            <a:r>
              <a:rPr spc="-60" dirty="0"/>
              <a:t> </a:t>
            </a:r>
            <a:r>
              <a:rPr dirty="0"/>
              <a:t>Serializability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3420" y="1872342"/>
            <a:ext cx="9205505" cy="3538276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81000" marR="603885" indent="-342900">
              <a:lnSpc>
                <a:spcPct val="89000"/>
              </a:lnSpc>
              <a:spcBef>
                <a:spcPts val="36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81000" algn="l"/>
                <a:tab pos="1965325" algn="l"/>
              </a:tabLst>
            </a:pPr>
            <a:r>
              <a:rPr sz="3000" baseline="1388" dirty="0">
                <a:latin typeface="Arial MT"/>
                <a:cs typeface="Arial MT"/>
              </a:rPr>
              <a:t>Let </a:t>
            </a:r>
            <a:r>
              <a:rPr sz="3000" i="1" baseline="1388" dirty="0">
                <a:latin typeface="Arial"/>
                <a:cs typeface="Arial"/>
              </a:rPr>
              <a:t>S </a:t>
            </a:r>
            <a:r>
              <a:rPr sz="3000" baseline="1388" dirty="0">
                <a:latin typeface="Arial MT"/>
                <a:cs typeface="Arial MT"/>
              </a:rPr>
              <a:t>and </a:t>
            </a:r>
            <a:r>
              <a:rPr sz="3000" i="1" spc="-7" baseline="1388" dirty="0">
                <a:latin typeface="Arial"/>
                <a:cs typeface="Arial"/>
              </a:rPr>
              <a:t>S´ </a:t>
            </a:r>
            <a:r>
              <a:rPr sz="3000" spc="-7" baseline="1388" dirty="0">
                <a:latin typeface="Arial MT"/>
                <a:cs typeface="Arial MT"/>
              </a:rPr>
              <a:t>be two </a:t>
            </a:r>
            <a:r>
              <a:rPr sz="3000" baseline="1388" dirty="0">
                <a:latin typeface="Arial MT"/>
                <a:cs typeface="Arial MT"/>
              </a:rPr>
              <a:t>schedules with </a:t>
            </a:r>
            <a:r>
              <a:rPr sz="3000" spc="-7" baseline="1388" dirty="0">
                <a:latin typeface="Arial MT"/>
                <a:cs typeface="Arial MT"/>
              </a:rPr>
              <a:t>the </a:t>
            </a:r>
            <a:r>
              <a:rPr sz="3000" baseline="1388" dirty="0">
                <a:latin typeface="Arial MT"/>
                <a:cs typeface="Arial MT"/>
              </a:rPr>
              <a:t>same </a:t>
            </a:r>
            <a:r>
              <a:rPr sz="3000" spc="7" baseline="1388" dirty="0">
                <a:latin typeface="Arial MT"/>
                <a:cs typeface="Arial MT"/>
              </a:rPr>
              <a:t>set </a:t>
            </a:r>
            <a:r>
              <a:rPr sz="3000" baseline="1388" dirty="0">
                <a:latin typeface="Arial MT"/>
                <a:cs typeface="Arial MT"/>
              </a:rPr>
              <a:t>of </a:t>
            </a:r>
            <a:r>
              <a:rPr sz="3000" spc="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transactions.	</a:t>
            </a:r>
            <a:r>
              <a:rPr sz="2000" i="1" dirty="0">
                <a:latin typeface="Arial"/>
                <a:cs typeface="Arial"/>
              </a:rPr>
              <a:t>S </a:t>
            </a:r>
            <a:r>
              <a:rPr sz="2000" dirty="0">
                <a:latin typeface="Arial MT"/>
                <a:cs typeface="Arial MT"/>
              </a:rPr>
              <a:t>and </a:t>
            </a:r>
            <a:r>
              <a:rPr sz="2000" i="1" dirty="0">
                <a:latin typeface="Arial"/>
                <a:cs typeface="Arial"/>
              </a:rPr>
              <a:t>S´ </a:t>
            </a:r>
            <a:r>
              <a:rPr sz="2000" dirty="0">
                <a:latin typeface="Arial MT"/>
                <a:cs typeface="Arial MT"/>
              </a:rPr>
              <a:t>are </a:t>
            </a:r>
            <a:r>
              <a:rPr sz="2000" b="1" spc="-5" dirty="0">
                <a:solidFill>
                  <a:srgbClr val="CC3300"/>
                </a:solidFill>
                <a:latin typeface="Arial"/>
                <a:cs typeface="Arial"/>
              </a:rPr>
              <a:t>view equivalent </a:t>
            </a:r>
            <a:r>
              <a:rPr sz="2000" spc="-5" dirty="0">
                <a:latin typeface="Arial MT"/>
                <a:cs typeface="Arial MT"/>
              </a:rPr>
              <a:t>if the </a:t>
            </a:r>
            <a:r>
              <a:rPr sz="2000" dirty="0">
                <a:latin typeface="Arial MT"/>
                <a:cs typeface="Arial MT"/>
              </a:rPr>
              <a:t>following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three </a:t>
            </a:r>
            <a:r>
              <a:rPr sz="2000" dirty="0">
                <a:latin typeface="Arial MT"/>
                <a:cs typeface="Arial MT"/>
              </a:rPr>
              <a:t>conditions are </a:t>
            </a:r>
            <a:r>
              <a:rPr sz="2000" spc="-5" dirty="0">
                <a:latin typeface="Arial MT"/>
                <a:cs typeface="Arial MT"/>
              </a:rPr>
              <a:t>met:</a:t>
            </a:r>
            <a:endParaRPr sz="2000" dirty="0">
              <a:latin typeface="Arial MT"/>
              <a:cs typeface="Arial MT"/>
            </a:endParaRPr>
          </a:p>
          <a:p>
            <a:pPr marL="781050" marR="94615" lvl="1" indent="-285750" algn="just">
              <a:lnSpc>
                <a:spcPct val="102800"/>
              </a:lnSpc>
              <a:spcBef>
                <a:spcPts val="480"/>
              </a:spcBef>
              <a:buAutoNum type="arabicPeriod"/>
              <a:tabLst>
                <a:tab pos="781050" algn="l"/>
              </a:tabLst>
            </a:pPr>
            <a:r>
              <a:rPr spc="-5" dirty="0">
                <a:latin typeface="Arial MT"/>
                <a:cs typeface="Arial MT"/>
              </a:rPr>
              <a:t>For each data item </a:t>
            </a:r>
            <a:r>
              <a:rPr i="1" spc="-5" dirty="0">
                <a:latin typeface="Arial"/>
                <a:cs typeface="Arial"/>
              </a:rPr>
              <a:t>Q, </a:t>
            </a:r>
            <a:r>
              <a:rPr dirty="0">
                <a:latin typeface="Arial MT"/>
                <a:cs typeface="Arial MT"/>
              </a:rPr>
              <a:t>if </a:t>
            </a:r>
            <a:r>
              <a:rPr spc="-5" dirty="0">
                <a:latin typeface="Arial MT"/>
                <a:cs typeface="Arial MT"/>
              </a:rPr>
              <a:t>transaction </a:t>
            </a:r>
            <a:r>
              <a:rPr i="1" dirty="0">
                <a:latin typeface="Arial"/>
                <a:cs typeface="Arial"/>
              </a:rPr>
              <a:t>T</a:t>
            </a:r>
            <a:r>
              <a:rPr sz="1575" i="1" baseline="-23809" dirty="0">
                <a:latin typeface="Arial"/>
                <a:cs typeface="Arial"/>
              </a:rPr>
              <a:t>i </a:t>
            </a:r>
            <a:r>
              <a:rPr spc="-5" dirty="0">
                <a:latin typeface="Arial MT"/>
                <a:cs typeface="Arial MT"/>
              </a:rPr>
              <a:t>reads the initial value of </a:t>
            </a:r>
            <a:r>
              <a:rPr i="1" dirty="0">
                <a:latin typeface="Arial"/>
                <a:cs typeface="Arial"/>
              </a:rPr>
              <a:t>Q </a:t>
            </a:r>
            <a:r>
              <a:rPr dirty="0">
                <a:latin typeface="Arial MT"/>
                <a:cs typeface="Arial MT"/>
              </a:rPr>
              <a:t>in </a:t>
            </a:r>
            <a:r>
              <a:rPr spc="-49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schedule </a:t>
            </a:r>
            <a:r>
              <a:rPr i="1" spc="-5" dirty="0">
                <a:latin typeface="Arial"/>
                <a:cs typeface="Arial"/>
              </a:rPr>
              <a:t>S, </a:t>
            </a:r>
            <a:r>
              <a:rPr spc="-5" dirty="0">
                <a:latin typeface="Arial MT"/>
                <a:cs typeface="Arial MT"/>
              </a:rPr>
              <a:t>then transaction </a:t>
            </a:r>
            <a:r>
              <a:rPr i="1" spc="-5" dirty="0">
                <a:latin typeface="Arial"/>
                <a:cs typeface="Arial"/>
              </a:rPr>
              <a:t>T</a:t>
            </a:r>
            <a:r>
              <a:rPr sz="1575" i="1" spc="-7" baseline="-23809" dirty="0">
                <a:latin typeface="Arial"/>
                <a:cs typeface="Arial"/>
              </a:rPr>
              <a:t>i</a:t>
            </a:r>
            <a:r>
              <a:rPr sz="1575" i="1" baseline="-23809" dirty="0">
                <a:latin typeface="Arial"/>
                <a:cs typeface="Arial"/>
              </a:rPr>
              <a:t> </a:t>
            </a:r>
            <a:r>
              <a:rPr spc="-5" dirty="0">
                <a:latin typeface="Arial MT"/>
                <a:cs typeface="Arial MT"/>
              </a:rPr>
              <a:t>must, </a:t>
            </a:r>
            <a:r>
              <a:rPr dirty="0">
                <a:latin typeface="Arial MT"/>
                <a:cs typeface="Arial MT"/>
              </a:rPr>
              <a:t>in </a:t>
            </a:r>
            <a:r>
              <a:rPr spc="-5" dirty="0">
                <a:latin typeface="Arial MT"/>
                <a:cs typeface="Arial MT"/>
              </a:rPr>
              <a:t>schedule </a:t>
            </a:r>
            <a:r>
              <a:rPr i="1" spc="-5" dirty="0">
                <a:latin typeface="Arial"/>
                <a:cs typeface="Arial"/>
              </a:rPr>
              <a:t>S´</a:t>
            </a:r>
            <a:r>
              <a:rPr spc="-5" dirty="0">
                <a:latin typeface="Arial MT"/>
                <a:cs typeface="Arial MT"/>
              </a:rPr>
              <a:t>, also read the </a:t>
            </a:r>
            <a:r>
              <a:rPr spc="-49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initial value of </a:t>
            </a:r>
            <a:r>
              <a:rPr i="1" dirty="0">
                <a:latin typeface="Arial"/>
                <a:cs typeface="Arial"/>
              </a:rPr>
              <a:t>Q.</a:t>
            </a:r>
            <a:endParaRPr dirty="0">
              <a:latin typeface="Arial"/>
              <a:cs typeface="Arial"/>
            </a:endParaRPr>
          </a:p>
          <a:p>
            <a:pPr marL="781050" marR="30480" lvl="1" indent="-285750">
              <a:lnSpc>
                <a:spcPct val="102299"/>
              </a:lnSpc>
              <a:spcBef>
                <a:spcPts val="490"/>
              </a:spcBef>
              <a:buFont typeface="Arial"/>
              <a:buAutoNum type="arabicPeriod"/>
              <a:tabLst>
                <a:tab pos="781050" algn="l"/>
              </a:tabLst>
            </a:pPr>
            <a:r>
              <a:rPr spc="-5" dirty="0">
                <a:latin typeface="Arial MT"/>
                <a:cs typeface="Arial MT"/>
              </a:rPr>
              <a:t>For each data item </a:t>
            </a:r>
            <a:r>
              <a:rPr i="1" dirty="0">
                <a:latin typeface="Arial"/>
                <a:cs typeface="Arial"/>
              </a:rPr>
              <a:t>Q </a:t>
            </a:r>
            <a:r>
              <a:rPr spc="-5" dirty="0">
                <a:latin typeface="Arial MT"/>
                <a:cs typeface="Arial MT"/>
              </a:rPr>
              <a:t>if transaction </a:t>
            </a:r>
            <a:r>
              <a:rPr i="1" spc="-5" dirty="0">
                <a:latin typeface="Arial"/>
                <a:cs typeface="Arial"/>
              </a:rPr>
              <a:t>T</a:t>
            </a:r>
            <a:r>
              <a:rPr sz="1575" i="1" spc="-7" baseline="-23809" dirty="0">
                <a:latin typeface="Arial"/>
                <a:cs typeface="Arial"/>
              </a:rPr>
              <a:t>i</a:t>
            </a:r>
            <a:r>
              <a:rPr sz="1575" i="1" baseline="-23809" dirty="0">
                <a:latin typeface="Arial"/>
                <a:cs typeface="Arial"/>
              </a:rPr>
              <a:t> </a:t>
            </a:r>
            <a:r>
              <a:rPr spc="-5" dirty="0">
                <a:latin typeface="Arial MT"/>
                <a:cs typeface="Arial MT"/>
              </a:rPr>
              <a:t>executes </a:t>
            </a:r>
            <a:r>
              <a:rPr b="1" spc="-5" dirty="0">
                <a:latin typeface="Arial"/>
                <a:cs typeface="Arial"/>
              </a:rPr>
              <a:t>read</a:t>
            </a:r>
            <a:r>
              <a:rPr spc="-5" dirty="0">
                <a:latin typeface="Arial MT"/>
                <a:cs typeface="Arial MT"/>
              </a:rPr>
              <a:t>(</a:t>
            </a:r>
            <a:r>
              <a:rPr i="1" spc="-5" dirty="0">
                <a:latin typeface="Arial"/>
                <a:cs typeface="Arial"/>
              </a:rPr>
              <a:t>Q) </a:t>
            </a:r>
            <a:r>
              <a:rPr dirty="0">
                <a:latin typeface="Arial MT"/>
                <a:cs typeface="Arial MT"/>
              </a:rPr>
              <a:t>in </a:t>
            </a:r>
            <a:r>
              <a:rPr spc="-5" dirty="0">
                <a:latin typeface="Arial MT"/>
                <a:cs typeface="Arial MT"/>
              </a:rPr>
              <a:t>schedule </a:t>
            </a:r>
            <a:r>
              <a:rPr spc="-490" dirty="0">
                <a:latin typeface="Arial MT"/>
                <a:cs typeface="Arial MT"/>
              </a:rPr>
              <a:t> </a:t>
            </a:r>
            <a:r>
              <a:rPr i="1" spc="-5" dirty="0">
                <a:latin typeface="Arial"/>
                <a:cs typeface="Arial"/>
              </a:rPr>
              <a:t>S</a:t>
            </a:r>
            <a:r>
              <a:rPr spc="-5" dirty="0">
                <a:latin typeface="Arial MT"/>
                <a:cs typeface="Arial MT"/>
              </a:rPr>
              <a:t>, </a:t>
            </a:r>
            <a:r>
              <a:rPr spc="-10" dirty="0">
                <a:latin typeface="Arial MT"/>
                <a:cs typeface="Arial MT"/>
              </a:rPr>
              <a:t>and that </a:t>
            </a:r>
            <a:r>
              <a:rPr spc="-5" dirty="0">
                <a:latin typeface="Arial MT"/>
                <a:cs typeface="Arial MT"/>
              </a:rPr>
              <a:t>value was </a:t>
            </a:r>
            <a:r>
              <a:rPr spc="-10" dirty="0">
                <a:latin typeface="Arial MT"/>
                <a:cs typeface="Arial MT"/>
              </a:rPr>
              <a:t>produced by </a:t>
            </a:r>
            <a:r>
              <a:rPr spc="-5" dirty="0">
                <a:latin typeface="Arial MT"/>
                <a:cs typeface="Arial MT"/>
              </a:rPr>
              <a:t>transaction </a:t>
            </a:r>
            <a:r>
              <a:rPr i="1" dirty="0">
                <a:latin typeface="Arial"/>
                <a:cs typeface="Arial"/>
              </a:rPr>
              <a:t>T</a:t>
            </a:r>
            <a:r>
              <a:rPr sz="1575" i="1" baseline="-23809" dirty="0">
                <a:latin typeface="Arial"/>
                <a:cs typeface="Arial"/>
              </a:rPr>
              <a:t>j</a:t>
            </a:r>
            <a:r>
              <a:rPr sz="1575" i="1" spc="7" baseline="-23809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(if </a:t>
            </a:r>
            <a:r>
              <a:rPr spc="-5" dirty="0">
                <a:latin typeface="Arial MT"/>
                <a:cs typeface="Arial MT"/>
              </a:rPr>
              <a:t>any), then 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transaction </a:t>
            </a:r>
            <a:r>
              <a:rPr i="1" spc="-5" dirty="0">
                <a:latin typeface="Arial"/>
                <a:cs typeface="Arial"/>
              </a:rPr>
              <a:t>T</a:t>
            </a:r>
            <a:r>
              <a:rPr sz="1575" i="1" spc="-7" baseline="-23809" dirty="0">
                <a:latin typeface="Arial"/>
                <a:cs typeface="Arial"/>
              </a:rPr>
              <a:t>i</a:t>
            </a:r>
            <a:r>
              <a:rPr sz="1575" i="1" baseline="-23809" dirty="0">
                <a:latin typeface="Arial"/>
                <a:cs typeface="Arial"/>
              </a:rPr>
              <a:t> </a:t>
            </a:r>
            <a:r>
              <a:rPr spc="-5" dirty="0">
                <a:latin typeface="Arial MT"/>
                <a:cs typeface="Arial MT"/>
              </a:rPr>
              <a:t>must </a:t>
            </a:r>
            <a:r>
              <a:rPr dirty="0">
                <a:latin typeface="Arial MT"/>
                <a:cs typeface="Arial MT"/>
              </a:rPr>
              <a:t>in </a:t>
            </a:r>
            <a:r>
              <a:rPr spc="-5" dirty="0">
                <a:latin typeface="Arial MT"/>
                <a:cs typeface="Arial MT"/>
              </a:rPr>
              <a:t>schedule </a:t>
            </a:r>
            <a:r>
              <a:rPr i="1" spc="-5" dirty="0">
                <a:latin typeface="Arial"/>
                <a:cs typeface="Arial"/>
              </a:rPr>
              <a:t>S´ </a:t>
            </a:r>
            <a:r>
              <a:rPr spc="-5" dirty="0">
                <a:latin typeface="Arial MT"/>
                <a:cs typeface="Arial MT"/>
              </a:rPr>
              <a:t>also read the value </a:t>
            </a:r>
            <a:r>
              <a:rPr spc="-10" dirty="0">
                <a:latin typeface="Arial MT"/>
                <a:cs typeface="Arial MT"/>
              </a:rPr>
              <a:t>of </a:t>
            </a:r>
            <a:r>
              <a:rPr i="1" dirty="0">
                <a:latin typeface="Arial"/>
                <a:cs typeface="Arial"/>
              </a:rPr>
              <a:t>Q </a:t>
            </a:r>
            <a:r>
              <a:rPr spc="-10" dirty="0">
                <a:latin typeface="Arial MT"/>
                <a:cs typeface="Arial MT"/>
              </a:rPr>
              <a:t>that </a:t>
            </a:r>
            <a:r>
              <a:rPr spc="-5" dirty="0">
                <a:latin typeface="Arial MT"/>
                <a:cs typeface="Arial MT"/>
              </a:rPr>
              <a:t>was </a:t>
            </a:r>
            <a:r>
              <a:rPr spc="-49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produced by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transaction </a:t>
            </a:r>
            <a:r>
              <a:rPr i="1" dirty="0">
                <a:latin typeface="Arial"/>
                <a:cs typeface="Arial"/>
              </a:rPr>
              <a:t>T</a:t>
            </a:r>
            <a:r>
              <a:rPr sz="1575" i="1" baseline="-23809" dirty="0">
                <a:latin typeface="Arial"/>
                <a:cs typeface="Arial"/>
              </a:rPr>
              <a:t>j</a:t>
            </a:r>
            <a:r>
              <a:rPr sz="1575" i="1" spc="307" baseline="-23809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.</a:t>
            </a:r>
          </a:p>
          <a:p>
            <a:pPr marL="781050" marR="44450" lvl="1" indent="-285750">
              <a:lnSpc>
                <a:spcPts val="1939"/>
              </a:lnSpc>
              <a:spcBef>
                <a:spcPts val="1110"/>
              </a:spcBef>
              <a:buAutoNum type="arabicPeriod"/>
              <a:tabLst>
                <a:tab pos="781050" algn="l"/>
              </a:tabLst>
            </a:pPr>
            <a:r>
              <a:rPr spc="-5" dirty="0">
                <a:latin typeface="Arial MT"/>
                <a:cs typeface="Arial MT"/>
              </a:rPr>
              <a:t>For each data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item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i="1" spc="-5" dirty="0">
                <a:latin typeface="Arial"/>
                <a:cs typeface="Arial"/>
              </a:rPr>
              <a:t>Q</a:t>
            </a:r>
            <a:r>
              <a:rPr spc="-5" dirty="0">
                <a:latin typeface="Arial MT"/>
                <a:cs typeface="Arial MT"/>
              </a:rPr>
              <a:t>,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the transaction (if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any)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that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performs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the final </a:t>
            </a:r>
            <a:r>
              <a:rPr spc="-484" dirty="0">
                <a:latin typeface="Arial MT"/>
                <a:cs typeface="Arial MT"/>
              </a:rPr>
              <a:t> </a:t>
            </a:r>
            <a:r>
              <a:rPr b="1" spc="-5" dirty="0">
                <a:latin typeface="Arial"/>
                <a:cs typeface="Arial"/>
              </a:rPr>
              <a:t>write</a:t>
            </a:r>
            <a:r>
              <a:rPr spc="-5" dirty="0">
                <a:latin typeface="Arial MT"/>
                <a:cs typeface="Arial MT"/>
              </a:rPr>
              <a:t>(</a:t>
            </a:r>
            <a:r>
              <a:rPr i="1" spc="-5" dirty="0">
                <a:latin typeface="Arial"/>
                <a:cs typeface="Arial"/>
              </a:rPr>
              <a:t>Q</a:t>
            </a:r>
            <a:r>
              <a:rPr spc="-5" dirty="0">
                <a:latin typeface="Arial MT"/>
                <a:cs typeface="Arial MT"/>
              </a:rPr>
              <a:t>)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operation</a:t>
            </a:r>
            <a:r>
              <a:rPr spc="-5" dirty="0">
                <a:latin typeface="Arial MT"/>
                <a:cs typeface="Arial MT"/>
              </a:rPr>
              <a:t> in schedule </a:t>
            </a:r>
            <a:r>
              <a:rPr i="1" dirty="0">
                <a:latin typeface="Arial"/>
                <a:cs typeface="Arial"/>
              </a:rPr>
              <a:t>S </a:t>
            </a:r>
            <a:r>
              <a:rPr spc="-5" dirty="0">
                <a:latin typeface="Arial MT"/>
                <a:cs typeface="Arial MT"/>
              </a:rPr>
              <a:t>must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perform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spc="-5" dirty="0">
                <a:latin typeface="Arial MT"/>
                <a:cs typeface="Arial MT"/>
              </a:rPr>
              <a:t>the final</a:t>
            </a:r>
            <a:r>
              <a:rPr dirty="0">
                <a:latin typeface="Arial MT"/>
                <a:cs typeface="Arial MT"/>
              </a:rPr>
              <a:t> </a:t>
            </a:r>
            <a:r>
              <a:rPr b="1" spc="-5" dirty="0">
                <a:latin typeface="Arial"/>
                <a:cs typeface="Arial"/>
              </a:rPr>
              <a:t>write</a:t>
            </a:r>
            <a:r>
              <a:rPr spc="-5" dirty="0">
                <a:latin typeface="Arial MT"/>
                <a:cs typeface="Arial MT"/>
              </a:rPr>
              <a:t>(</a:t>
            </a:r>
            <a:r>
              <a:rPr i="1" spc="-5" dirty="0">
                <a:latin typeface="Arial"/>
                <a:cs typeface="Arial"/>
              </a:rPr>
              <a:t>Q</a:t>
            </a:r>
            <a:r>
              <a:rPr spc="-5" dirty="0">
                <a:latin typeface="Arial MT"/>
                <a:cs typeface="Arial MT"/>
              </a:rPr>
              <a:t>) </a:t>
            </a:r>
            <a:r>
              <a:rPr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operation </a:t>
            </a:r>
            <a:r>
              <a:rPr spc="-5" dirty="0">
                <a:latin typeface="Arial MT"/>
                <a:cs typeface="Arial MT"/>
              </a:rPr>
              <a:t>in schedule </a:t>
            </a:r>
            <a:r>
              <a:rPr i="1" spc="-5" dirty="0">
                <a:latin typeface="Arial"/>
                <a:cs typeface="Arial"/>
              </a:rPr>
              <a:t>S´</a:t>
            </a:r>
            <a:r>
              <a:rPr spc="-5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38100">
              <a:spcBef>
                <a:spcPts val="610"/>
              </a:spcBef>
            </a:pPr>
            <a:r>
              <a:rPr sz="2000" spc="-5" dirty="0">
                <a:latin typeface="Arial MT"/>
                <a:cs typeface="Arial MT"/>
              </a:rPr>
              <a:t>As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can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 seen,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view equivalence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dirty="0">
                <a:latin typeface="Arial MT"/>
                <a:cs typeface="Arial MT"/>
              </a:rPr>
              <a:t> also based purely </a:t>
            </a:r>
            <a:r>
              <a:rPr sz="2000" spc="-5" dirty="0">
                <a:latin typeface="Arial MT"/>
                <a:cs typeface="Arial MT"/>
              </a:rPr>
              <a:t>on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reads</a:t>
            </a:r>
            <a:endParaRPr sz="2000" dirty="0">
              <a:latin typeface="Arial"/>
              <a:cs typeface="Arial"/>
            </a:endParaRPr>
          </a:p>
          <a:p>
            <a:pPr marL="38100">
              <a:spcBef>
                <a:spcPts val="630"/>
              </a:spcBef>
            </a:pP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spc="-5" dirty="0">
                <a:latin typeface="Arial"/>
                <a:cs typeface="Arial"/>
              </a:rPr>
              <a:t>writes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alone.</a:t>
            </a: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5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53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72970" y="1123950"/>
            <a:ext cx="7693025" cy="16433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4965" marR="5080" indent="-342900">
              <a:lnSpc>
                <a:spcPts val="2110"/>
              </a:lnSpc>
              <a:spcBef>
                <a:spcPts val="409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  <a:tab pos="4313555" algn="l"/>
              </a:tabLst>
            </a:pPr>
            <a:r>
              <a:rPr sz="3000" baseline="1388" dirty="0">
                <a:latin typeface="Arial MT"/>
                <a:cs typeface="Arial MT"/>
              </a:rPr>
              <a:t>A schedule</a:t>
            </a:r>
            <a:r>
              <a:rPr sz="3000" spc="15" baseline="1388" dirty="0">
                <a:latin typeface="Arial MT"/>
                <a:cs typeface="Arial MT"/>
              </a:rPr>
              <a:t> </a:t>
            </a:r>
            <a:r>
              <a:rPr sz="3000" i="1" baseline="1388" dirty="0">
                <a:latin typeface="Arial"/>
                <a:cs typeface="Arial"/>
              </a:rPr>
              <a:t>S </a:t>
            </a:r>
            <a:r>
              <a:rPr sz="3000" spc="-7" baseline="1388" dirty="0">
                <a:latin typeface="Arial MT"/>
                <a:cs typeface="Arial MT"/>
              </a:rPr>
              <a:t>is</a:t>
            </a:r>
            <a:r>
              <a:rPr sz="3000" spc="15" baseline="1388" dirty="0">
                <a:latin typeface="Arial MT"/>
                <a:cs typeface="Arial MT"/>
              </a:rPr>
              <a:t> </a:t>
            </a:r>
            <a:r>
              <a:rPr sz="3000" b="1" baseline="1388" dirty="0">
                <a:solidFill>
                  <a:srgbClr val="CC3300"/>
                </a:solidFill>
                <a:latin typeface="Arial"/>
                <a:cs typeface="Arial"/>
              </a:rPr>
              <a:t>view</a:t>
            </a:r>
            <a:r>
              <a:rPr sz="3000" b="1" spc="7" baseline="1388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3000" b="1" spc="-7" baseline="1388" dirty="0">
                <a:solidFill>
                  <a:srgbClr val="CC3300"/>
                </a:solidFill>
                <a:latin typeface="Arial"/>
                <a:cs typeface="Arial"/>
              </a:rPr>
              <a:t>serializable	</a:t>
            </a:r>
            <a:r>
              <a:rPr sz="3000" spc="-7" baseline="1388" dirty="0">
                <a:latin typeface="Arial MT"/>
                <a:cs typeface="Arial MT"/>
              </a:rPr>
              <a:t>it</a:t>
            </a:r>
            <a:r>
              <a:rPr sz="3000" spc="-3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is</a:t>
            </a:r>
            <a:r>
              <a:rPr sz="3000" spc="-15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view</a:t>
            </a:r>
            <a:r>
              <a:rPr sz="3000" spc="-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equivalent</a:t>
            </a:r>
            <a:r>
              <a:rPr sz="3000" spc="-3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to</a:t>
            </a:r>
            <a:r>
              <a:rPr sz="3000" spc="-30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a</a:t>
            </a:r>
            <a:r>
              <a:rPr sz="3000" spc="-15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serial </a:t>
            </a:r>
            <a:r>
              <a:rPr sz="3000" spc="-810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schedule.</a:t>
            </a:r>
          </a:p>
          <a:p>
            <a:pPr marL="355600" indent="-342900">
              <a:spcBef>
                <a:spcPts val="66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</a:tabLst>
            </a:pPr>
            <a:r>
              <a:rPr sz="3000" baseline="1388" dirty="0">
                <a:latin typeface="Arial MT"/>
                <a:cs typeface="Arial MT"/>
              </a:rPr>
              <a:t>Every</a:t>
            </a:r>
            <a:r>
              <a:rPr sz="3000" spc="-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conflict</a:t>
            </a:r>
            <a:r>
              <a:rPr sz="3000" spc="-15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serializable schedule</a:t>
            </a:r>
            <a:r>
              <a:rPr sz="3000" spc="-7" baseline="1388" dirty="0">
                <a:latin typeface="Arial MT"/>
                <a:cs typeface="Arial MT"/>
              </a:rPr>
              <a:t> is </a:t>
            </a:r>
            <a:r>
              <a:rPr sz="3000" baseline="1388" dirty="0">
                <a:latin typeface="Arial MT"/>
                <a:cs typeface="Arial MT"/>
              </a:rPr>
              <a:t>also view</a:t>
            </a:r>
            <a:r>
              <a:rPr sz="3000" spc="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serializable.</a:t>
            </a:r>
          </a:p>
          <a:p>
            <a:pPr marL="354965" marR="279400" indent="-342900">
              <a:lnSpc>
                <a:spcPts val="2120"/>
              </a:lnSpc>
              <a:spcBef>
                <a:spcPts val="935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</a:tabLst>
            </a:pPr>
            <a:r>
              <a:rPr sz="3000" baseline="1388" dirty="0">
                <a:latin typeface="Arial MT"/>
                <a:cs typeface="Arial MT"/>
              </a:rPr>
              <a:t>Schedule</a:t>
            </a:r>
            <a:r>
              <a:rPr sz="3000" spc="-15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9 </a:t>
            </a:r>
            <a:r>
              <a:rPr sz="3000" spc="-7" baseline="1388" dirty="0">
                <a:latin typeface="Arial MT"/>
                <a:cs typeface="Arial MT"/>
              </a:rPr>
              <a:t>(from</a:t>
            </a:r>
            <a:r>
              <a:rPr sz="3000" spc="15" baseline="1388" dirty="0">
                <a:latin typeface="Arial MT"/>
                <a:cs typeface="Arial MT"/>
              </a:rPr>
              <a:t> </a:t>
            </a:r>
            <a:r>
              <a:rPr sz="3000" spc="-7" baseline="1388" dirty="0">
                <a:latin typeface="Arial MT"/>
                <a:cs typeface="Arial MT"/>
              </a:rPr>
              <a:t>text)</a:t>
            </a:r>
            <a:r>
              <a:rPr sz="3000" spc="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—</a:t>
            </a:r>
            <a:r>
              <a:rPr sz="3000" spc="-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a schedule</a:t>
            </a:r>
            <a:r>
              <a:rPr sz="3000" spc="-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which is view-serializable </a:t>
            </a:r>
            <a:r>
              <a:rPr sz="3000" spc="-810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not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conflict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serializable.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72969" y="5412740"/>
            <a:ext cx="6073140" cy="5994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55600" marR="5080" indent="-355600">
              <a:lnSpc>
                <a:spcPts val="2120"/>
              </a:lnSpc>
              <a:spcBef>
                <a:spcPts val="40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</a:tabLst>
            </a:pPr>
            <a:r>
              <a:rPr sz="3000" baseline="1388" dirty="0">
                <a:latin typeface="Arial MT"/>
                <a:cs typeface="Arial MT"/>
              </a:rPr>
              <a:t>Every view serializable schedule </a:t>
            </a:r>
            <a:r>
              <a:rPr sz="3000" spc="-7" baseline="1388" dirty="0">
                <a:latin typeface="Arial MT"/>
                <a:cs typeface="Arial MT"/>
              </a:rPr>
              <a:t>that </a:t>
            </a:r>
            <a:r>
              <a:rPr sz="3000" baseline="1388" dirty="0">
                <a:latin typeface="Arial MT"/>
                <a:cs typeface="Arial MT"/>
              </a:rPr>
              <a:t>is not conflict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serializable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 </a:t>
            </a:r>
            <a:r>
              <a:rPr sz="2000" b="1" spc="-5" dirty="0">
                <a:solidFill>
                  <a:srgbClr val="CC3300"/>
                </a:solidFill>
                <a:latin typeface="Arial"/>
                <a:cs typeface="Arial"/>
              </a:rPr>
              <a:t>blind</a:t>
            </a:r>
            <a:r>
              <a:rPr sz="2000" b="1" dirty="0">
                <a:solidFill>
                  <a:srgbClr val="CC3300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CC3300"/>
                </a:solidFill>
                <a:latin typeface="Arial"/>
                <a:cs typeface="Arial"/>
              </a:rPr>
              <a:t>writes.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90900" y="3034029"/>
            <a:ext cx="4914900" cy="2160270"/>
          </a:xfrm>
          <a:custGeom>
            <a:avLst/>
            <a:gdLst/>
            <a:ahLst/>
            <a:cxnLst/>
            <a:rect l="l" t="t" r="r" b="b"/>
            <a:pathLst>
              <a:path w="4914900" h="2160270">
                <a:moveTo>
                  <a:pt x="2457450" y="2160270"/>
                </a:moveTo>
                <a:lnTo>
                  <a:pt x="0" y="2160270"/>
                </a:lnTo>
                <a:lnTo>
                  <a:pt x="0" y="0"/>
                </a:lnTo>
                <a:lnTo>
                  <a:pt x="4914900" y="0"/>
                </a:lnTo>
                <a:lnTo>
                  <a:pt x="4914900" y="2160270"/>
                </a:lnTo>
                <a:lnTo>
                  <a:pt x="2457450" y="2160270"/>
                </a:lnTo>
                <a:close/>
              </a:path>
            </a:pathLst>
          </a:custGeom>
          <a:ln w="76194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3072129"/>
            <a:ext cx="4839970" cy="2085340"/>
          </a:xfrm>
          <a:prstGeom prst="rect">
            <a:avLst/>
          </a:prstGeom>
        </p:spPr>
      </p:pic>
      <p:sp>
        <p:nvSpPr>
          <p:cNvPr id="10" name="object 2"/>
          <p:cNvSpPr txBox="1">
            <a:spLocks/>
          </p:cNvSpPr>
          <p:nvPr/>
        </p:nvSpPr>
        <p:spPr>
          <a:xfrm>
            <a:off x="3810001" y="473333"/>
            <a:ext cx="5293361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kumimoji="1" lang="en-US" sz="3200" b="1" spc="-60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ea typeface="ＭＳ Ｐゴシック" charset="0"/>
                <a:cs typeface="ＭＳ Ｐゴシック" charset="0"/>
              </a:rPr>
              <a:t>View </a:t>
            </a:r>
            <a:r>
              <a:rPr kumimoji="1" lang="en-US" sz="3200" b="1" spc="-60" dirty="0" err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ea typeface="ＭＳ Ｐゴシック" charset="0"/>
                <a:cs typeface="ＭＳ Ｐゴシック" charset="0"/>
              </a:rPr>
              <a:t>Serializability</a:t>
            </a:r>
            <a:endParaRPr kumimoji="1" lang="en-US" sz="3200" b="1" spc="-60" dirty="0">
              <a:solidFill>
                <a:schemeClr val="tx2"/>
              </a:solidFill>
              <a:effectLst>
                <a:outerShdw blurRad="38100" dist="38100" dir="2700000" algn="tl">
                  <a:srgbClr val="DDDDDD"/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985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49219" y="815926"/>
            <a:ext cx="6155690" cy="99001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68300" marR="17780" indent="-342900">
              <a:lnSpc>
                <a:spcPts val="2350"/>
              </a:lnSpc>
              <a:spcBef>
                <a:spcPts val="219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68300" algn="l"/>
              </a:tabLst>
            </a:pPr>
            <a:r>
              <a:rPr sz="3000" baseline="1388" dirty="0">
                <a:latin typeface="Arial MT"/>
                <a:cs typeface="Arial MT"/>
              </a:rPr>
              <a:t>Schedule 8 </a:t>
            </a:r>
            <a:r>
              <a:rPr sz="3000" spc="-7" baseline="1388" dirty="0">
                <a:latin typeface="Arial MT"/>
                <a:cs typeface="Arial MT"/>
              </a:rPr>
              <a:t>(from text) </a:t>
            </a:r>
            <a:r>
              <a:rPr sz="3000" baseline="1388" dirty="0">
                <a:latin typeface="Arial MT"/>
                <a:cs typeface="Arial MT"/>
              </a:rPr>
              <a:t>given below produces same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o</a:t>
            </a:r>
            <a:r>
              <a:rPr sz="2000" spc="-5" dirty="0">
                <a:latin typeface="Arial MT"/>
                <a:cs typeface="Arial MT"/>
              </a:rPr>
              <a:t>u</a:t>
            </a:r>
            <a:r>
              <a:rPr sz="2000" spc="-10" dirty="0">
                <a:latin typeface="Arial MT"/>
                <a:cs typeface="Arial MT"/>
              </a:rPr>
              <a:t>t</a:t>
            </a:r>
            <a:r>
              <a:rPr sz="2000" spc="10" dirty="0">
                <a:latin typeface="Arial MT"/>
                <a:cs typeface="Arial MT"/>
              </a:rPr>
              <a:t>c</a:t>
            </a:r>
            <a:r>
              <a:rPr sz="2000" spc="5" dirty="0">
                <a:latin typeface="Arial MT"/>
                <a:cs typeface="Arial MT"/>
              </a:rPr>
              <a:t>o</a:t>
            </a:r>
            <a:r>
              <a:rPr sz="2000" dirty="0">
                <a:latin typeface="Arial MT"/>
                <a:cs typeface="Arial MT"/>
              </a:rPr>
              <a:t>me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s </a:t>
            </a:r>
            <a:r>
              <a:rPr sz="2000" spc="-10" dirty="0">
                <a:latin typeface="Arial MT"/>
                <a:cs typeface="Arial MT"/>
              </a:rPr>
              <a:t>t</a:t>
            </a:r>
            <a:r>
              <a:rPr sz="2000" spc="5" dirty="0">
                <a:latin typeface="Arial MT"/>
                <a:cs typeface="Arial MT"/>
              </a:rPr>
              <a:t>h</a:t>
            </a:r>
            <a:r>
              <a:rPr sz="2000" dirty="0">
                <a:latin typeface="Arial MT"/>
                <a:cs typeface="Arial MT"/>
              </a:rPr>
              <a:t>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10" dirty="0">
                <a:latin typeface="Arial MT"/>
                <a:cs typeface="Arial MT"/>
              </a:rPr>
              <a:t>s</a:t>
            </a:r>
            <a:r>
              <a:rPr sz="2000" spc="5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r</a:t>
            </a:r>
            <a:r>
              <a:rPr sz="2000" spc="-5" dirty="0">
                <a:latin typeface="Arial MT"/>
                <a:cs typeface="Arial MT"/>
              </a:rPr>
              <a:t>i</a:t>
            </a:r>
            <a:r>
              <a:rPr sz="2000" spc="5" dirty="0">
                <a:latin typeface="Arial MT"/>
                <a:cs typeface="Arial MT"/>
              </a:rPr>
              <a:t>a</a:t>
            </a:r>
            <a:r>
              <a:rPr sz="2000" dirty="0">
                <a:latin typeface="Arial MT"/>
                <a:cs typeface="Arial MT"/>
              </a:rPr>
              <a:t>l </a:t>
            </a:r>
            <a:r>
              <a:rPr sz="2000" spc="10" dirty="0">
                <a:latin typeface="Arial MT"/>
                <a:cs typeface="Arial MT"/>
              </a:rPr>
              <a:t>s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5" dirty="0">
                <a:latin typeface="Arial MT"/>
                <a:cs typeface="Arial MT"/>
              </a:rPr>
              <a:t>he</a:t>
            </a:r>
            <a:r>
              <a:rPr sz="2000" spc="-5" dirty="0">
                <a:latin typeface="Arial MT"/>
                <a:cs typeface="Arial MT"/>
              </a:rPr>
              <a:t>d</a:t>
            </a:r>
            <a:r>
              <a:rPr sz="2000" spc="5" dirty="0">
                <a:latin typeface="Arial MT"/>
                <a:cs typeface="Arial MT"/>
              </a:rPr>
              <a:t>u</a:t>
            </a:r>
            <a:r>
              <a:rPr sz="2000" spc="-5" dirty="0">
                <a:latin typeface="Arial MT"/>
                <a:cs typeface="Arial MT"/>
              </a:rPr>
              <a:t>l</a:t>
            </a:r>
            <a:r>
              <a:rPr sz="2000" dirty="0">
                <a:latin typeface="Arial MT"/>
                <a:cs typeface="Arial MT"/>
              </a:rPr>
              <a:t>e &lt;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T</a:t>
            </a:r>
            <a:r>
              <a:rPr sz="1725" spc="-7" baseline="-24154" dirty="0">
                <a:latin typeface="Arial MT"/>
                <a:cs typeface="Arial MT"/>
              </a:rPr>
              <a:t>1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254" dirty="0">
                <a:latin typeface="Arial MT"/>
                <a:cs typeface="Arial MT"/>
              </a:rPr>
              <a:t> </a:t>
            </a:r>
            <a:r>
              <a:rPr sz="2000" i="1" spc="5" dirty="0">
                <a:latin typeface="Arial"/>
                <a:cs typeface="Arial"/>
              </a:rPr>
              <a:t>T</a:t>
            </a:r>
            <a:r>
              <a:rPr sz="1725" spc="7" baseline="-24154" dirty="0">
                <a:latin typeface="Arial MT"/>
                <a:cs typeface="Arial MT"/>
              </a:rPr>
              <a:t>5</a:t>
            </a:r>
            <a:r>
              <a:rPr sz="1725" baseline="-24154" dirty="0">
                <a:latin typeface="Arial MT"/>
                <a:cs typeface="Arial MT"/>
              </a:rPr>
              <a:t> </a:t>
            </a:r>
            <a:r>
              <a:rPr sz="1725" spc="-157" baseline="-24154" dirty="0">
                <a:latin typeface="Arial MT"/>
                <a:cs typeface="Arial MT"/>
              </a:rPr>
              <a:t> </a:t>
            </a:r>
            <a:r>
              <a:rPr sz="2000" spc="10" dirty="0">
                <a:latin typeface="Arial MT"/>
                <a:cs typeface="Arial MT"/>
              </a:rPr>
              <a:t>&gt;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10" dirty="0">
                <a:latin typeface="Arial MT"/>
                <a:cs typeface="Arial MT"/>
              </a:rPr>
              <a:t>y</a:t>
            </a:r>
            <a:r>
              <a:rPr sz="2000" spc="5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</a:t>
            </a:r>
            <a:r>
              <a:rPr sz="2000" dirty="0">
                <a:latin typeface="Arial MT"/>
                <a:cs typeface="Arial MT"/>
              </a:rPr>
              <a:t>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</a:t>
            </a:r>
            <a:r>
              <a:rPr sz="2000" spc="5" dirty="0">
                <a:latin typeface="Arial MT"/>
                <a:cs typeface="Arial MT"/>
              </a:rPr>
              <a:t>o</a:t>
            </a:r>
            <a:r>
              <a:rPr sz="2000" dirty="0">
                <a:latin typeface="Arial MT"/>
                <a:cs typeface="Arial MT"/>
              </a:rPr>
              <a:t>t</a:t>
            </a:r>
          </a:p>
          <a:p>
            <a:pPr marL="368300">
              <a:spcBef>
                <a:spcPts val="260"/>
              </a:spcBef>
            </a:pPr>
            <a:r>
              <a:rPr sz="2000" dirty="0">
                <a:latin typeface="Arial MT"/>
                <a:cs typeface="Arial MT"/>
              </a:rPr>
              <a:t>conflict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equivalent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view equivalent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 it.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5899" y="5790944"/>
            <a:ext cx="6049010" cy="643766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55600" marR="5080" indent="-342900">
              <a:lnSpc>
                <a:spcPts val="2350"/>
              </a:lnSpc>
              <a:spcBef>
                <a:spcPts val="22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</a:tabLst>
            </a:pPr>
            <a:r>
              <a:rPr sz="3000" baseline="1388" dirty="0">
                <a:latin typeface="Arial MT"/>
                <a:cs typeface="Arial MT"/>
              </a:rPr>
              <a:t>Determining </a:t>
            </a:r>
            <a:r>
              <a:rPr sz="3000" spc="7" baseline="1388" dirty="0">
                <a:latin typeface="Arial MT"/>
                <a:cs typeface="Arial MT"/>
              </a:rPr>
              <a:t>such </a:t>
            </a:r>
            <a:r>
              <a:rPr sz="3000" baseline="1388" dirty="0">
                <a:latin typeface="Arial MT"/>
                <a:cs typeface="Arial MT"/>
              </a:rPr>
              <a:t>equivalence requires analysis of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operations other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than</a:t>
            </a:r>
            <a:r>
              <a:rPr sz="2000" dirty="0">
                <a:latin typeface="Arial MT"/>
                <a:cs typeface="Arial MT"/>
              </a:rPr>
              <a:t> read and write.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4665" y="2000250"/>
            <a:ext cx="2874010" cy="3732529"/>
          </a:xfrm>
          <a:prstGeom prst="rect">
            <a:avLst/>
          </a:prstGeom>
        </p:spPr>
      </p:pic>
      <p:sp>
        <p:nvSpPr>
          <p:cNvPr id="7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8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378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895600" y="214308"/>
            <a:ext cx="67183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Testing</a:t>
            </a:r>
            <a:r>
              <a:rPr spc="-25" dirty="0"/>
              <a:t> </a:t>
            </a:r>
            <a:r>
              <a:rPr spc="-5" dirty="0"/>
              <a:t>for</a:t>
            </a:r>
            <a:r>
              <a:rPr spc="-35" dirty="0"/>
              <a:t> </a:t>
            </a:r>
            <a:r>
              <a:rPr dirty="0"/>
              <a:t>Serializability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59710" y="904240"/>
            <a:ext cx="6583680" cy="2741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2900">
              <a:spcBef>
                <a:spcPts val="10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68300" algn="l"/>
              </a:tabLst>
            </a:pPr>
            <a:r>
              <a:rPr sz="2000" dirty="0">
                <a:latin typeface="Arial MT"/>
                <a:cs typeface="Arial MT"/>
              </a:rPr>
              <a:t>Consider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some schedule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set</a:t>
            </a:r>
            <a:r>
              <a:rPr sz="2000" spc="-5" dirty="0">
                <a:latin typeface="Arial MT"/>
                <a:cs typeface="Arial MT"/>
              </a:rPr>
              <a:t> 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transactions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T</a:t>
            </a:r>
            <a:r>
              <a:rPr sz="1725" spc="-7" baseline="-24154" dirty="0">
                <a:latin typeface="Arial MT"/>
                <a:cs typeface="Arial MT"/>
              </a:rPr>
              <a:t>1</a:t>
            </a:r>
            <a:r>
              <a:rPr sz="2000" spc="-5" dirty="0">
                <a:latin typeface="Arial MT"/>
                <a:cs typeface="Arial MT"/>
              </a:rPr>
              <a:t>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T</a:t>
            </a:r>
            <a:r>
              <a:rPr sz="1725" spc="-7" baseline="-24154" dirty="0">
                <a:latin typeface="Arial MT"/>
                <a:cs typeface="Arial MT"/>
              </a:rPr>
              <a:t>2</a:t>
            </a:r>
            <a:r>
              <a:rPr sz="2000" spc="-5" dirty="0">
                <a:latin typeface="Arial MT"/>
                <a:cs typeface="Arial MT"/>
              </a:rPr>
              <a:t>,</a:t>
            </a:r>
            <a:endParaRPr sz="2000" dirty="0">
              <a:latin typeface="Arial MT"/>
              <a:cs typeface="Arial MT"/>
            </a:endParaRPr>
          </a:p>
          <a:p>
            <a:pPr marL="368300">
              <a:spcBef>
                <a:spcPts val="50"/>
              </a:spcBef>
            </a:pPr>
            <a:r>
              <a:rPr sz="2000" spc="-10" dirty="0">
                <a:latin typeface="Arial MT"/>
                <a:cs typeface="Arial MT"/>
              </a:rPr>
              <a:t>...,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725" i="1" baseline="-24154" dirty="0">
                <a:latin typeface="Arial"/>
                <a:cs typeface="Arial"/>
              </a:rPr>
              <a:t>n</a:t>
            </a:r>
            <a:endParaRPr sz="1725" baseline="-24154" dirty="0">
              <a:latin typeface="Arial"/>
              <a:cs typeface="Arial"/>
            </a:endParaRPr>
          </a:p>
          <a:p>
            <a:pPr marL="368300" marR="859790" indent="-342900">
              <a:lnSpc>
                <a:spcPts val="2110"/>
              </a:lnSpc>
              <a:spcBef>
                <a:spcPts val="1320"/>
              </a:spcBef>
              <a:buSzPct val="90000"/>
              <a:buFont typeface="MS UI Gothic"/>
              <a:buChar char="■"/>
              <a:tabLst>
                <a:tab pos="368300" algn="l"/>
              </a:tabLst>
            </a:pPr>
            <a:r>
              <a:rPr sz="3000" b="1" baseline="1388" dirty="0">
                <a:solidFill>
                  <a:srgbClr val="CC3300"/>
                </a:solidFill>
                <a:latin typeface="Arial"/>
                <a:cs typeface="Arial"/>
              </a:rPr>
              <a:t>Precedence </a:t>
            </a:r>
            <a:r>
              <a:rPr sz="3000" b="1" spc="-7" baseline="1388" dirty="0">
                <a:solidFill>
                  <a:srgbClr val="CC3300"/>
                </a:solidFill>
                <a:latin typeface="Arial"/>
                <a:cs typeface="Arial"/>
              </a:rPr>
              <a:t>graph </a:t>
            </a:r>
            <a:r>
              <a:rPr sz="3000" baseline="1388" dirty="0">
                <a:latin typeface="Arial MT"/>
                <a:cs typeface="Arial MT"/>
              </a:rPr>
              <a:t>— a direct graph where </a:t>
            </a:r>
            <a:r>
              <a:rPr sz="3000" spc="-7" baseline="1388" dirty="0">
                <a:latin typeface="Arial MT"/>
                <a:cs typeface="Arial MT"/>
              </a:rPr>
              <a:t>the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vertices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5" dirty="0">
                <a:latin typeface="Arial MT"/>
                <a:cs typeface="Arial MT"/>
              </a:rPr>
              <a:t> the</a:t>
            </a:r>
            <a:r>
              <a:rPr sz="2000" dirty="0">
                <a:latin typeface="Arial MT"/>
                <a:cs typeface="Arial MT"/>
              </a:rPr>
              <a:t> transactions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(names).</a:t>
            </a:r>
          </a:p>
          <a:p>
            <a:pPr marL="368300" marR="403860" indent="-342900">
              <a:lnSpc>
                <a:spcPct val="102899"/>
              </a:lnSpc>
              <a:spcBef>
                <a:spcPts val="509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68300" algn="l"/>
              </a:tabLst>
            </a:pPr>
            <a:r>
              <a:rPr sz="2000" dirty="0">
                <a:latin typeface="Arial MT"/>
                <a:cs typeface="Arial MT"/>
              </a:rPr>
              <a:t>We draw an arc </a:t>
            </a:r>
            <a:r>
              <a:rPr sz="2000" spc="-5" dirty="0">
                <a:latin typeface="Arial MT"/>
                <a:cs typeface="Arial MT"/>
              </a:rPr>
              <a:t>from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725" i="1" baseline="-24154" dirty="0">
                <a:latin typeface="Arial"/>
                <a:cs typeface="Arial"/>
              </a:rPr>
              <a:t>i</a:t>
            </a:r>
            <a:r>
              <a:rPr sz="1725" i="1" spc="7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to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725" i="1" baseline="-24154" dirty="0">
                <a:latin typeface="Arial"/>
                <a:cs typeface="Arial"/>
              </a:rPr>
              <a:t>j</a:t>
            </a:r>
            <a:r>
              <a:rPr sz="1725" i="1" spc="7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if </a:t>
            </a:r>
            <a:r>
              <a:rPr sz="2000" spc="-5" dirty="0">
                <a:latin typeface="Arial MT"/>
                <a:cs typeface="Arial MT"/>
              </a:rPr>
              <a:t>the two </a:t>
            </a:r>
            <a:r>
              <a:rPr sz="2000" dirty="0">
                <a:latin typeface="Arial MT"/>
                <a:cs typeface="Arial MT"/>
              </a:rPr>
              <a:t>transaction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conflict,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725" i="1" baseline="-24154" dirty="0">
                <a:latin typeface="Arial"/>
                <a:cs typeface="Arial"/>
              </a:rPr>
              <a:t>i</a:t>
            </a:r>
            <a:r>
              <a:rPr sz="1725" i="1" spc="330" baseline="-24154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accessed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data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item </a:t>
            </a:r>
            <a:r>
              <a:rPr sz="2000" dirty="0">
                <a:latin typeface="Arial MT"/>
                <a:cs typeface="Arial MT"/>
              </a:rPr>
              <a:t>on which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conflict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arose earlier.</a:t>
            </a:r>
          </a:p>
          <a:p>
            <a:pPr marL="368300" indent="-342900">
              <a:spcBef>
                <a:spcPts val="68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68300" algn="l"/>
              </a:tabLst>
            </a:pPr>
            <a:r>
              <a:rPr sz="3000" baseline="1388" dirty="0">
                <a:latin typeface="Arial MT"/>
                <a:cs typeface="Arial MT"/>
              </a:rPr>
              <a:t>We</a:t>
            </a:r>
            <a:r>
              <a:rPr sz="3000" spc="-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may label</a:t>
            </a:r>
            <a:r>
              <a:rPr sz="3000" spc="-15" baseline="1388" dirty="0">
                <a:latin typeface="Arial MT"/>
                <a:cs typeface="Arial MT"/>
              </a:rPr>
              <a:t> </a:t>
            </a:r>
            <a:r>
              <a:rPr sz="3000" spc="-7" baseline="1388" dirty="0">
                <a:latin typeface="Arial MT"/>
                <a:cs typeface="Arial MT"/>
              </a:rPr>
              <a:t>the </a:t>
            </a:r>
            <a:r>
              <a:rPr sz="3000" baseline="1388" dirty="0">
                <a:latin typeface="Arial MT"/>
                <a:cs typeface="Arial MT"/>
              </a:rPr>
              <a:t>arc by</a:t>
            </a:r>
            <a:r>
              <a:rPr sz="3000" spc="-15" baseline="1388" dirty="0">
                <a:latin typeface="Arial MT"/>
                <a:cs typeface="Arial MT"/>
              </a:rPr>
              <a:t> </a:t>
            </a:r>
            <a:r>
              <a:rPr sz="3000" spc="-7" baseline="1388" dirty="0">
                <a:latin typeface="Arial MT"/>
                <a:cs typeface="Arial MT"/>
              </a:rPr>
              <a:t>the</a:t>
            </a:r>
            <a:r>
              <a:rPr sz="3000" baseline="1388" dirty="0">
                <a:latin typeface="Arial MT"/>
                <a:cs typeface="Arial MT"/>
              </a:rPr>
              <a:t> </a:t>
            </a:r>
            <a:r>
              <a:rPr sz="3000" spc="-7" baseline="1388" dirty="0">
                <a:latin typeface="Arial MT"/>
                <a:cs typeface="Arial MT"/>
              </a:rPr>
              <a:t>item</a:t>
            </a:r>
            <a:r>
              <a:rPr sz="3000" spc="-15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that</a:t>
            </a:r>
            <a:r>
              <a:rPr sz="3000" spc="-22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was accessed.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72411" y="3702050"/>
            <a:ext cx="16249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</a:tabLst>
            </a:pPr>
            <a:r>
              <a:rPr sz="3000" b="1" spc="-7" baseline="1388" dirty="0">
                <a:latin typeface="Arial"/>
                <a:cs typeface="Arial"/>
              </a:rPr>
              <a:t>Example</a:t>
            </a:r>
            <a:r>
              <a:rPr sz="3000" b="1" spc="-104" baseline="1388" dirty="0">
                <a:latin typeface="Arial"/>
                <a:cs typeface="Arial"/>
              </a:rPr>
              <a:t> </a:t>
            </a:r>
            <a:r>
              <a:rPr sz="3000" b="1" baseline="1388" dirty="0">
                <a:latin typeface="Arial"/>
                <a:cs typeface="Arial"/>
              </a:rPr>
              <a:t>1</a:t>
            </a:r>
            <a:endParaRPr sz="3000" baseline="13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6440" y="384682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x</a:t>
            </a:r>
            <a:endParaRPr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9300" y="612647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y</a:t>
            </a:r>
            <a:endParaRPr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32300" y="4324350"/>
            <a:ext cx="2755900" cy="1390650"/>
          </a:xfrm>
          <a:custGeom>
            <a:avLst/>
            <a:gdLst/>
            <a:ahLst/>
            <a:cxnLst/>
            <a:rect l="l" t="t" r="r" b="b"/>
            <a:pathLst>
              <a:path w="2755900" h="1390650">
                <a:moveTo>
                  <a:pt x="1377950" y="1390650"/>
                </a:moveTo>
                <a:lnTo>
                  <a:pt x="0" y="1390650"/>
                </a:lnTo>
                <a:lnTo>
                  <a:pt x="0" y="0"/>
                </a:lnTo>
                <a:lnTo>
                  <a:pt x="2755900" y="0"/>
                </a:lnTo>
                <a:lnTo>
                  <a:pt x="2755900" y="1390650"/>
                </a:lnTo>
                <a:lnTo>
                  <a:pt x="1377950" y="1390650"/>
                </a:lnTo>
                <a:close/>
              </a:path>
            </a:pathLst>
          </a:custGeom>
          <a:ln w="76194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0400" y="4362450"/>
            <a:ext cx="2680970" cy="1315720"/>
          </a:xfrm>
          <a:prstGeom prst="rect">
            <a:avLst/>
          </a:prstGeom>
        </p:spPr>
      </p:pic>
      <p:sp>
        <p:nvSpPr>
          <p:cNvPr id="9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216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109081" y="264353"/>
            <a:ext cx="6225540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/>
              <a:t>Example</a:t>
            </a:r>
            <a:r>
              <a:rPr sz="3200" b="1" spc="-5" dirty="0"/>
              <a:t> </a:t>
            </a:r>
            <a:r>
              <a:rPr sz="3200" b="1" dirty="0"/>
              <a:t>Schedule</a:t>
            </a:r>
            <a:r>
              <a:rPr sz="3200" b="1" spc="-15" dirty="0"/>
              <a:t> </a:t>
            </a:r>
            <a:r>
              <a:rPr sz="3200" b="1" dirty="0"/>
              <a:t>(Schedule</a:t>
            </a:r>
            <a:r>
              <a:rPr sz="3200" b="1" spc="-15" dirty="0"/>
              <a:t> </a:t>
            </a:r>
            <a:r>
              <a:rPr sz="3200" b="1" dirty="0"/>
              <a:t>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179" y="800100"/>
            <a:ext cx="3136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000" i="1" dirty="0">
                <a:latin typeface="Arial"/>
                <a:cs typeface="Arial"/>
              </a:rPr>
              <a:t>T</a:t>
            </a:r>
            <a:r>
              <a:rPr sz="1725" baseline="-24154" dirty="0">
                <a:latin typeface="Arial MT"/>
                <a:cs typeface="Arial MT"/>
              </a:rPr>
              <a:t>1</a:t>
            </a:r>
            <a:endParaRPr sz="1725" baseline="-24154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84980" y="727709"/>
            <a:ext cx="3897629" cy="7797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47980">
              <a:spcBef>
                <a:spcPts val="670"/>
              </a:spcBef>
              <a:tabLst>
                <a:tab pos="1602105" algn="l"/>
                <a:tab pos="2569845" algn="l"/>
                <a:tab pos="3607435" algn="l"/>
              </a:tabLst>
            </a:pPr>
            <a:r>
              <a:rPr sz="2000" i="1" dirty="0">
                <a:latin typeface="Arial"/>
                <a:cs typeface="Arial"/>
              </a:rPr>
              <a:t>T</a:t>
            </a:r>
            <a:r>
              <a:rPr sz="1725" baseline="-24154" dirty="0">
                <a:latin typeface="Arial MT"/>
                <a:cs typeface="Arial MT"/>
              </a:rPr>
              <a:t>2	</a:t>
            </a:r>
            <a:r>
              <a:rPr sz="2000" i="1" spc="5" dirty="0">
                <a:latin typeface="Arial"/>
                <a:cs typeface="Arial"/>
              </a:rPr>
              <a:t>T</a:t>
            </a:r>
            <a:r>
              <a:rPr sz="1725" spc="7" baseline="-24154" dirty="0">
                <a:latin typeface="Arial MT"/>
                <a:cs typeface="Arial MT"/>
              </a:rPr>
              <a:t>3	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725" baseline="-24154" dirty="0">
                <a:latin typeface="Arial MT"/>
                <a:cs typeface="Arial MT"/>
              </a:rPr>
              <a:t>4	</a:t>
            </a:r>
            <a:r>
              <a:rPr sz="2000" i="1" spc="5" dirty="0">
                <a:latin typeface="Arial"/>
                <a:cs typeface="Arial"/>
              </a:rPr>
              <a:t>T</a:t>
            </a:r>
            <a:r>
              <a:rPr sz="1725" spc="7" baseline="-24154" dirty="0">
                <a:latin typeface="Arial MT"/>
                <a:cs typeface="Arial MT"/>
              </a:rPr>
              <a:t>5</a:t>
            </a:r>
            <a:endParaRPr sz="1725" baseline="-24154" dirty="0">
              <a:latin typeface="Arial MT"/>
              <a:cs typeface="Arial MT"/>
            </a:endParaRPr>
          </a:p>
          <a:p>
            <a:pPr marL="76200">
              <a:spcBef>
                <a:spcPts val="570"/>
              </a:spcBef>
            </a:pPr>
            <a:r>
              <a:rPr sz="2000" dirty="0">
                <a:latin typeface="Arial MT"/>
                <a:cs typeface="Arial MT"/>
              </a:rPr>
              <a:t>read(X)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9289" y="1482090"/>
            <a:ext cx="87503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r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2000" spc="5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d</a:t>
            </a:r>
            <a:r>
              <a:rPr sz="2000" spc="10" dirty="0">
                <a:latin typeface="Arial MT"/>
                <a:cs typeface="Arial MT"/>
              </a:rPr>
              <a:t>(</a:t>
            </a:r>
            <a:r>
              <a:rPr sz="2000" spc="-5" dirty="0">
                <a:latin typeface="Arial MT"/>
                <a:cs typeface="Arial MT"/>
              </a:rPr>
              <a:t>Y</a:t>
            </a:r>
            <a:r>
              <a:rPr sz="2000" dirty="0">
                <a:latin typeface="Arial MT"/>
                <a:cs typeface="Arial MT"/>
              </a:rPr>
              <a:t>)  r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2000" spc="5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d</a:t>
            </a:r>
            <a:r>
              <a:rPr sz="2000" spc="10" dirty="0">
                <a:latin typeface="Arial MT"/>
                <a:cs typeface="Arial MT"/>
              </a:rPr>
              <a:t>(</a:t>
            </a:r>
            <a:r>
              <a:rPr sz="2000" spc="-5" dirty="0">
                <a:latin typeface="Arial MT"/>
                <a:cs typeface="Arial MT"/>
              </a:rPr>
              <a:t>Z</a:t>
            </a:r>
            <a:r>
              <a:rPr sz="2000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68259" y="2152650"/>
            <a:ext cx="94615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read(V)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2000" spc="5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d</a:t>
            </a:r>
            <a:r>
              <a:rPr sz="2000" spc="10" dirty="0">
                <a:latin typeface="Arial MT"/>
                <a:cs typeface="Arial MT"/>
              </a:rPr>
              <a:t>(</a:t>
            </a:r>
            <a:r>
              <a:rPr sz="2000" dirty="0">
                <a:latin typeface="Arial MT"/>
                <a:cs typeface="Arial MT"/>
              </a:rPr>
              <a:t>W)  r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2000" spc="5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d</a:t>
            </a:r>
            <a:r>
              <a:rPr sz="2000" spc="10" dirty="0">
                <a:latin typeface="Arial MT"/>
                <a:cs typeface="Arial MT"/>
              </a:rPr>
              <a:t>(</a:t>
            </a:r>
            <a:r>
              <a:rPr sz="2000" dirty="0">
                <a:latin typeface="Arial MT"/>
                <a:cs typeface="Arial MT"/>
              </a:rPr>
              <a:t>W)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71190" y="2668270"/>
            <a:ext cx="4323080" cy="3487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1890" marR="2286635">
              <a:lnSpc>
                <a:spcPct val="11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read(Y)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w</a:t>
            </a:r>
            <a:r>
              <a:rPr sz="2000" dirty="0">
                <a:latin typeface="Arial MT"/>
                <a:cs typeface="Arial MT"/>
              </a:rPr>
              <a:t>r</a:t>
            </a:r>
            <a:r>
              <a:rPr sz="2000" spc="5" dirty="0">
                <a:latin typeface="Arial MT"/>
                <a:cs typeface="Arial MT"/>
              </a:rPr>
              <a:t>i</a:t>
            </a:r>
            <a:r>
              <a:rPr sz="2000" spc="-10" dirty="0">
                <a:latin typeface="Arial MT"/>
                <a:cs typeface="Arial MT"/>
              </a:rPr>
              <a:t>t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2000" spc="10" dirty="0">
                <a:latin typeface="Arial MT"/>
                <a:cs typeface="Arial MT"/>
              </a:rPr>
              <a:t>(</a:t>
            </a:r>
            <a:r>
              <a:rPr sz="2000" spc="-5" dirty="0">
                <a:latin typeface="Arial MT"/>
                <a:cs typeface="Arial MT"/>
              </a:rPr>
              <a:t>Y</a:t>
            </a:r>
            <a:r>
              <a:rPr sz="2000" dirty="0">
                <a:latin typeface="Arial MT"/>
                <a:cs typeface="Arial MT"/>
              </a:rPr>
              <a:t>)</a:t>
            </a:r>
          </a:p>
          <a:p>
            <a:pPr marL="2350770">
              <a:spcBef>
                <a:spcPts val="240"/>
              </a:spcBef>
            </a:pPr>
            <a:r>
              <a:rPr sz="2000" dirty="0">
                <a:latin typeface="Arial MT"/>
                <a:cs typeface="Arial MT"/>
              </a:rPr>
              <a:t>write(Z)</a:t>
            </a:r>
          </a:p>
          <a:p>
            <a:pPr marL="12700">
              <a:spcBef>
                <a:spcPts val="229"/>
              </a:spcBef>
            </a:pPr>
            <a:r>
              <a:rPr sz="2000" dirty="0">
                <a:latin typeface="Arial MT"/>
                <a:cs typeface="Arial MT"/>
              </a:rPr>
              <a:t>read(U)</a:t>
            </a:r>
          </a:p>
          <a:p>
            <a:pPr marL="3432810" marR="5080" algn="just">
              <a:lnSpc>
                <a:spcPct val="110000"/>
              </a:lnSpc>
            </a:pPr>
            <a:r>
              <a:rPr sz="2000" dirty="0">
                <a:latin typeface="Arial MT"/>
                <a:cs typeface="Arial MT"/>
              </a:rPr>
              <a:t>read(Y)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w</a:t>
            </a:r>
            <a:r>
              <a:rPr sz="2000" dirty="0">
                <a:latin typeface="Arial MT"/>
                <a:cs typeface="Arial MT"/>
              </a:rPr>
              <a:t>r</a:t>
            </a:r>
            <a:r>
              <a:rPr sz="2000" spc="5" dirty="0">
                <a:latin typeface="Arial MT"/>
                <a:cs typeface="Arial MT"/>
              </a:rPr>
              <a:t>i</a:t>
            </a:r>
            <a:r>
              <a:rPr sz="2000" spc="-10" dirty="0">
                <a:latin typeface="Arial MT"/>
                <a:cs typeface="Arial MT"/>
              </a:rPr>
              <a:t>t</a:t>
            </a:r>
            <a:r>
              <a:rPr sz="2000" spc="5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spc="-5" dirty="0">
                <a:latin typeface="Arial MT"/>
                <a:cs typeface="Arial MT"/>
              </a:rPr>
              <a:t>Y</a:t>
            </a:r>
            <a:r>
              <a:rPr sz="2000" dirty="0">
                <a:latin typeface="Arial MT"/>
                <a:cs typeface="Arial MT"/>
              </a:rPr>
              <a:t>)  read(Z)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w</a:t>
            </a:r>
            <a:r>
              <a:rPr sz="2000" dirty="0">
                <a:latin typeface="Arial MT"/>
                <a:cs typeface="Arial MT"/>
              </a:rPr>
              <a:t>r</a:t>
            </a:r>
            <a:r>
              <a:rPr sz="2000" spc="5" dirty="0">
                <a:latin typeface="Arial MT"/>
                <a:cs typeface="Arial MT"/>
              </a:rPr>
              <a:t>i</a:t>
            </a:r>
            <a:r>
              <a:rPr sz="2000" spc="-10" dirty="0">
                <a:latin typeface="Arial MT"/>
                <a:cs typeface="Arial MT"/>
              </a:rPr>
              <a:t>t</a:t>
            </a:r>
            <a:r>
              <a:rPr sz="2000" spc="5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spc="-5" dirty="0">
                <a:latin typeface="Arial MT"/>
                <a:cs typeface="Arial MT"/>
              </a:rPr>
              <a:t>Z</a:t>
            </a:r>
            <a:r>
              <a:rPr sz="2000" dirty="0">
                <a:latin typeface="Arial MT"/>
                <a:cs typeface="Arial MT"/>
              </a:rPr>
              <a:t>)</a:t>
            </a:r>
          </a:p>
          <a:p>
            <a:pPr marL="12700" marR="3409950">
              <a:lnSpc>
                <a:spcPct val="110000"/>
              </a:lnSpc>
              <a:spcBef>
                <a:spcPts val="870"/>
              </a:spcBef>
            </a:pPr>
            <a:r>
              <a:rPr sz="2000" dirty="0">
                <a:latin typeface="Arial MT"/>
                <a:cs typeface="Arial MT"/>
              </a:rPr>
              <a:t>read(U)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5" dirty="0">
                <a:latin typeface="Arial MT"/>
                <a:cs typeface="Arial MT"/>
              </a:rPr>
              <a:t>w</a:t>
            </a:r>
            <a:r>
              <a:rPr sz="2000" dirty="0">
                <a:latin typeface="Arial MT"/>
                <a:cs typeface="Arial MT"/>
              </a:rPr>
              <a:t>r</a:t>
            </a:r>
            <a:r>
              <a:rPr sz="2000" spc="-5" dirty="0">
                <a:latin typeface="Arial MT"/>
                <a:cs typeface="Arial MT"/>
              </a:rPr>
              <a:t>i</a:t>
            </a:r>
            <a:r>
              <a:rPr sz="2000" dirty="0">
                <a:latin typeface="Arial MT"/>
                <a:cs typeface="Arial MT"/>
              </a:rPr>
              <a:t>t</a:t>
            </a:r>
            <a:r>
              <a:rPr sz="2000" spc="-5" dirty="0">
                <a:latin typeface="Arial MT"/>
                <a:cs typeface="Arial MT"/>
              </a:rPr>
              <a:t>e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spc="15" dirty="0">
                <a:latin typeface="Arial MT"/>
                <a:cs typeface="Arial MT"/>
              </a:rPr>
              <a:t>U</a:t>
            </a:r>
            <a:r>
              <a:rPr sz="2000" dirty="0">
                <a:latin typeface="Arial MT"/>
                <a:cs typeface="Arial MT"/>
              </a:rPr>
              <a:t>)</a:t>
            </a:r>
          </a:p>
        </p:txBody>
      </p:sp>
      <p:sp>
        <p:nvSpPr>
          <p:cNvPr id="8" name="object 8"/>
          <p:cNvSpPr/>
          <p:nvPr/>
        </p:nvSpPr>
        <p:spPr>
          <a:xfrm>
            <a:off x="3139439" y="1135380"/>
            <a:ext cx="5408930" cy="0"/>
          </a:xfrm>
          <a:custGeom>
            <a:avLst/>
            <a:gdLst/>
            <a:ahLst/>
            <a:cxnLst/>
            <a:rect l="l" t="t" r="r" b="b"/>
            <a:pathLst>
              <a:path w="5408930">
                <a:moveTo>
                  <a:pt x="0" y="0"/>
                </a:moveTo>
                <a:lnTo>
                  <a:pt x="540893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19119" y="769619"/>
            <a:ext cx="0" cy="5810250"/>
          </a:xfrm>
          <a:custGeom>
            <a:avLst/>
            <a:gdLst/>
            <a:ahLst/>
            <a:cxnLst/>
            <a:rect l="l" t="t" r="r" b="b"/>
            <a:pathLst>
              <a:path h="5810250">
                <a:moveTo>
                  <a:pt x="0" y="0"/>
                </a:moveTo>
                <a:lnTo>
                  <a:pt x="0" y="581025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55770" y="769619"/>
            <a:ext cx="0" cy="5810250"/>
          </a:xfrm>
          <a:custGeom>
            <a:avLst/>
            <a:gdLst/>
            <a:ahLst/>
            <a:cxnLst/>
            <a:rect l="l" t="t" r="r" b="b"/>
            <a:pathLst>
              <a:path h="5810250">
                <a:moveTo>
                  <a:pt x="0" y="0"/>
                </a:moveTo>
                <a:lnTo>
                  <a:pt x="0" y="581025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78450" y="769619"/>
            <a:ext cx="0" cy="5801360"/>
          </a:xfrm>
          <a:custGeom>
            <a:avLst/>
            <a:gdLst/>
            <a:ahLst/>
            <a:cxnLst/>
            <a:rect l="l" t="t" r="r" b="b"/>
            <a:pathLst>
              <a:path h="5801359">
                <a:moveTo>
                  <a:pt x="0" y="0"/>
                </a:moveTo>
                <a:lnTo>
                  <a:pt x="0" y="580135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43979" y="769619"/>
            <a:ext cx="0" cy="5829300"/>
          </a:xfrm>
          <a:custGeom>
            <a:avLst/>
            <a:gdLst/>
            <a:ahLst/>
            <a:cxnLst/>
            <a:rect l="l" t="t" r="r" b="b"/>
            <a:pathLst>
              <a:path h="5829300">
                <a:moveTo>
                  <a:pt x="0" y="0"/>
                </a:moveTo>
                <a:lnTo>
                  <a:pt x="0" y="58293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94270" y="769619"/>
            <a:ext cx="0" cy="5867400"/>
          </a:xfrm>
          <a:custGeom>
            <a:avLst/>
            <a:gdLst/>
            <a:ahLst/>
            <a:cxnLst/>
            <a:rect l="l" t="t" r="r" b="b"/>
            <a:pathLst>
              <a:path h="5867400">
                <a:moveTo>
                  <a:pt x="0" y="0"/>
                </a:moveTo>
                <a:lnTo>
                  <a:pt x="0" y="58674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559800" y="769619"/>
            <a:ext cx="0" cy="5858510"/>
          </a:xfrm>
          <a:custGeom>
            <a:avLst/>
            <a:gdLst/>
            <a:ahLst/>
            <a:cxnLst/>
            <a:rect l="l" t="t" r="r" b="b"/>
            <a:pathLst>
              <a:path h="5858509">
                <a:moveTo>
                  <a:pt x="0" y="0"/>
                </a:moveTo>
                <a:lnTo>
                  <a:pt x="0" y="585850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</p:spTree>
    <p:extLst>
      <p:ext uri="{BB962C8B-B14F-4D97-AF65-F5344CB8AC3E}">
        <p14:creationId xmlns:p14="http://schemas.microsoft.com/office/powerpoint/2010/main" val="980513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3120" y="722671"/>
            <a:ext cx="777240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/>
              <a:t>Precedence</a:t>
            </a:r>
            <a:r>
              <a:rPr sz="3600" b="1" spc="5" dirty="0"/>
              <a:t> </a:t>
            </a:r>
            <a:r>
              <a:rPr sz="3600" b="1" dirty="0"/>
              <a:t>Graph</a:t>
            </a:r>
            <a:r>
              <a:rPr sz="3600" b="1" spc="-10" dirty="0"/>
              <a:t> </a:t>
            </a:r>
            <a:r>
              <a:rPr sz="3600" b="1" spc="-5" dirty="0"/>
              <a:t>for</a:t>
            </a:r>
            <a:r>
              <a:rPr sz="3600" b="1" dirty="0"/>
              <a:t> Schedule</a:t>
            </a:r>
            <a:r>
              <a:rPr sz="3600" b="1" spc="-5" dirty="0"/>
              <a:t> </a:t>
            </a:r>
            <a:r>
              <a:rPr sz="3600" b="1" dirty="0"/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27270" y="4217670"/>
            <a:ext cx="21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i="1" dirty="0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10151" y="4422141"/>
            <a:ext cx="123825" cy="226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400" spc="-10" dirty="0">
                <a:latin typeface="Arial MT"/>
                <a:cs typeface="Arial MT"/>
              </a:rPr>
              <a:t>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58610" y="4414520"/>
            <a:ext cx="110489" cy="115570"/>
          </a:xfrm>
          <a:custGeom>
            <a:avLst/>
            <a:gdLst/>
            <a:ahLst/>
            <a:cxnLst/>
            <a:rect l="l" t="t" r="r" b="b"/>
            <a:pathLst>
              <a:path w="110489" h="115570">
                <a:moveTo>
                  <a:pt x="110489" y="0"/>
                </a:moveTo>
                <a:lnTo>
                  <a:pt x="0" y="40639"/>
                </a:lnTo>
                <a:lnTo>
                  <a:pt x="6350" y="59689"/>
                </a:lnTo>
                <a:lnTo>
                  <a:pt x="83819" y="30479"/>
                </a:lnTo>
                <a:lnTo>
                  <a:pt x="66039" y="111759"/>
                </a:lnTo>
                <a:lnTo>
                  <a:pt x="86360" y="115569"/>
                </a:lnTo>
                <a:lnTo>
                  <a:pt x="1104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194300" y="4481829"/>
            <a:ext cx="1521460" cy="266700"/>
            <a:chOff x="3670300" y="4481829"/>
            <a:chExt cx="1521460" cy="266700"/>
          </a:xfrm>
        </p:grpSpPr>
        <p:sp>
          <p:nvSpPr>
            <p:cNvPr id="7" name="object 7"/>
            <p:cNvSpPr/>
            <p:nvPr/>
          </p:nvSpPr>
          <p:spPr>
            <a:xfrm>
              <a:off x="3738880" y="4481829"/>
              <a:ext cx="1452880" cy="266700"/>
            </a:xfrm>
            <a:custGeom>
              <a:avLst/>
              <a:gdLst/>
              <a:ahLst/>
              <a:cxnLst/>
              <a:rect l="l" t="t" r="r" b="b"/>
              <a:pathLst>
                <a:path w="1452879" h="266700">
                  <a:moveTo>
                    <a:pt x="1452880" y="6350"/>
                  </a:moveTo>
                  <a:lnTo>
                    <a:pt x="1449070" y="2540"/>
                  </a:lnTo>
                  <a:lnTo>
                    <a:pt x="1445260" y="0"/>
                  </a:lnTo>
                  <a:lnTo>
                    <a:pt x="1426210" y="17780"/>
                  </a:lnTo>
                  <a:lnTo>
                    <a:pt x="1426768" y="18351"/>
                  </a:lnTo>
                  <a:lnTo>
                    <a:pt x="1402080" y="38100"/>
                  </a:lnTo>
                  <a:lnTo>
                    <a:pt x="1376781" y="57378"/>
                  </a:lnTo>
                  <a:lnTo>
                    <a:pt x="1376680" y="57150"/>
                  </a:lnTo>
                  <a:lnTo>
                    <a:pt x="1347470" y="77470"/>
                  </a:lnTo>
                  <a:lnTo>
                    <a:pt x="1286510" y="113030"/>
                  </a:lnTo>
                  <a:lnTo>
                    <a:pt x="1216660" y="146050"/>
                  </a:lnTo>
                  <a:lnTo>
                    <a:pt x="1179830" y="161290"/>
                  </a:lnTo>
                  <a:lnTo>
                    <a:pt x="1141730" y="175260"/>
                  </a:lnTo>
                  <a:lnTo>
                    <a:pt x="1101090" y="187960"/>
                  </a:lnTo>
                  <a:lnTo>
                    <a:pt x="1060742" y="200571"/>
                  </a:lnTo>
                  <a:lnTo>
                    <a:pt x="1060450" y="199390"/>
                  </a:lnTo>
                  <a:lnTo>
                    <a:pt x="1018540" y="210820"/>
                  </a:lnTo>
                  <a:lnTo>
                    <a:pt x="975360" y="220980"/>
                  </a:lnTo>
                  <a:lnTo>
                    <a:pt x="975423" y="221195"/>
                  </a:lnTo>
                  <a:lnTo>
                    <a:pt x="932180" y="228600"/>
                  </a:lnTo>
                  <a:lnTo>
                    <a:pt x="886460" y="236220"/>
                  </a:lnTo>
                  <a:lnTo>
                    <a:pt x="840740" y="242570"/>
                  </a:lnTo>
                  <a:lnTo>
                    <a:pt x="840765" y="242709"/>
                  </a:lnTo>
                  <a:lnTo>
                    <a:pt x="795020" y="247650"/>
                  </a:lnTo>
                  <a:lnTo>
                    <a:pt x="748030" y="252730"/>
                  </a:lnTo>
                  <a:lnTo>
                    <a:pt x="701040" y="255270"/>
                  </a:lnTo>
                  <a:lnTo>
                    <a:pt x="654050" y="256540"/>
                  </a:lnTo>
                  <a:lnTo>
                    <a:pt x="607060" y="256540"/>
                  </a:lnTo>
                  <a:lnTo>
                    <a:pt x="560070" y="255270"/>
                  </a:lnTo>
                  <a:lnTo>
                    <a:pt x="513080" y="254000"/>
                  </a:lnTo>
                  <a:lnTo>
                    <a:pt x="466090" y="250190"/>
                  </a:lnTo>
                  <a:lnTo>
                    <a:pt x="420370" y="245110"/>
                  </a:lnTo>
                  <a:lnTo>
                    <a:pt x="374650" y="240030"/>
                  </a:lnTo>
                  <a:lnTo>
                    <a:pt x="328930" y="233680"/>
                  </a:lnTo>
                  <a:lnTo>
                    <a:pt x="284480" y="224790"/>
                  </a:lnTo>
                  <a:lnTo>
                    <a:pt x="241300" y="215900"/>
                  </a:lnTo>
                  <a:lnTo>
                    <a:pt x="198120" y="205740"/>
                  </a:lnTo>
                  <a:lnTo>
                    <a:pt x="156210" y="194310"/>
                  </a:lnTo>
                  <a:lnTo>
                    <a:pt x="116840" y="181610"/>
                  </a:lnTo>
                  <a:lnTo>
                    <a:pt x="77470" y="167640"/>
                  </a:lnTo>
                  <a:lnTo>
                    <a:pt x="39370" y="153670"/>
                  </a:lnTo>
                  <a:lnTo>
                    <a:pt x="3810" y="138430"/>
                  </a:lnTo>
                  <a:lnTo>
                    <a:pt x="1270" y="142240"/>
                  </a:lnTo>
                  <a:lnTo>
                    <a:pt x="35560" y="162560"/>
                  </a:lnTo>
                  <a:lnTo>
                    <a:pt x="73660" y="176530"/>
                  </a:lnTo>
                  <a:lnTo>
                    <a:pt x="113030" y="190500"/>
                  </a:lnTo>
                  <a:lnTo>
                    <a:pt x="153670" y="203200"/>
                  </a:lnTo>
                  <a:lnTo>
                    <a:pt x="195580" y="214630"/>
                  </a:lnTo>
                  <a:lnTo>
                    <a:pt x="238760" y="224790"/>
                  </a:lnTo>
                  <a:lnTo>
                    <a:pt x="281940" y="233680"/>
                  </a:lnTo>
                  <a:lnTo>
                    <a:pt x="283210" y="233680"/>
                  </a:lnTo>
                  <a:lnTo>
                    <a:pt x="327660" y="242570"/>
                  </a:lnTo>
                  <a:lnTo>
                    <a:pt x="372110" y="248920"/>
                  </a:lnTo>
                  <a:lnTo>
                    <a:pt x="419100" y="255270"/>
                  </a:lnTo>
                  <a:lnTo>
                    <a:pt x="466090" y="260350"/>
                  </a:lnTo>
                  <a:lnTo>
                    <a:pt x="511810" y="262890"/>
                  </a:lnTo>
                  <a:lnTo>
                    <a:pt x="560070" y="265430"/>
                  </a:lnTo>
                  <a:lnTo>
                    <a:pt x="607060" y="266700"/>
                  </a:lnTo>
                  <a:lnTo>
                    <a:pt x="654050" y="265430"/>
                  </a:lnTo>
                  <a:lnTo>
                    <a:pt x="702310" y="264160"/>
                  </a:lnTo>
                  <a:lnTo>
                    <a:pt x="749300" y="261620"/>
                  </a:lnTo>
                  <a:lnTo>
                    <a:pt x="796290" y="257810"/>
                  </a:lnTo>
                  <a:lnTo>
                    <a:pt x="842010" y="252730"/>
                  </a:lnTo>
                  <a:lnTo>
                    <a:pt x="887730" y="246380"/>
                  </a:lnTo>
                  <a:lnTo>
                    <a:pt x="933450" y="238760"/>
                  </a:lnTo>
                  <a:lnTo>
                    <a:pt x="977900" y="229870"/>
                  </a:lnTo>
                  <a:lnTo>
                    <a:pt x="1021080" y="219710"/>
                  </a:lnTo>
                  <a:lnTo>
                    <a:pt x="1062990" y="209550"/>
                  </a:lnTo>
                  <a:lnTo>
                    <a:pt x="1104900" y="196850"/>
                  </a:lnTo>
                  <a:lnTo>
                    <a:pt x="1144270" y="184150"/>
                  </a:lnTo>
                  <a:lnTo>
                    <a:pt x="1183640" y="170180"/>
                  </a:lnTo>
                  <a:lnTo>
                    <a:pt x="1220470" y="154940"/>
                  </a:lnTo>
                  <a:lnTo>
                    <a:pt x="1256030" y="138430"/>
                  </a:lnTo>
                  <a:lnTo>
                    <a:pt x="1322070" y="102870"/>
                  </a:lnTo>
                  <a:lnTo>
                    <a:pt x="1323340" y="102870"/>
                  </a:lnTo>
                  <a:lnTo>
                    <a:pt x="1352550" y="85090"/>
                  </a:lnTo>
                  <a:lnTo>
                    <a:pt x="1381760" y="66040"/>
                  </a:lnTo>
                  <a:lnTo>
                    <a:pt x="1381760" y="64770"/>
                  </a:lnTo>
                  <a:lnTo>
                    <a:pt x="1408430" y="45720"/>
                  </a:lnTo>
                  <a:lnTo>
                    <a:pt x="1432560" y="24130"/>
                  </a:lnTo>
                  <a:lnTo>
                    <a:pt x="1433830" y="24130"/>
                  </a:lnTo>
                  <a:lnTo>
                    <a:pt x="1452880" y="6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70300" y="4585969"/>
              <a:ext cx="107950" cy="58419"/>
            </a:xfrm>
            <a:custGeom>
              <a:avLst/>
              <a:gdLst/>
              <a:ahLst/>
              <a:cxnLst/>
              <a:rect l="l" t="t" r="r" b="b"/>
              <a:pathLst>
                <a:path w="107950" h="58420">
                  <a:moveTo>
                    <a:pt x="107950" y="49530"/>
                  </a:moveTo>
                  <a:lnTo>
                    <a:pt x="72390" y="34290"/>
                  </a:lnTo>
                  <a:lnTo>
                    <a:pt x="38100" y="17780"/>
                  </a:lnTo>
                  <a:lnTo>
                    <a:pt x="5080" y="0"/>
                  </a:lnTo>
                  <a:lnTo>
                    <a:pt x="2540" y="3810"/>
                  </a:lnTo>
                  <a:lnTo>
                    <a:pt x="0" y="8890"/>
                  </a:lnTo>
                  <a:lnTo>
                    <a:pt x="33020" y="25400"/>
                  </a:lnTo>
                  <a:lnTo>
                    <a:pt x="67310" y="43180"/>
                  </a:lnTo>
                  <a:lnTo>
                    <a:pt x="68580" y="43180"/>
                  </a:lnTo>
                  <a:lnTo>
                    <a:pt x="104140" y="58420"/>
                  </a:lnTo>
                  <a:lnTo>
                    <a:pt x="106680" y="53340"/>
                  </a:lnTo>
                  <a:lnTo>
                    <a:pt x="107950" y="495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756401" y="4038600"/>
            <a:ext cx="357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i="1" spc="-20" dirty="0">
                <a:latin typeface="Arial"/>
                <a:cs typeface="Arial"/>
              </a:rPr>
              <a:t>T</a:t>
            </a:r>
            <a:r>
              <a:rPr sz="2100" spc="-30" baseline="-23809" dirty="0">
                <a:latin typeface="Arial MT"/>
                <a:cs typeface="Arial MT"/>
              </a:rPr>
              <a:t>4</a:t>
            </a:r>
            <a:endParaRPr sz="2100" baseline="-23809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65651" y="2033270"/>
            <a:ext cx="357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i="1" spc="-20" dirty="0">
                <a:latin typeface="Arial"/>
                <a:cs typeface="Arial"/>
              </a:rPr>
              <a:t>T</a:t>
            </a:r>
            <a:r>
              <a:rPr sz="2100" spc="-30" baseline="-23809" dirty="0">
                <a:latin typeface="Arial MT"/>
                <a:cs typeface="Arial MT"/>
              </a:rPr>
              <a:t>1</a:t>
            </a:r>
            <a:endParaRPr sz="2100" baseline="-23809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65950" y="2505709"/>
            <a:ext cx="224790" cy="1475740"/>
          </a:xfrm>
          <a:custGeom>
            <a:avLst/>
            <a:gdLst/>
            <a:ahLst/>
            <a:cxnLst/>
            <a:rect l="l" t="t" r="r" b="b"/>
            <a:pathLst>
              <a:path w="224789" h="1475739">
                <a:moveTo>
                  <a:pt x="104140" y="1422400"/>
                </a:moveTo>
                <a:lnTo>
                  <a:pt x="95250" y="1403350"/>
                </a:lnTo>
                <a:lnTo>
                  <a:pt x="21590" y="1441450"/>
                </a:lnTo>
                <a:lnTo>
                  <a:pt x="29210" y="1360170"/>
                </a:lnTo>
                <a:lnTo>
                  <a:pt x="10160" y="1358900"/>
                </a:lnTo>
                <a:lnTo>
                  <a:pt x="0" y="1475740"/>
                </a:lnTo>
                <a:lnTo>
                  <a:pt x="104140" y="1422400"/>
                </a:lnTo>
                <a:close/>
              </a:path>
              <a:path w="224789" h="1475739">
                <a:moveTo>
                  <a:pt x="224790" y="721360"/>
                </a:moveTo>
                <a:lnTo>
                  <a:pt x="223520" y="673100"/>
                </a:lnTo>
                <a:lnTo>
                  <a:pt x="222250" y="624840"/>
                </a:lnTo>
                <a:lnTo>
                  <a:pt x="218440" y="576580"/>
                </a:lnTo>
                <a:lnTo>
                  <a:pt x="212090" y="529590"/>
                </a:lnTo>
                <a:lnTo>
                  <a:pt x="205740" y="481330"/>
                </a:lnTo>
                <a:lnTo>
                  <a:pt x="196850" y="435610"/>
                </a:lnTo>
                <a:lnTo>
                  <a:pt x="187960" y="389890"/>
                </a:lnTo>
                <a:lnTo>
                  <a:pt x="176530" y="344170"/>
                </a:lnTo>
                <a:lnTo>
                  <a:pt x="163830" y="300990"/>
                </a:lnTo>
                <a:lnTo>
                  <a:pt x="149860" y="257810"/>
                </a:lnTo>
                <a:lnTo>
                  <a:pt x="134620" y="217170"/>
                </a:lnTo>
                <a:lnTo>
                  <a:pt x="119380" y="176530"/>
                </a:lnTo>
                <a:lnTo>
                  <a:pt x="101600" y="138430"/>
                </a:lnTo>
                <a:lnTo>
                  <a:pt x="101600" y="137160"/>
                </a:lnTo>
                <a:lnTo>
                  <a:pt x="82550" y="101600"/>
                </a:lnTo>
                <a:lnTo>
                  <a:pt x="62230" y="66040"/>
                </a:lnTo>
                <a:lnTo>
                  <a:pt x="41910" y="31750"/>
                </a:lnTo>
                <a:lnTo>
                  <a:pt x="20320" y="0"/>
                </a:lnTo>
                <a:lnTo>
                  <a:pt x="16510" y="2540"/>
                </a:lnTo>
                <a:lnTo>
                  <a:pt x="11430" y="5080"/>
                </a:lnTo>
                <a:lnTo>
                  <a:pt x="34290" y="36830"/>
                </a:lnTo>
                <a:lnTo>
                  <a:pt x="54610" y="69850"/>
                </a:lnTo>
                <a:lnTo>
                  <a:pt x="74637" y="104927"/>
                </a:lnTo>
                <a:lnTo>
                  <a:pt x="73660" y="105410"/>
                </a:lnTo>
                <a:lnTo>
                  <a:pt x="92710" y="142240"/>
                </a:lnTo>
                <a:lnTo>
                  <a:pt x="110490" y="180340"/>
                </a:lnTo>
                <a:lnTo>
                  <a:pt x="127000" y="219710"/>
                </a:lnTo>
                <a:lnTo>
                  <a:pt x="142240" y="261620"/>
                </a:lnTo>
                <a:lnTo>
                  <a:pt x="154940" y="303530"/>
                </a:lnTo>
                <a:lnTo>
                  <a:pt x="167640" y="346710"/>
                </a:lnTo>
                <a:lnTo>
                  <a:pt x="177800" y="392430"/>
                </a:lnTo>
                <a:lnTo>
                  <a:pt x="187960" y="436880"/>
                </a:lnTo>
                <a:lnTo>
                  <a:pt x="196850" y="483870"/>
                </a:lnTo>
                <a:lnTo>
                  <a:pt x="203200" y="530860"/>
                </a:lnTo>
                <a:lnTo>
                  <a:pt x="203327" y="530834"/>
                </a:lnTo>
                <a:lnTo>
                  <a:pt x="208280" y="577850"/>
                </a:lnTo>
                <a:lnTo>
                  <a:pt x="212090" y="626110"/>
                </a:lnTo>
                <a:lnTo>
                  <a:pt x="214630" y="674370"/>
                </a:lnTo>
                <a:lnTo>
                  <a:pt x="215900" y="721360"/>
                </a:lnTo>
                <a:lnTo>
                  <a:pt x="214630" y="770890"/>
                </a:lnTo>
                <a:lnTo>
                  <a:pt x="213385" y="817892"/>
                </a:lnTo>
                <a:lnTo>
                  <a:pt x="209550" y="866140"/>
                </a:lnTo>
                <a:lnTo>
                  <a:pt x="204597" y="913168"/>
                </a:lnTo>
                <a:lnTo>
                  <a:pt x="204470" y="913130"/>
                </a:lnTo>
                <a:lnTo>
                  <a:pt x="198120" y="960120"/>
                </a:lnTo>
                <a:lnTo>
                  <a:pt x="190500" y="1007110"/>
                </a:lnTo>
                <a:lnTo>
                  <a:pt x="181610" y="1052830"/>
                </a:lnTo>
                <a:lnTo>
                  <a:pt x="170180" y="1097280"/>
                </a:lnTo>
                <a:lnTo>
                  <a:pt x="159016" y="1140650"/>
                </a:lnTo>
                <a:lnTo>
                  <a:pt x="158750" y="1140460"/>
                </a:lnTo>
                <a:lnTo>
                  <a:pt x="144780" y="1183640"/>
                </a:lnTo>
                <a:lnTo>
                  <a:pt x="130810" y="1225550"/>
                </a:lnTo>
                <a:lnTo>
                  <a:pt x="114300" y="1266190"/>
                </a:lnTo>
                <a:lnTo>
                  <a:pt x="97790" y="1304290"/>
                </a:lnTo>
                <a:lnTo>
                  <a:pt x="78740" y="1341120"/>
                </a:lnTo>
                <a:lnTo>
                  <a:pt x="59690" y="1376680"/>
                </a:lnTo>
                <a:lnTo>
                  <a:pt x="46990" y="1398270"/>
                </a:lnTo>
                <a:lnTo>
                  <a:pt x="54610" y="1403350"/>
                </a:lnTo>
                <a:lnTo>
                  <a:pt x="87630" y="1346200"/>
                </a:lnTo>
                <a:lnTo>
                  <a:pt x="105410" y="1308100"/>
                </a:lnTo>
                <a:lnTo>
                  <a:pt x="123190" y="1268730"/>
                </a:lnTo>
                <a:lnTo>
                  <a:pt x="139700" y="1229360"/>
                </a:lnTo>
                <a:lnTo>
                  <a:pt x="139700" y="1228090"/>
                </a:lnTo>
                <a:lnTo>
                  <a:pt x="153670" y="1186180"/>
                </a:lnTo>
                <a:lnTo>
                  <a:pt x="167640" y="1144270"/>
                </a:lnTo>
                <a:lnTo>
                  <a:pt x="167640" y="1143000"/>
                </a:lnTo>
                <a:lnTo>
                  <a:pt x="180340" y="1099820"/>
                </a:lnTo>
                <a:lnTo>
                  <a:pt x="190500" y="1054100"/>
                </a:lnTo>
                <a:lnTo>
                  <a:pt x="199390" y="1008380"/>
                </a:lnTo>
                <a:lnTo>
                  <a:pt x="207010" y="962660"/>
                </a:lnTo>
                <a:lnTo>
                  <a:pt x="214630" y="914400"/>
                </a:lnTo>
                <a:lnTo>
                  <a:pt x="218440" y="866140"/>
                </a:lnTo>
                <a:lnTo>
                  <a:pt x="222250" y="819150"/>
                </a:lnTo>
                <a:lnTo>
                  <a:pt x="224790" y="770890"/>
                </a:lnTo>
                <a:lnTo>
                  <a:pt x="224790" y="721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78930" y="2033270"/>
            <a:ext cx="357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400" i="1" spc="-20" dirty="0">
                <a:latin typeface="Arial"/>
                <a:cs typeface="Arial"/>
              </a:rPr>
              <a:t>T</a:t>
            </a:r>
            <a:r>
              <a:rPr sz="2100" spc="-30" baseline="-23809" dirty="0">
                <a:latin typeface="Arial MT"/>
                <a:cs typeface="Arial MT"/>
              </a:rPr>
              <a:t>2</a:t>
            </a:r>
            <a:endParaRPr sz="2100" baseline="-23809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22520" y="1874520"/>
            <a:ext cx="1724660" cy="383540"/>
            <a:chOff x="3398520" y="1874520"/>
            <a:chExt cx="1724660" cy="383540"/>
          </a:xfrm>
        </p:grpSpPr>
        <p:sp>
          <p:nvSpPr>
            <p:cNvPr id="14" name="object 14"/>
            <p:cNvSpPr/>
            <p:nvPr/>
          </p:nvSpPr>
          <p:spPr>
            <a:xfrm>
              <a:off x="3677920" y="1874519"/>
              <a:ext cx="1445260" cy="383540"/>
            </a:xfrm>
            <a:custGeom>
              <a:avLst/>
              <a:gdLst/>
              <a:ahLst/>
              <a:cxnLst/>
              <a:rect l="l" t="t" r="r" b="b"/>
              <a:pathLst>
                <a:path w="1445260" h="383539">
                  <a:moveTo>
                    <a:pt x="1397000" y="306070"/>
                  </a:moveTo>
                  <a:lnTo>
                    <a:pt x="1394460" y="302260"/>
                  </a:lnTo>
                  <a:lnTo>
                    <a:pt x="1371600" y="278130"/>
                  </a:lnTo>
                  <a:lnTo>
                    <a:pt x="1347470" y="254000"/>
                  </a:lnTo>
                  <a:lnTo>
                    <a:pt x="1346200" y="254000"/>
                  </a:lnTo>
                  <a:lnTo>
                    <a:pt x="1319530" y="229870"/>
                  </a:lnTo>
                  <a:lnTo>
                    <a:pt x="1259840" y="186690"/>
                  </a:lnTo>
                  <a:lnTo>
                    <a:pt x="1226820" y="166370"/>
                  </a:lnTo>
                  <a:lnTo>
                    <a:pt x="1192530" y="146050"/>
                  </a:lnTo>
                  <a:lnTo>
                    <a:pt x="1156970" y="128270"/>
                  </a:lnTo>
                  <a:lnTo>
                    <a:pt x="1118870" y="110490"/>
                  </a:lnTo>
                  <a:lnTo>
                    <a:pt x="1079500" y="93980"/>
                  </a:lnTo>
                  <a:lnTo>
                    <a:pt x="1040130" y="78740"/>
                  </a:lnTo>
                  <a:lnTo>
                    <a:pt x="1038860" y="78740"/>
                  </a:lnTo>
                  <a:lnTo>
                    <a:pt x="998220" y="66040"/>
                  </a:lnTo>
                  <a:lnTo>
                    <a:pt x="955040" y="53340"/>
                  </a:lnTo>
                  <a:lnTo>
                    <a:pt x="955040" y="52070"/>
                  </a:lnTo>
                  <a:lnTo>
                    <a:pt x="910590" y="40640"/>
                  </a:lnTo>
                  <a:lnTo>
                    <a:pt x="866140" y="31750"/>
                  </a:lnTo>
                  <a:lnTo>
                    <a:pt x="820420" y="22860"/>
                  </a:lnTo>
                  <a:lnTo>
                    <a:pt x="774700" y="15240"/>
                  </a:lnTo>
                  <a:lnTo>
                    <a:pt x="727710" y="10160"/>
                  </a:lnTo>
                  <a:lnTo>
                    <a:pt x="726440" y="10160"/>
                  </a:lnTo>
                  <a:lnTo>
                    <a:pt x="679450" y="5080"/>
                  </a:lnTo>
                  <a:lnTo>
                    <a:pt x="632460" y="2540"/>
                  </a:lnTo>
                  <a:lnTo>
                    <a:pt x="584200" y="1270"/>
                  </a:lnTo>
                  <a:lnTo>
                    <a:pt x="535940" y="0"/>
                  </a:lnTo>
                  <a:lnTo>
                    <a:pt x="488950" y="1270"/>
                  </a:lnTo>
                  <a:lnTo>
                    <a:pt x="440690" y="3810"/>
                  </a:lnTo>
                  <a:lnTo>
                    <a:pt x="393700" y="8890"/>
                  </a:lnTo>
                  <a:lnTo>
                    <a:pt x="346710" y="13970"/>
                  </a:lnTo>
                  <a:lnTo>
                    <a:pt x="299720" y="20320"/>
                  </a:lnTo>
                  <a:lnTo>
                    <a:pt x="254000" y="29210"/>
                  </a:lnTo>
                  <a:lnTo>
                    <a:pt x="209550" y="39370"/>
                  </a:lnTo>
                  <a:lnTo>
                    <a:pt x="165100" y="49530"/>
                  </a:lnTo>
                  <a:lnTo>
                    <a:pt x="163830" y="49530"/>
                  </a:lnTo>
                  <a:lnTo>
                    <a:pt x="121920" y="62230"/>
                  </a:lnTo>
                  <a:lnTo>
                    <a:pt x="80010" y="76200"/>
                  </a:lnTo>
                  <a:lnTo>
                    <a:pt x="39370" y="90170"/>
                  </a:lnTo>
                  <a:lnTo>
                    <a:pt x="38100" y="90170"/>
                  </a:lnTo>
                  <a:lnTo>
                    <a:pt x="0" y="106680"/>
                  </a:lnTo>
                  <a:lnTo>
                    <a:pt x="1270" y="110490"/>
                  </a:lnTo>
                  <a:lnTo>
                    <a:pt x="2540" y="115570"/>
                  </a:lnTo>
                  <a:lnTo>
                    <a:pt x="41910" y="99060"/>
                  </a:lnTo>
                  <a:lnTo>
                    <a:pt x="82550" y="83820"/>
                  </a:lnTo>
                  <a:lnTo>
                    <a:pt x="124460" y="71120"/>
                  </a:lnTo>
                  <a:lnTo>
                    <a:pt x="167640" y="58420"/>
                  </a:lnTo>
                  <a:lnTo>
                    <a:pt x="167538" y="58153"/>
                  </a:lnTo>
                  <a:lnTo>
                    <a:pt x="210820" y="48260"/>
                  </a:lnTo>
                  <a:lnTo>
                    <a:pt x="255270" y="38100"/>
                  </a:lnTo>
                  <a:lnTo>
                    <a:pt x="300990" y="30480"/>
                  </a:lnTo>
                  <a:lnTo>
                    <a:pt x="347980" y="22860"/>
                  </a:lnTo>
                  <a:lnTo>
                    <a:pt x="347929" y="22733"/>
                  </a:lnTo>
                  <a:lnTo>
                    <a:pt x="393700" y="17780"/>
                  </a:lnTo>
                  <a:lnTo>
                    <a:pt x="440690" y="13970"/>
                  </a:lnTo>
                  <a:lnTo>
                    <a:pt x="488950" y="11430"/>
                  </a:lnTo>
                  <a:lnTo>
                    <a:pt x="535940" y="10160"/>
                  </a:lnTo>
                  <a:lnTo>
                    <a:pt x="584200" y="10160"/>
                  </a:lnTo>
                  <a:lnTo>
                    <a:pt x="631190" y="11404"/>
                  </a:lnTo>
                  <a:lnTo>
                    <a:pt x="679450" y="15240"/>
                  </a:lnTo>
                  <a:lnTo>
                    <a:pt x="726440" y="19050"/>
                  </a:lnTo>
                  <a:lnTo>
                    <a:pt x="772160" y="25400"/>
                  </a:lnTo>
                  <a:lnTo>
                    <a:pt x="819150" y="31750"/>
                  </a:lnTo>
                  <a:lnTo>
                    <a:pt x="863600" y="40640"/>
                  </a:lnTo>
                  <a:lnTo>
                    <a:pt x="909320" y="50800"/>
                  </a:lnTo>
                  <a:lnTo>
                    <a:pt x="952500" y="62230"/>
                  </a:lnTo>
                  <a:lnTo>
                    <a:pt x="952792" y="61061"/>
                  </a:lnTo>
                  <a:lnTo>
                    <a:pt x="994410" y="73660"/>
                  </a:lnTo>
                  <a:lnTo>
                    <a:pt x="1036320" y="87630"/>
                  </a:lnTo>
                  <a:lnTo>
                    <a:pt x="1075690" y="102870"/>
                  </a:lnTo>
                  <a:lnTo>
                    <a:pt x="1115060" y="119380"/>
                  </a:lnTo>
                  <a:lnTo>
                    <a:pt x="1153160" y="135890"/>
                  </a:lnTo>
                  <a:lnTo>
                    <a:pt x="1188720" y="154940"/>
                  </a:lnTo>
                  <a:lnTo>
                    <a:pt x="1223010" y="173990"/>
                  </a:lnTo>
                  <a:lnTo>
                    <a:pt x="1285240" y="215900"/>
                  </a:lnTo>
                  <a:lnTo>
                    <a:pt x="1340434" y="259765"/>
                  </a:lnTo>
                  <a:lnTo>
                    <a:pt x="1339850" y="260350"/>
                  </a:lnTo>
                  <a:lnTo>
                    <a:pt x="1365250" y="284480"/>
                  </a:lnTo>
                  <a:lnTo>
                    <a:pt x="1386840" y="308610"/>
                  </a:lnTo>
                  <a:lnTo>
                    <a:pt x="1389380" y="311150"/>
                  </a:lnTo>
                  <a:lnTo>
                    <a:pt x="1397000" y="306070"/>
                  </a:lnTo>
                  <a:close/>
                </a:path>
                <a:path w="1445260" h="383539">
                  <a:moveTo>
                    <a:pt x="1445260" y="383540"/>
                  </a:moveTo>
                  <a:lnTo>
                    <a:pt x="1430020" y="266700"/>
                  </a:lnTo>
                  <a:lnTo>
                    <a:pt x="1409700" y="267970"/>
                  </a:lnTo>
                  <a:lnTo>
                    <a:pt x="1421130" y="350520"/>
                  </a:lnTo>
                  <a:lnTo>
                    <a:pt x="1346200" y="314960"/>
                  </a:lnTo>
                  <a:lnTo>
                    <a:pt x="1338580" y="334010"/>
                  </a:lnTo>
                  <a:lnTo>
                    <a:pt x="1445260" y="383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98520" y="1981199"/>
              <a:ext cx="281940" cy="196850"/>
            </a:xfrm>
            <a:custGeom>
              <a:avLst/>
              <a:gdLst/>
              <a:ahLst/>
              <a:cxnLst/>
              <a:rect l="l" t="t" r="r" b="b"/>
              <a:pathLst>
                <a:path w="281939" h="196850">
                  <a:moveTo>
                    <a:pt x="281940" y="8890"/>
                  </a:moveTo>
                  <a:lnTo>
                    <a:pt x="280670" y="3810"/>
                  </a:lnTo>
                  <a:lnTo>
                    <a:pt x="279400" y="0"/>
                  </a:lnTo>
                  <a:lnTo>
                    <a:pt x="241300" y="16510"/>
                  </a:lnTo>
                  <a:lnTo>
                    <a:pt x="204470" y="34290"/>
                  </a:lnTo>
                  <a:lnTo>
                    <a:pt x="204470" y="35560"/>
                  </a:lnTo>
                  <a:lnTo>
                    <a:pt x="168910" y="54610"/>
                  </a:lnTo>
                  <a:lnTo>
                    <a:pt x="135890" y="74930"/>
                  </a:lnTo>
                  <a:lnTo>
                    <a:pt x="105410" y="96520"/>
                  </a:lnTo>
                  <a:lnTo>
                    <a:pt x="104140" y="96520"/>
                  </a:lnTo>
                  <a:lnTo>
                    <a:pt x="74930" y="118110"/>
                  </a:lnTo>
                  <a:lnTo>
                    <a:pt x="48260" y="140970"/>
                  </a:lnTo>
                  <a:lnTo>
                    <a:pt x="48260" y="142240"/>
                  </a:lnTo>
                  <a:lnTo>
                    <a:pt x="22860" y="165100"/>
                  </a:lnTo>
                  <a:lnTo>
                    <a:pt x="0" y="190500"/>
                  </a:lnTo>
                  <a:lnTo>
                    <a:pt x="6350" y="196850"/>
                  </a:lnTo>
                  <a:lnTo>
                    <a:pt x="29210" y="171450"/>
                  </a:lnTo>
                  <a:lnTo>
                    <a:pt x="54610" y="148590"/>
                  </a:lnTo>
                  <a:lnTo>
                    <a:pt x="110490" y="104140"/>
                  </a:lnTo>
                  <a:lnTo>
                    <a:pt x="173990" y="62230"/>
                  </a:lnTo>
                  <a:lnTo>
                    <a:pt x="208280" y="43180"/>
                  </a:lnTo>
                  <a:lnTo>
                    <a:pt x="245110" y="25400"/>
                  </a:lnTo>
                  <a:lnTo>
                    <a:pt x="281940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428489" y="2392679"/>
            <a:ext cx="445770" cy="1865630"/>
            <a:chOff x="2904489" y="2392679"/>
            <a:chExt cx="445770" cy="1865630"/>
          </a:xfrm>
        </p:grpSpPr>
        <p:sp>
          <p:nvSpPr>
            <p:cNvPr id="17" name="object 17"/>
            <p:cNvSpPr/>
            <p:nvPr/>
          </p:nvSpPr>
          <p:spPr>
            <a:xfrm>
              <a:off x="2904490" y="2992119"/>
              <a:ext cx="445770" cy="1266190"/>
            </a:xfrm>
            <a:custGeom>
              <a:avLst/>
              <a:gdLst/>
              <a:ahLst/>
              <a:cxnLst/>
              <a:rect l="l" t="t" r="r" b="b"/>
              <a:pathLst>
                <a:path w="445770" h="1266189">
                  <a:moveTo>
                    <a:pt x="358127" y="1212850"/>
                  </a:moveTo>
                  <a:lnTo>
                    <a:pt x="344170" y="1207770"/>
                  </a:lnTo>
                  <a:lnTo>
                    <a:pt x="324827" y="1199311"/>
                  </a:lnTo>
                  <a:lnTo>
                    <a:pt x="325120" y="1198880"/>
                  </a:lnTo>
                  <a:lnTo>
                    <a:pt x="304800" y="1186180"/>
                  </a:lnTo>
                  <a:lnTo>
                    <a:pt x="284480" y="1172210"/>
                  </a:lnTo>
                  <a:lnTo>
                    <a:pt x="265430" y="1155700"/>
                  </a:lnTo>
                  <a:lnTo>
                    <a:pt x="264922" y="1156462"/>
                  </a:lnTo>
                  <a:lnTo>
                    <a:pt x="246888" y="1138428"/>
                  </a:lnTo>
                  <a:lnTo>
                    <a:pt x="247650" y="1137920"/>
                  </a:lnTo>
                  <a:lnTo>
                    <a:pt x="228600" y="1116330"/>
                  </a:lnTo>
                  <a:lnTo>
                    <a:pt x="193040" y="1069340"/>
                  </a:lnTo>
                  <a:lnTo>
                    <a:pt x="160020" y="1014730"/>
                  </a:lnTo>
                  <a:lnTo>
                    <a:pt x="129540" y="951230"/>
                  </a:lnTo>
                  <a:lnTo>
                    <a:pt x="101600" y="882650"/>
                  </a:lnTo>
                  <a:lnTo>
                    <a:pt x="88900" y="845820"/>
                  </a:lnTo>
                  <a:lnTo>
                    <a:pt x="77470" y="806450"/>
                  </a:lnTo>
                  <a:lnTo>
                    <a:pt x="77177" y="806640"/>
                  </a:lnTo>
                  <a:lnTo>
                    <a:pt x="67310" y="768350"/>
                  </a:lnTo>
                  <a:lnTo>
                    <a:pt x="57150" y="726440"/>
                  </a:lnTo>
                  <a:lnTo>
                    <a:pt x="46990" y="684530"/>
                  </a:lnTo>
                  <a:lnTo>
                    <a:pt x="39370" y="642620"/>
                  </a:lnTo>
                  <a:lnTo>
                    <a:pt x="31750" y="598170"/>
                  </a:lnTo>
                  <a:lnTo>
                    <a:pt x="25400" y="553720"/>
                  </a:lnTo>
                  <a:lnTo>
                    <a:pt x="20320" y="508000"/>
                  </a:lnTo>
                  <a:lnTo>
                    <a:pt x="16510" y="462280"/>
                  </a:lnTo>
                  <a:lnTo>
                    <a:pt x="12700" y="416560"/>
                  </a:lnTo>
                  <a:lnTo>
                    <a:pt x="11430" y="370840"/>
                  </a:lnTo>
                  <a:lnTo>
                    <a:pt x="10160" y="323850"/>
                  </a:lnTo>
                  <a:lnTo>
                    <a:pt x="10160" y="276860"/>
                  </a:lnTo>
                  <a:lnTo>
                    <a:pt x="10160" y="231140"/>
                  </a:lnTo>
                  <a:lnTo>
                    <a:pt x="12700" y="184150"/>
                  </a:lnTo>
                  <a:lnTo>
                    <a:pt x="15240" y="137160"/>
                  </a:lnTo>
                  <a:lnTo>
                    <a:pt x="20320" y="91440"/>
                  </a:lnTo>
                  <a:lnTo>
                    <a:pt x="25400" y="46990"/>
                  </a:lnTo>
                  <a:lnTo>
                    <a:pt x="30480" y="2540"/>
                  </a:lnTo>
                  <a:lnTo>
                    <a:pt x="26670" y="1270"/>
                  </a:lnTo>
                  <a:lnTo>
                    <a:pt x="15240" y="45720"/>
                  </a:lnTo>
                  <a:lnTo>
                    <a:pt x="10160" y="91440"/>
                  </a:lnTo>
                  <a:lnTo>
                    <a:pt x="6350" y="137160"/>
                  </a:lnTo>
                  <a:lnTo>
                    <a:pt x="3810" y="182880"/>
                  </a:lnTo>
                  <a:lnTo>
                    <a:pt x="1270" y="229870"/>
                  </a:lnTo>
                  <a:lnTo>
                    <a:pt x="0" y="276860"/>
                  </a:lnTo>
                  <a:lnTo>
                    <a:pt x="0" y="323850"/>
                  </a:lnTo>
                  <a:lnTo>
                    <a:pt x="1270" y="370840"/>
                  </a:lnTo>
                  <a:lnTo>
                    <a:pt x="3810" y="417830"/>
                  </a:lnTo>
                  <a:lnTo>
                    <a:pt x="7620" y="463550"/>
                  </a:lnTo>
                  <a:lnTo>
                    <a:pt x="11430" y="509270"/>
                  </a:lnTo>
                  <a:lnTo>
                    <a:pt x="11430" y="510540"/>
                  </a:lnTo>
                  <a:lnTo>
                    <a:pt x="16510" y="554990"/>
                  </a:lnTo>
                  <a:lnTo>
                    <a:pt x="22860" y="599440"/>
                  </a:lnTo>
                  <a:lnTo>
                    <a:pt x="30480" y="643890"/>
                  </a:lnTo>
                  <a:lnTo>
                    <a:pt x="38100" y="685800"/>
                  </a:lnTo>
                  <a:lnTo>
                    <a:pt x="38100" y="687070"/>
                  </a:lnTo>
                  <a:lnTo>
                    <a:pt x="46990" y="728980"/>
                  </a:lnTo>
                  <a:lnTo>
                    <a:pt x="57150" y="769620"/>
                  </a:lnTo>
                  <a:lnTo>
                    <a:pt x="68580" y="808990"/>
                  </a:lnTo>
                  <a:lnTo>
                    <a:pt x="68580" y="810260"/>
                  </a:lnTo>
                  <a:lnTo>
                    <a:pt x="80010" y="848360"/>
                  </a:lnTo>
                  <a:lnTo>
                    <a:pt x="92710" y="885190"/>
                  </a:lnTo>
                  <a:lnTo>
                    <a:pt x="106680" y="922020"/>
                  </a:lnTo>
                  <a:lnTo>
                    <a:pt x="135890" y="988060"/>
                  </a:lnTo>
                  <a:lnTo>
                    <a:pt x="168910" y="1047750"/>
                  </a:lnTo>
                  <a:lnTo>
                    <a:pt x="185420" y="1074420"/>
                  </a:lnTo>
                  <a:lnTo>
                    <a:pt x="185420" y="1075690"/>
                  </a:lnTo>
                  <a:lnTo>
                    <a:pt x="203200" y="1099820"/>
                  </a:lnTo>
                  <a:lnTo>
                    <a:pt x="222250" y="1122680"/>
                  </a:lnTo>
                  <a:lnTo>
                    <a:pt x="222250" y="1123950"/>
                  </a:lnTo>
                  <a:lnTo>
                    <a:pt x="240030" y="1144270"/>
                  </a:lnTo>
                  <a:lnTo>
                    <a:pt x="259080" y="1163320"/>
                  </a:lnTo>
                  <a:lnTo>
                    <a:pt x="260350" y="1163320"/>
                  </a:lnTo>
                  <a:lnTo>
                    <a:pt x="279400" y="1179830"/>
                  </a:lnTo>
                  <a:lnTo>
                    <a:pt x="299720" y="1195070"/>
                  </a:lnTo>
                  <a:lnTo>
                    <a:pt x="320040" y="1206500"/>
                  </a:lnTo>
                  <a:lnTo>
                    <a:pt x="320040" y="1207770"/>
                  </a:lnTo>
                  <a:lnTo>
                    <a:pt x="340360" y="1216660"/>
                  </a:lnTo>
                  <a:lnTo>
                    <a:pt x="354330" y="1223010"/>
                  </a:lnTo>
                  <a:lnTo>
                    <a:pt x="356870" y="1217930"/>
                  </a:lnTo>
                  <a:lnTo>
                    <a:pt x="358127" y="1212850"/>
                  </a:lnTo>
                  <a:close/>
                </a:path>
                <a:path w="445770" h="1266189">
                  <a:moveTo>
                    <a:pt x="445770" y="1226820"/>
                  </a:moveTo>
                  <a:lnTo>
                    <a:pt x="353060" y="1154430"/>
                  </a:lnTo>
                  <a:lnTo>
                    <a:pt x="340360" y="1169670"/>
                  </a:lnTo>
                  <a:lnTo>
                    <a:pt x="405130" y="1220470"/>
                  </a:lnTo>
                  <a:lnTo>
                    <a:pt x="327660" y="1248410"/>
                  </a:lnTo>
                  <a:lnTo>
                    <a:pt x="335280" y="1266190"/>
                  </a:lnTo>
                  <a:lnTo>
                    <a:pt x="445770" y="12268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26080" y="2392679"/>
              <a:ext cx="280670" cy="601980"/>
            </a:xfrm>
            <a:custGeom>
              <a:avLst/>
              <a:gdLst/>
              <a:ahLst/>
              <a:cxnLst/>
              <a:rect l="l" t="t" r="r" b="b"/>
              <a:pathLst>
                <a:path w="280669" h="601980">
                  <a:moveTo>
                    <a:pt x="280670" y="7620"/>
                  </a:moveTo>
                  <a:lnTo>
                    <a:pt x="276860" y="3810"/>
                  </a:lnTo>
                  <a:lnTo>
                    <a:pt x="274320" y="0"/>
                  </a:lnTo>
                  <a:lnTo>
                    <a:pt x="254000" y="15240"/>
                  </a:lnTo>
                  <a:lnTo>
                    <a:pt x="215900" y="50800"/>
                  </a:lnTo>
                  <a:lnTo>
                    <a:pt x="179070" y="96520"/>
                  </a:lnTo>
                  <a:lnTo>
                    <a:pt x="144780" y="149860"/>
                  </a:lnTo>
                  <a:lnTo>
                    <a:pt x="128270" y="179070"/>
                  </a:lnTo>
                  <a:lnTo>
                    <a:pt x="127000" y="179070"/>
                  </a:lnTo>
                  <a:lnTo>
                    <a:pt x="111760" y="209550"/>
                  </a:lnTo>
                  <a:lnTo>
                    <a:pt x="97790" y="242570"/>
                  </a:lnTo>
                  <a:lnTo>
                    <a:pt x="82550" y="276860"/>
                  </a:lnTo>
                  <a:lnTo>
                    <a:pt x="69850" y="312420"/>
                  </a:lnTo>
                  <a:lnTo>
                    <a:pt x="69850" y="313690"/>
                  </a:lnTo>
                  <a:lnTo>
                    <a:pt x="57150" y="350520"/>
                  </a:lnTo>
                  <a:lnTo>
                    <a:pt x="45720" y="388620"/>
                  </a:lnTo>
                  <a:lnTo>
                    <a:pt x="44450" y="388620"/>
                  </a:lnTo>
                  <a:lnTo>
                    <a:pt x="44450" y="389890"/>
                  </a:lnTo>
                  <a:lnTo>
                    <a:pt x="34290" y="429260"/>
                  </a:lnTo>
                  <a:lnTo>
                    <a:pt x="24130" y="469900"/>
                  </a:lnTo>
                  <a:lnTo>
                    <a:pt x="15240" y="513080"/>
                  </a:lnTo>
                  <a:lnTo>
                    <a:pt x="7620" y="556260"/>
                  </a:lnTo>
                  <a:lnTo>
                    <a:pt x="0" y="599440"/>
                  </a:lnTo>
                  <a:lnTo>
                    <a:pt x="5080" y="600710"/>
                  </a:lnTo>
                  <a:lnTo>
                    <a:pt x="8890" y="601980"/>
                  </a:lnTo>
                  <a:lnTo>
                    <a:pt x="16510" y="557530"/>
                  </a:lnTo>
                  <a:lnTo>
                    <a:pt x="24130" y="514350"/>
                  </a:lnTo>
                  <a:lnTo>
                    <a:pt x="33020" y="472440"/>
                  </a:lnTo>
                  <a:lnTo>
                    <a:pt x="43180" y="431800"/>
                  </a:lnTo>
                  <a:lnTo>
                    <a:pt x="54292" y="392277"/>
                  </a:lnTo>
                  <a:lnTo>
                    <a:pt x="54610" y="392430"/>
                  </a:lnTo>
                  <a:lnTo>
                    <a:pt x="66040" y="353060"/>
                  </a:lnTo>
                  <a:lnTo>
                    <a:pt x="78740" y="316230"/>
                  </a:lnTo>
                  <a:lnTo>
                    <a:pt x="91440" y="280670"/>
                  </a:lnTo>
                  <a:lnTo>
                    <a:pt x="105410" y="246380"/>
                  </a:lnTo>
                  <a:lnTo>
                    <a:pt x="120192" y="214337"/>
                  </a:lnTo>
                  <a:lnTo>
                    <a:pt x="120650" y="214630"/>
                  </a:lnTo>
                  <a:lnTo>
                    <a:pt x="135890" y="182880"/>
                  </a:lnTo>
                  <a:lnTo>
                    <a:pt x="151866" y="154597"/>
                  </a:lnTo>
                  <a:lnTo>
                    <a:pt x="152400" y="154940"/>
                  </a:lnTo>
                  <a:lnTo>
                    <a:pt x="168910" y="127000"/>
                  </a:lnTo>
                  <a:lnTo>
                    <a:pt x="204470" y="78740"/>
                  </a:lnTo>
                  <a:lnTo>
                    <a:pt x="241300" y="39370"/>
                  </a:lnTo>
                  <a:lnTo>
                    <a:pt x="260350" y="21590"/>
                  </a:lnTo>
                  <a:lnTo>
                    <a:pt x="280670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20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53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2834149" y="437535"/>
            <a:ext cx="7125929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/>
              <a:t>Test</a:t>
            </a:r>
            <a:r>
              <a:rPr sz="3600" b="1" spc="-15" dirty="0"/>
              <a:t> </a:t>
            </a:r>
            <a:r>
              <a:rPr sz="3600" b="1" spc="-5" dirty="0"/>
              <a:t>for</a:t>
            </a:r>
            <a:r>
              <a:rPr sz="3600" b="1" spc="-10" dirty="0"/>
              <a:t> </a:t>
            </a:r>
            <a:r>
              <a:rPr sz="3600" b="1" dirty="0"/>
              <a:t>Conflict</a:t>
            </a:r>
            <a:r>
              <a:rPr sz="3600" b="1" spc="-20" dirty="0"/>
              <a:t> </a:t>
            </a:r>
            <a:r>
              <a:rPr sz="3600" b="1" dirty="0"/>
              <a:t>Serializability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7569" y="1154429"/>
            <a:ext cx="7633334" cy="328930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0365" marR="367665" indent="-342900" algn="just">
              <a:lnSpc>
                <a:spcPts val="2350"/>
              </a:lnSpc>
              <a:spcBef>
                <a:spcPts val="219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81000" algn="l"/>
              </a:tabLst>
            </a:pPr>
            <a:r>
              <a:rPr sz="3000" baseline="1388" dirty="0">
                <a:latin typeface="Arial MT"/>
                <a:cs typeface="Arial MT"/>
              </a:rPr>
              <a:t>A schedule </a:t>
            </a:r>
            <a:r>
              <a:rPr sz="3000" spc="-7" baseline="1388" dirty="0">
                <a:latin typeface="Arial MT"/>
                <a:cs typeface="Arial MT"/>
              </a:rPr>
              <a:t>is </a:t>
            </a:r>
            <a:r>
              <a:rPr sz="3000" baseline="1388" dirty="0">
                <a:latin typeface="Arial MT"/>
                <a:cs typeface="Arial MT"/>
              </a:rPr>
              <a:t>conflict serializable </a:t>
            </a:r>
            <a:r>
              <a:rPr sz="3000" spc="-7" baseline="1388" dirty="0">
                <a:latin typeface="Arial MT"/>
                <a:cs typeface="Arial MT"/>
              </a:rPr>
              <a:t>if </a:t>
            </a:r>
            <a:r>
              <a:rPr sz="3000" baseline="1388" dirty="0">
                <a:latin typeface="Arial MT"/>
                <a:cs typeface="Arial MT"/>
              </a:rPr>
              <a:t>and </a:t>
            </a:r>
            <a:r>
              <a:rPr sz="3000" spc="-7" baseline="1388" dirty="0">
                <a:latin typeface="Arial MT"/>
                <a:cs typeface="Arial MT"/>
              </a:rPr>
              <a:t>only </a:t>
            </a:r>
            <a:r>
              <a:rPr sz="3000" baseline="1388" dirty="0">
                <a:latin typeface="Arial MT"/>
                <a:cs typeface="Arial MT"/>
              </a:rPr>
              <a:t>if </a:t>
            </a:r>
            <a:r>
              <a:rPr sz="3000" spc="-7" baseline="1388" dirty="0">
                <a:latin typeface="Arial MT"/>
                <a:cs typeface="Arial MT"/>
              </a:rPr>
              <a:t>its </a:t>
            </a:r>
            <a:r>
              <a:rPr sz="3000" baseline="1388" dirty="0">
                <a:latin typeface="Arial MT"/>
                <a:cs typeface="Arial MT"/>
              </a:rPr>
              <a:t>precedence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graph</a:t>
            </a:r>
            <a:r>
              <a:rPr sz="2000" spc="-5" dirty="0">
                <a:latin typeface="Arial MT"/>
                <a:cs typeface="Arial MT"/>
              </a:rPr>
              <a:t> is</a:t>
            </a:r>
            <a:r>
              <a:rPr sz="2000" dirty="0">
                <a:latin typeface="Arial MT"/>
                <a:cs typeface="Arial MT"/>
              </a:rPr>
              <a:t> acyclic.</a:t>
            </a:r>
            <a:endParaRPr sz="2000">
              <a:latin typeface="Arial MT"/>
              <a:cs typeface="Arial MT"/>
            </a:endParaRPr>
          </a:p>
          <a:p>
            <a:pPr marL="380365" marR="30480" indent="-342900" algn="just">
              <a:lnSpc>
                <a:spcPct val="99200"/>
              </a:lnSpc>
              <a:spcBef>
                <a:spcPts val="87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81000" algn="l"/>
              </a:tabLst>
            </a:pPr>
            <a:r>
              <a:rPr sz="3000" baseline="1388" dirty="0">
                <a:latin typeface="Arial MT"/>
                <a:cs typeface="Arial MT"/>
              </a:rPr>
              <a:t>Cycle-detection </a:t>
            </a:r>
            <a:r>
              <a:rPr sz="3000" spc="-7" baseline="1388" dirty="0">
                <a:latin typeface="Arial MT"/>
                <a:cs typeface="Arial MT"/>
              </a:rPr>
              <a:t>algorithms </a:t>
            </a:r>
            <a:r>
              <a:rPr sz="3000" baseline="1388" dirty="0">
                <a:latin typeface="Arial MT"/>
                <a:cs typeface="Arial MT"/>
              </a:rPr>
              <a:t>exist which </a:t>
            </a:r>
            <a:r>
              <a:rPr sz="3000" spc="-7" baseline="1388" dirty="0">
                <a:latin typeface="Arial MT"/>
                <a:cs typeface="Arial MT"/>
              </a:rPr>
              <a:t>take </a:t>
            </a:r>
            <a:r>
              <a:rPr sz="3000" baseline="1388" dirty="0">
                <a:latin typeface="Arial MT"/>
                <a:cs typeface="Arial MT"/>
              </a:rPr>
              <a:t>order </a:t>
            </a:r>
            <a:r>
              <a:rPr sz="3000" i="1" baseline="1388" dirty="0">
                <a:latin typeface="Arial"/>
                <a:cs typeface="Arial"/>
              </a:rPr>
              <a:t>n</a:t>
            </a:r>
            <a:r>
              <a:rPr sz="1725" baseline="31400" dirty="0">
                <a:latin typeface="Arial MT"/>
                <a:cs typeface="Arial MT"/>
              </a:rPr>
              <a:t>2 </a:t>
            </a:r>
            <a:r>
              <a:rPr sz="3000" spc="-7" baseline="1388" dirty="0">
                <a:latin typeface="Arial MT"/>
                <a:cs typeface="Arial MT"/>
              </a:rPr>
              <a:t>time, </a:t>
            </a:r>
            <a:r>
              <a:rPr sz="3000" baseline="1388" dirty="0">
                <a:latin typeface="Arial MT"/>
                <a:cs typeface="Arial MT"/>
              </a:rPr>
              <a:t>where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 </a:t>
            </a:r>
            <a:r>
              <a:rPr sz="2000" spc="-5" dirty="0">
                <a:latin typeface="Arial MT"/>
                <a:cs typeface="Arial MT"/>
              </a:rPr>
              <a:t>is the </a:t>
            </a:r>
            <a:r>
              <a:rPr sz="2000" dirty="0">
                <a:latin typeface="Arial MT"/>
                <a:cs typeface="Arial MT"/>
              </a:rPr>
              <a:t>number of vertices </a:t>
            </a:r>
            <a:r>
              <a:rPr sz="2000" spc="-5" dirty="0">
                <a:latin typeface="Arial MT"/>
                <a:cs typeface="Arial MT"/>
              </a:rPr>
              <a:t>in the </a:t>
            </a:r>
            <a:r>
              <a:rPr sz="2000" dirty="0">
                <a:latin typeface="Arial MT"/>
                <a:cs typeface="Arial MT"/>
              </a:rPr>
              <a:t>graph.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(Better algorithms take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 </a:t>
            </a:r>
            <a:r>
              <a:rPr sz="2000" dirty="0">
                <a:latin typeface="Arial MT"/>
                <a:cs typeface="Arial MT"/>
              </a:rPr>
              <a:t>+ </a:t>
            </a:r>
            <a:r>
              <a:rPr sz="2000" i="1" dirty="0">
                <a:latin typeface="Arial"/>
                <a:cs typeface="Arial"/>
              </a:rPr>
              <a:t>e </a:t>
            </a:r>
            <a:r>
              <a:rPr sz="2000" dirty="0">
                <a:latin typeface="Arial MT"/>
                <a:cs typeface="Arial MT"/>
              </a:rPr>
              <a:t>where </a:t>
            </a:r>
            <a:r>
              <a:rPr sz="2000" i="1" dirty="0">
                <a:latin typeface="Arial"/>
                <a:cs typeface="Arial"/>
              </a:rPr>
              <a:t>e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 </a:t>
            </a:r>
            <a:r>
              <a:rPr sz="2000" dirty="0">
                <a:latin typeface="Arial MT"/>
                <a:cs typeface="Arial MT"/>
              </a:rPr>
              <a:t>edges.)</a:t>
            </a:r>
            <a:endParaRPr sz="2000">
              <a:latin typeface="Arial MT"/>
              <a:cs typeface="Arial MT"/>
            </a:endParaRPr>
          </a:p>
          <a:p>
            <a:pPr marL="380365" marR="314325" indent="-342900" algn="just">
              <a:lnSpc>
                <a:spcPct val="99000"/>
              </a:lnSpc>
              <a:spcBef>
                <a:spcPts val="94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81000" algn="l"/>
              </a:tabLst>
            </a:pPr>
            <a:r>
              <a:rPr sz="3000" spc="-7" baseline="1388" dirty="0">
                <a:latin typeface="Arial MT"/>
                <a:cs typeface="Arial MT"/>
              </a:rPr>
              <a:t>If </a:t>
            </a:r>
            <a:r>
              <a:rPr sz="3000" baseline="1388" dirty="0">
                <a:latin typeface="Arial MT"/>
                <a:cs typeface="Arial MT"/>
              </a:rPr>
              <a:t>precedence graph </a:t>
            </a:r>
            <a:r>
              <a:rPr sz="3000" spc="-7" baseline="1388" dirty="0">
                <a:latin typeface="Arial MT"/>
                <a:cs typeface="Arial MT"/>
              </a:rPr>
              <a:t>is </a:t>
            </a:r>
            <a:r>
              <a:rPr sz="3000" baseline="1388" dirty="0">
                <a:latin typeface="Arial MT"/>
                <a:cs typeface="Arial MT"/>
              </a:rPr>
              <a:t>acyclic, </a:t>
            </a:r>
            <a:r>
              <a:rPr sz="3000" spc="-7" baseline="1388" dirty="0">
                <a:latin typeface="Arial MT"/>
                <a:cs typeface="Arial MT"/>
              </a:rPr>
              <a:t>the </a:t>
            </a:r>
            <a:r>
              <a:rPr sz="3000" baseline="1388" dirty="0">
                <a:latin typeface="Arial MT"/>
                <a:cs typeface="Arial MT"/>
              </a:rPr>
              <a:t>serializability order can be </a:t>
            </a:r>
            <a:r>
              <a:rPr sz="3000" spc="7" baseline="1388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obtained by a </a:t>
            </a:r>
            <a:r>
              <a:rPr sz="2000" i="1" dirty="0">
                <a:solidFill>
                  <a:srgbClr val="CC3300"/>
                </a:solidFill>
                <a:latin typeface="Arial"/>
                <a:cs typeface="Arial"/>
              </a:rPr>
              <a:t>topological sorting </a:t>
            </a:r>
            <a:r>
              <a:rPr sz="2000" dirty="0">
                <a:latin typeface="Arial MT"/>
                <a:cs typeface="Arial MT"/>
              </a:rPr>
              <a:t>of </a:t>
            </a:r>
            <a:r>
              <a:rPr sz="2000" spc="-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graph.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This </a:t>
            </a:r>
            <a:r>
              <a:rPr sz="2000" dirty="0">
                <a:latin typeface="Arial MT"/>
                <a:cs typeface="Arial MT"/>
              </a:rPr>
              <a:t>is a </a:t>
            </a:r>
            <a:r>
              <a:rPr sz="2000" spc="-5" dirty="0">
                <a:latin typeface="Arial MT"/>
                <a:cs typeface="Arial MT"/>
              </a:rPr>
              <a:t>linear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consistent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partial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graph.</a:t>
            </a:r>
            <a:endParaRPr sz="2000">
              <a:latin typeface="Arial MT"/>
              <a:cs typeface="Arial MT"/>
            </a:endParaRPr>
          </a:p>
          <a:p>
            <a:pPr marL="380365" algn="just"/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serializability order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for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Schedule 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would</a:t>
            </a:r>
            <a:r>
              <a:rPr sz="2000" spc="-5" dirty="0">
                <a:latin typeface="Arial MT"/>
                <a:cs typeface="Arial MT"/>
              </a:rPr>
              <a:t> be</a:t>
            </a:r>
            <a:endParaRPr sz="2000">
              <a:latin typeface="Arial MT"/>
              <a:cs typeface="Arial MT"/>
            </a:endParaRPr>
          </a:p>
          <a:p>
            <a:pPr marL="380365" algn="just"/>
            <a:r>
              <a:rPr sz="2000" i="1" dirty="0">
                <a:latin typeface="Arial"/>
                <a:cs typeface="Arial"/>
              </a:rPr>
              <a:t>T</a:t>
            </a:r>
            <a:r>
              <a:rPr sz="1725" baseline="-24154" dirty="0">
                <a:latin typeface="Arial MT"/>
                <a:cs typeface="Arial MT"/>
              </a:rPr>
              <a:t>5</a:t>
            </a:r>
            <a:r>
              <a:rPr sz="1725" spc="322" baseline="-24154" dirty="0">
                <a:latin typeface="Arial MT"/>
                <a:cs typeface="Arial MT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725" baseline="-24154" dirty="0">
                <a:latin typeface="Arial MT"/>
                <a:cs typeface="Arial MT"/>
              </a:rPr>
              <a:t>1</a:t>
            </a:r>
            <a:r>
              <a:rPr sz="1725" spc="322" baseline="-24154" dirty="0">
                <a:latin typeface="Arial MT"/>
                <a:cs typeface="Arial MT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i="1" spc="5" dirty="0">
                <a:latin typeface="Arial"/>
                <a:cs typeface="Arial"/>
              </a:rPr>
              <a:t>T</a:t>
            </a:r>
            <a:r>
              <a:rPr sz="1725" spc="7" baseline="-24154" dirty="0">
                <a:latin typeface="Arial MT"/>
                <a:cs typeface="Arial MT"/>
              </a:rPr>
              <a:t>3</a:t>
            </a:r>
            <a:r>
              <a:rPr sz="1725" spc="307" baseline="-24154" dirty="0">
                <a:latin typeface="Arial MT"/>
                <a:cs typeface="Arial MT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Arial"/>
                <a:cs typeface="Arial"/>
              </a:rPr>
              <a:t>T</a:t>
            </a:r>
            <a:r>
              <a:rPr sz="1725" baseline="-24154" dirty="0">
                <a:latin typeface="Arial MT"/>
                <a:cs typeface="Arial MT"/>
              </a:rPr>
              <a:t>2</a:t>
            </a:r>
            <a:r>
              <a:rPr sz="1725" spc="322" baseline="-24154" dirty="0">
                <a:latin typeface="Arial MT"/>
                <a:cs typeface="Arial MT"/>
              </a:rPr>
              <a:t> </a:t>
            </a:r>
            <a:r>
              <a:rPr sz="2000" dirty="0">
                <a:latin typeface="Symbol"/>
                <a:cs typeface="Symbol"/>
              </a:rPr>
              <a:t>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i="1" spc="5" dirty="0">
                <a:latin typeface="Arial"/>
                <a:cs typeface="Arial"/>
              </a:rPr>
              <a:t>T</a:t>
            </a:r>
            <a:r>
              <a:rPr sz="1725" spc="7" baseline="-24154" dirty="0">
                <a:latin typeface="Arial MT"/>
                <a:cs typeface="Arial MT"/>
              </a:rPr>
              <a:t>4</a:t>
            </a:r>
            <a:r>
              <a:rPr sz="1725" spc="322" baseline="-2415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5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576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620589" y="931617"/>
            <a:ext cx="5274310" cy="50526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/>
              <a:t>Test</a:t>
            </a:r>
            <a:r>
              <a:rPr sz="3200" b="1" spc="-15" dirty="0"/>
              <a:t> </a:t>
            </a:r>
            <a:r>
              <a:rPr sz="3200" b="1" spc="-5" dirty="0"/>
              <a:t>for</a:t>
            </a:r>
            <a:r>
              <a:rPr sz="3200" b="1" spc="-10" dirty="0"/>
              <a:t> </a:t>
            </a:r>
            <a:r>
              <a:rPr sz="3200" b="1" dirty="0"/>
              <a:t>View</a:t>
            </a:r>
            <a:r>
              <a:rPr sz="3200" b="1" spc="-15" dirty="0"/>
              <a:t> </a:t>
            </a:r>
            <a:r>
              <a:rPr sz="3200" b="1" dirty="0"/>
              <a:t>Serializability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72624" y="2063701"/>
            <a:ext cx="7359650" cy="2288831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231775" indent="-342900">
              <a:lnSpc>
                <a:spcPts val="2350"/>
              </a:lnSpc>
              <a:spcBef>
                <a:spcPts val="219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</a:tabLst>
            </a:pPr>
            <a:r>
              <a:rPr sz="3000" baseline="1388" dirty="0">
                <a:latin typeface="Arial MT"/>
                <a:cs typeface="Arial MT"/>
              </a:rPr>
              <a:t>The precedence graph test </a:t>
            </a:r>
            <a:r>
              <a:rPr sz="3000" spc="-7" baseline="1388" dirty="0">
                <a:latin typeface="Arial MT"/>
                <a:cs typeface="Arial MT"/>
              </a:rPr>
              <a:t>for </a:t>
            </a:r>
            <a:r>
              <a:rPr sz="3000" baseline="1388" dirty="0">
                <a:latin typeface="Arial MT"/>
                <a:cs typeface="Arial MT"/>
              </a:rPr>
              <a:t>conflict serializability must be </a:t>
            </a:r>
            <a:r>
              <a:rPr sz="3000" spc="-817" baseline="1388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modified to</a:t>
            </a:r>
            <a:r>
              <a:rPr sz="2000" dirty="0">
                <a:latin typeface="Arial MT"/>
                <a:cs typeface="Arial MT"/>
              </a:rPr>
              <a:t> apply 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for </a:t>
            </a:r>
            <a:r>
              <a:rPr sz="2000" dirty="0">
                <a:latin typeface="Arial MT"/>
                <a:cs typeface="Arial MT"/>
              </a:rPr>
              <a:t>view serializability</a:t>
            </a:r>
            <a:r>
              <a:rPr sz="2000" dirty="0">
                <a:latin typeface="Arial MT"/>
                <a:cs typeface="Arial MT"/>
              </a:rPr>
              <a:t>.</a:t>
            </a:r>
          </a:p>
          <a:p>
            <a:pPr marL="355600" marR="5080" indent="-342900">
              <a:lnSpc>
                <a:spcPct val="99200"/>
              </a:lnSpc>
              <a:spcBef>
                <a:spcPts val="870"/>
              </a:spcBef>
              <a:buClr>
                <a:srgbClr val="CC3300"/>
              </a:buClr>
              <a:buSzPct val="90000"/>
              <a:buFont typeface="MS UI Gothic"/>
              <a:buChar char="■"/>
              <a:tabLst>
                <a:tab pos="355600" algn="l"/>
                <a:tab pos="4782185" algn="l"/>
              </a:tabLst>
            </a:pPr>
            <a:r>
              <a:rPr sz="3000" baseline="1388" dirty="0">
                <a:latin typeface="Arial MT"/>
                <a:cs typeface="Arial MT"/>
              </a:rPr>
              <a:t>The </a:t>
            </a:r>
            <a:r>
              <a:rPr sz="3000" spc="-7" baseline="1388" dirty="0">
                <a:latin typeface="Arial MT"/>
                <a:cs typeface="Arial MT"/>
              </a:rPr>
              <a:t>problem</a:t>
            </a:r>
            <a:r>
              <a:rPr sz="3000" spc="15" baseline="1388" dirty="0">
                <a:latin typeface="Arial MT"/>
                <a:cs typeface="Arial MT"/>
              </a:rPr>
              <a:t> </a:t>
            </a:r>
            <a:r>
              <a:rPr sz="3000" spc="-7" baseline="1388" dirty="0">
                <a:latin typeface="Arial MT"/>
                <a:cs typeface="Arial MT"/>
              </a:rPr>
              <a:t>of</a:t>
            </a:r>
            <a:r>
              <a:rPr sz="3000" baseline="1388" dirty="0">
                <a:latin typeface="Arial MT"/>
                <a:cs typeface="Arial MT"/>
              </a:rPr>
              <a:t> checking</a:t>
            </a:r>
            <a:r>
              <a:rPr sz="3000" spc="7" baseline="1388" dirty="0">
                <a:latin typeface="Arial MT"/>
                <a:cs typeface="Arial MT"/>
              </a:rPr>
              <a:t> </a:t>
            </a:r>
            <a:r>
              <a:rPr sz="3000" spc="-7" baseline="1388" dirty="0">
                <a:latin typeface="Arial MT"/>
                <a:cs typeface="Arial MT"/>
              </a:rPr>
              <a:t>if </a:t>
            </a:r>
            <a:r>
              <a:rPr sz="3000" baseline="1388" dirty="0">
                <a:latin typeface="Arial MT"/>
                <a:cs typeface="Arial MT"/>
              </a:rPr>
              <a:t>a</a:t>
            </a:r>
            <a:r>
              <a:rPr sz="3000" spc="-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schedule</a:t>
            </a:r>
            <a:r>
              <a:rPr sz="3000" spc="7" baseline="1388" dirty="0">
                <a:latin typeface="Arial MT"/>
                <a:cs typeface="Arial MT"/>
              </a:rPr>
              <a:t> </a:t>
            </a:r>
            <a:r>
              <a:rPr sz="3000" spc="-7" baseline="1388" dirty="0">
                <a:latin typeface="Arial MT"/>
                <a:cs typeface="Arial MT"/>
              </a:rPr>
              <a:t>is</a:t>
            </a:r>
            <a:r>
              <a:rPr sz="3000" spc="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view</a:t>
            </a:r>
            <a:r>
              <a:rPr sz="3000" spc="7" baseline="1388" dirty="0">
                <a:latin typeface="Arial MT"/>
                <a:cs typeface="Arial MT"/>
              </a:rPr>
              <a:t> </a:t>
            </a:r>
            <a:r>
              <a:rPr sz="3000" baseline="1388" dirty="0">
                <a:latin typeface="Arial MT"/>
                <a:cs typeface="Arial MT"/>
              </a:rPr>
              <a:t>serializable </a:t>
            </a:r>
            <a:r>
              <a:rPr sz="3000" spc="-7" baseline="1388" dirty="0">
                <a:latin typeface="Arial MT"/>
                <a:cs typeface="Arial MT"/>
              </a:rPr>
              <a:t>falls </a:t>
            </a:r>
            <a:r>
              <a:rPr sz="3000" spc="-810" baseline="1388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NP</a:t>
            </a:r>
            <a:r>
              <a:rPr sz="2000" dirty="0">
                <a:latin typeface="Arial MT"/>
                <a:cs typeface="Arial MT"/>
              </a:rPr>
              <a:t>-complete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problems.	</a:t>
            </a:r>
            <a:r>
              <a:rPr sz="2000" spc="-5" dirty="0">
                <a:latin typeface="Arial MT"/>
                <a:cs typeface="Arial MT"/>
              </a:rPr>
              <a:t>Thus </a:t>
            </a:r>
            <a:r>
              <a:rPr sz="2000" dirty="0">
                <a:latin typeface="Arial MT"/>
                <a:cs typeface="Arial MT"/>
              </a:rPr>
              <a:t>existence of an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efficient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algorithm</a:t>
            </a:r>
            <a:r>
              <a:rPr sz="2000" spc="-5" dirty="0">
                <a:latin typeface="Arial MT"/>
                <a:cs typeface="Arial MT"/>
              </a:rPr>
              <a:t> is</a:t>
            </a:r>
            <a:r>
              <a:rPr sz="2000" dirty="0">
                <a:latin typeface="Arial MT"/>
                <a:cs typeface="Arial MT"/>
              </a:rPr>
              <a:t> unlikely.</a:t>
            </a:r>
          </a:p>
          <a:p>
            <a:pPr marL="355600" marR="257810"/>
            <a:r>
              <a:rPr sz="2000" dirty="0">
                <a:latin typeface="Arial MT"/>
                <a:cs typeface="Arial MT"/>
              </a:rPr>
              <a:t>However practical </a:t>
            </a:r>
            <a:r>
              <a:rPr sz="2000" spc="-5" dirty="0">
                <a:latin typeface="Arial MT"/>
                <a:cs typeface="Arial MT"/>
              </a:rPr>
              <a:t>algorithms </a:t>
            </a:r>
            <a:r>
              <a:rPr sz="2000" dirty="0">
                <a:latin typeface="Arial MT"/>
                <a:cs typeface="Arial MT"/>
              </a:rPr>
              <a:t>that just check some </a:t>
            </a:r>
            <a:r>
              <a:rPr sz="2000" i="1" dirty="0">
                <a:latin typeface="Arial"/>
                <a:cs typeface="Arial"/>
              </a:rPr>
              <a:t>sufficient </a:t>
            </a:r>
            <a:r>
              <a:rPr sz="2000" i="1" spc="-545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conditions</a:t>
            </a:r>
            <a:r>
              <a:rPr sz="2000" i="1" spc="5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for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view serializability</a:t>
            </a:r>
            <a:r>
              <a:rPr sz="2000" dirty="0">
                <a:latin typeface="Arial MT"/>
                <a:cs typeface="Arial MT"/>
              </a:rPr>
              <a:t> can still</a:t>
            </a:r>
            <a:r>
              <a:rPr sz="2000" spc="-5" dirty="0">
                <a:latin typeface="Arial MT"/>
                <a:cs typeface="Arial MT"/>
              </a:rPr>
              <a:t> be</a:t>
            </a:r>
            <a:r>
              <a:rPr sz="2000" dirty="0">
                <a:latin typeface="Arial MT"/>
                <a:cs typeface="Arial MT"/>
              </a:rPr>
              <a:t> used.</a:t>
            </a: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12192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23IT201- DATABASE MANAGEMENT SYSTEMS</a:t>
            </a:r>
          </a:p>
        </p:txBody>
      </p:sp>
      <p:sp>
        <p:nvSpPr>
          <p:cNvPr id="5" name="Footer Placeholder 2"/>
          <p:cNvSpPr txBox="1">
            <a:spLocks/>
          </p:cNvSpPr>
          <p:nvPr/>
        </p:nvSpPr>
        <p:spPr>
          <a:xfrm>
            <a:off x="0" y="6492875"/>
            <a:ext cx="12192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II  CONSTRAINTS AND SQL COMMANDS 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729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793</Words>
  <Application>Microsoft Office PowerPoint</Application>
  <PresentationFormat>Widescreen</PresentationFormat>
  <Paragraphs>111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ＭＳ Ｐゴシック</vt:lpstr>
      <vt:lpstr>MS UI Gothic</vt:lpstr>
      <vt:lpstr>Arial</vt:lpstr>
      <vt:lpstr>Arial MT</vt:lpstr>
      <vt:lpstr>Calibri</vt:lpstr>
      <vt:lpstr>Calibri Light</vt:lpstr>
      <vt:lpstr>Symbol</vt:lpstr>
      <vt:lpstr>Times New Roman</vt:lpstr>
      <vt:lpstr>Office Theme</vt:lpstr>
      <vt:lpstr>PowerPoint Presentation</vt:lpstr>
      <vt:lpstr>Serializability</vt:lpstr>
      <vt:lpstr>Serializability</vt:lpstr>
      <vt:lpstr>Conflict Serializability</vt:lpstr>
      <vt:lpstr>Conflict Serializability</vt:lpstr>
      <vt:lpstr>Conflict Serializability</vt:lpstr>
      <vt:lpstr>View Serializability</vt:lpstr>
      <vt:lpstr>PowerPoint Presentation</vt:lpstr>
      <vt:lpstr>PowerPoint Presentation</vt:lpstr>
      <vt:lpstr>Testing for Serializability</vt:lpstr>
      <vt:lpstr>Example Schedule (Schedule A)</vt:lpstr>
      <vt:lpstr>Precedence Graph for Schedule A</vt:lpstr>
      <vt:lpstr>Test for Conflict Serializability</vt:lpstr>
      <vt:lpstr>Test for View Serializability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2025-03-12T05:09:24Z</dcterms:created>
  <dcterms:modified xsi:type="dcterms:W3CDTF">2025-03-12T05:15:10Z</dcterms:modified>
</cp:coreProperties>
</file>