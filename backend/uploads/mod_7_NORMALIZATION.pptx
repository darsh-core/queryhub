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575" r:id="rId2"/>
    <p:sldId id="574" r:id="rId3"/>
    <p:sldId id="500" r:id="rId4"/>
    <p:sldId id="258" r:id="rId5"/>
    <p:sldId id="259" r:id="rId6"/>
    <p:sldId id="539" r:id="rId7"/>
    <p:sldId id="540" r:id="rId8"/>
    <p:sldId id="541" r:id="rId9"/>
    <p:sldId id="543" r:id="rId10"/>
    <p:sldId id="544" r:id="rId11"/>
    <p:sldId id="545" r:id="rId12"/>
    <p:sldId id="542" r:id="rId13"/>
    <p:sldId id="548" r:id="rId14"/>
    <p:sldId id="546" r:id="rId15"/>
    <p:sldId id="553" r:id="rId16"/>
    <p:sldId id="555" r:id="rId17"/>
    <p:sldId id="554" r:id="rId18"/>
    <p:sldId id="552" r:id="rId19"/>
    <p:sldId id="556" r:id="rId20"/>
    <p:sldId id="550" r:id="rId21"/>
    <p:sldId id="557" r:id="rId22"/>
    <p:sldId id="551" r:id="rId23"/>
    <p:sldId id="559" r:id="rId24"/>
    <p:sldId id="558" r:id="rId25"/>
    <p:sldId id="547" r:id="rId26"/>
    <p:sldId id="564" r:id="rId27"/>
    <p:sldId id="561" r:id="rId28"/>
    <p:sldId id="562" r:id="rId29"/>
    <p:sldId id="565" r:id="rId30"/>
    <p:sldId id="568" r:id="rId31"/>
    <p:sldId id="566" r:id="rId32"/>
    <p:sldId id="569" r:id="rId33"/>
    <p:sldId id="560" r:id="rId3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hiavathy R" initials="NR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EFF12D-E86F-4CC8-9513-2C8BADAF5BF6}">
  <a:tblStyle styleId="{18EFF12D-E86F-4CC8-9513-2C8BADAF5B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</inkml:channelProperties>
      </inkml:inkSource>
      <inkml:timestamp xml:id="ts0" timeString="2022-04-18T04:33:07.1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6158 6869 1241,'-28'21'13,"5"1"1,0 0-1,3 1 10,6 2-9,2 2-15,4 0-9,6 8-4,2 2-1,0 4 16,0 5-18,26 2-48,-26 2-73,29 4-186,-29-1 27</inkml:trace>
  <inkml:trace contextRef="#ctx0" brushRef="#br0" timeOffset="3384.991">22330 8811 564,'0'0'19,"0"0"6,0 0-1,0 0 1,0 0-16,0 0-8,0 0 3,0 0-4,0 0-10,0 0-23,0 0-49,0 0-66,0 0-11,0 0 24</inkml:trace>
  <inkml:trace contextRef="#ctx0" brushRef="#br0" timeOffset="3742.0125">1496 8022 2073,'-33'0'-118,"13"0"-206,12-23-195,7 23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88460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286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9725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21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9640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886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185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6218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735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682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7091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5984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656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6063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9606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3840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8076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6687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0096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92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562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32407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840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141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30349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76527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12183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6728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2347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22710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1816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142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1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1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1" y="143510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9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BwD8IYByf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gUeOjImOO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hyperlink" Target="https://www.youtube.com/watch?v=9L10Q1nAfy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62he-WUp9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GesKHcqf2c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BiNTE14EEg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23IT201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Title: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DataBase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Management Systems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MODULE –II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Academic Year: 2024 - 2025 (Even </a:t>
            </a:r>
            <a:r>
              <a:rPr lang="en-IN" sz="2200" b="1" dirty="0" err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6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DDL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Commands - Create, Drop, Alter, Truncate, Rename,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- DML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Commands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Normalization - 1NF, 2NF, 3NF, BCNF, </a:t>
            </a:r>
            <a:r>
              <a:rPr lang="en-IN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4NF - </a:t>
            </a:r>
            <a:br>
              <a:rPr lang="en-IN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Select, Insert, Update, Delete, Any, All, In, Exists, Non Exists, Union, Intersection, Subqueries - nested, correlated, Joins- Inner, Outer, and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Equi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Functions - SUM, COUNT, AVG, MIN, MAX, Clauses - Group By, Having By, Embedded SQL, Dynamic SQL, Transaction Concepts – Transaction model – ACID Properties –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2 –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 AND SQL COMMANDS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43999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44063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BB2E9F5E-6EC5-471B-82A5-60E7B373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282" y="4982803"/>
            <a:ext cx="1426588" cy="14326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B07AA8-8754-4749-AE68-6684F06CA41E}"/>
              </a:ext>
            </a:extLst>
          </p:cNvPr>
          <p:cNvSpPr txBox="1"/>
          <p:nvPr/>
        </p:nvSpPr>
        <p:spPr>
          <a:xfrm>
            <a:off x="662473" y="886409"/>
            <a:ext cx="7660433" cy="4133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7715" marR="0" lvl="0" indent="0" algn="ctr" defTabSz="914400" rtl="0" eaLnBrk="1" fontAlgn="auto" latinLnBrk="0" hangingPunct="1">
              <a:lnSpc>
                <a:spcPct val="2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Data</a:t>
            </a:r>
            <a:r>
              <a:rPr kumimoji="0" lang="en-US" sz="2400" b="1" i="0" u="none" strike="noStrike" kern="1200" cap="none" spc="-6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Normalization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197485" lvl="0" indent="-171450" algn="l" defTabSz="914400" rtl="0" eaLnBrk="1" fontAlgn="auto" latinLnBrk="0" hangingPunct="1">
              <a:lnSpc>
                <a:spcPct val="200000"/>
              </a:lnSpc>
              <a:spcBef>
                <a:spcPts val="20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Formal process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decomposing  relations with anomalies to  produce smaller, </a:t>
            </a: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well- 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structured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and </a:t>
            </a: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stable</a:t>
            </a:r>
            <a:r>
              <a:rPr kumimoji="0" lang="en-US" sz="2000" b="1" i="1" u="none" strike="noStrike" kern="1200" cap="none" spc="-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relations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209550" lvl="0" indent="-171450" algn="l" defTabSz="914400" rtl="0" eaLnBrk="1" fontAlgn="auto" latinLnBrk="0" hangingPunct="1">
              <a:lnSpc>
                <a:spcPct val="2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Primarily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tool to validate and  improve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logical design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that  it satisfies certain constraints  that </a:t>
            </a: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avoid unnecessary  duplication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</a:t>
            </a: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data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144291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4DFF5-3BFC-4197-978D-9B30A2DDEF11}"/>
              </a:ext>
            </a:extLst>
          </p:cNvPr>
          <p:cNvSpPr txBox="1"/>
          <p:nvPr/>
        </p:nvSpPr>
        <p:spPr>
          <a:xfrm>
            <a:off x="2750196" y="709127"/>
            <a:ext cx="45999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200" b="0" i="0" u="none" strike="noStrike" kern="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Well-Structured</a:t>
            </a:r>
            <a:r>
              <a:rPr kumimoji="0" lang="en-IN" sz="2200" b="0" i="0" u="none" strike="noStrike" kern="0" cap="none" spc="-3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 </a:t>
            </a:r>
            <a:r>
              <a:rPr kumimoji="0" lang="en-IN" sz="2200" b="0" i="0" u="none" strike="noStrike" kern="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Relations</a:t>
            </a:r>
            <a:endParaRPr lang="en-IN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AEB3E-A445-4F9F-B769-B797E56D8E4D}"/>
              </a:ext>
            </a:extLst>
          </p:cNvPr>
          <p:cNvSpPr txBox="1"/>
          <p:nvPr/>
        </p:nvSpPr>
        <p:spPr>
          <a:xfrm>
            <a:off x="363900" y="1140014"/>
            <a:ext cx="8229594" cy="527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150" marR="71755" lvl="0" indent="-171450" algn="just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relation that contains minimal data redundancy  and allows users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insert, delete, and update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rows  without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causing data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inconsistencies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Goal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to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avoid (</a:t>
            </a:r>
            <a:r>
              <a:rPr kumimoji="0" lang="en-US" sz="2000" b="0" i="1" u="sng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Times New Roman"/>
              </a:rPr>
              <a:t>minimize)</a:t>
            </a:r>
            <a:r>
              <a:rPr kumimoji="0" lang="en-US" sz="20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anomalies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1000" marR="160655" lvl="1" indent="-139700" algn="l" defTabSz="914400" rtl="0" eaLnBrk="1" fontAlgn="auto" latinLnBrk="0" hangingPunct="1">
              <a:lnSpc>
                <a:spcPct val="150000"/>
              </a:lnSpc>
              <a:spcBef>
                <a:spcPts val="295"/>
              </a:spcBef>
              <a:spcAft>
                <a:spcPts val="0"/>
              </a:spcAft>
              <a:buClr>
                <a:srgbClr val="C00000"/>
              </a:buClr>
              <a:buSzTx/>
              <a:buFont typeface="Times New Roman"/>
              <a:buChar char="–"/>
              <a:tabLst>
                <a:tab pos="384175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E1C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Insertion Anomaly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–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adding new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rows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forces user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create duplicate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data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1000" marR="122555" lvl="1" indent="-139700" algn="l" defTabSz="914400" rtl="0" eaLnBrk="1" fontAlgn="auto" latinLnBrk="0" hangingPunct="1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C00000"/>
              </a:buClr>
              <a:buSzTx/>
              <a:buFont typeface="Times New Roman"/>
              <a:buChar char="–"/>
              <a:tabLst>
                <a:tab pos="384175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E1C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Deletion Anomaly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–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deleting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row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may cause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loss of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other data representing completely different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facts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1000" marR="17145" lvl="1" indent="-139700" algn="l" defTabSz="914400" rtl="0" eaLnBrk="1" fontAlgn="auto" latinLnBrk="0" hangingPunct="1">
              <a:lnSpc>
                <a:spcPct val="150000"/>
              </a:lnSpc>
              <a:spcBef>
                <a:spcPts val="290"/>
              </a:spcBef>
              <a:spcAft>
                <a:spcPts val="0"/>
              </a:spcAft>
              <a:buClr>
                <a:srgbClr val="C00000"/>
              </a:buClr>
              <a:buSzTx/>
              <a:buFont typeface="Times New Roman"/>
              <a:buChar char="–"/>
              <a:tabLst>
                <a:tab pos="384175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E1C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Modification Anomaly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–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changing data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 a row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forces  changes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other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rows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because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duplication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102360" marR="5080" lvl="0" indent="-951230" algn="l" defTabSz="914400" rtl="0" eaLnBrk="1" fontAlgn="auto" latinLnBrk="0" hangingPunct="1">
              <a:lnSpc>
                <a:spcPct val="150000"/>
              </a:lnSpc>
              <a:spcBef>
                <a:spcPts val="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General rule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thumb: a table should not 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pertain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 </a:t>
            </a:r>
            <a:r>
              <a:rPr kumimoji="0" lang="en-US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more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than one </a:t>
            </a:r>
            <a:r>
              <a:rPr kumimoji="0" lang="en-US" sz="1800" b="1" i="0" u="none" strike="noStrike" kern="1200" cap="none" spc="-5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entity</a:t>
            </a:r>
            <a:r>
              <a:rPr kumimoji="0" lang="en-US" sz="1800" b="1" i="0" u="none" strike="noStrike" kern="1200" cap="none" spc="-1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type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B29FE7-0C7E-4B53-8693-59DC81002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71" y="751113"/>
            <a:ext cx="8763258" cy="40214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A527F5-2002-4E4C-B1CE-D5D85F71DA6D}"/>
              </a:ext>
            </a:extLst>
          </p:cNvPr>
          <p:cNvSpPr txBox="1"/>
          <p:nvPr/>
        </p:nvSpPr>
        <p:spPr>
          <a:xfrm>
            <a:off x="297610" y="4830927"/>
            <a:ext cx="59016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Question – Is this a relation?</a:t>
            </a:r>
          </a:p>
          <a:p>
            <a:r>
              <a:rPr lang="en-US" sz="2000" dirty="0"/>
              <a:t>Answer – Yes: unique rows and no  multivalued attributes</a:t>
            </a:r>
          </a:p>
          <a:p>
            <a:r>
              <a:rPr lang="en-US" sz="2000" dirty="0"/>
              <a:t>Question – What’s the primary key?</a:t>
            </a:r>
          </a:p>
          <a:p>
            <a:r>
              <a:rPr lang="en-US" sz="2000" dirty="0"/>
              <a:t>Answer – Composite: </a:t>
            </a:r>
            <a:r>
              <a:rPr lang="en-US" sz="2000" dirty="0" err="1"/>
              <a:t>EmpID</a:t>
            </a:r>
            <a:r>
              <a:rPr lang="en-US" sz="2000" dirty="0"/>
              <a:t>,  </a:t>
            </a:r>
            <a:r>
              <a:rPr lang="en-US" sz="2000" dirty="0" err="1"/>
              <a:t>CourseTitle</a:t>
            </a:r>
            <a:endParaRPr lang="en-US" sz="2000" dirty="0"/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68304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20CS401 – Database Management Systems					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AA0E7-A9D6-4F4A-BD39-EA668286B29D}"/>
              </a:ext>
            </a:extLst>
          </p:cNvPr>
          <p:cNvSpPr txBox="1"/>
          <p:nvPr/>
        </p:nvSpPr>
        <p:spPr>
          <a:xfrm>
            <a:off x="3037115" y="670965"/>
            <a:ext cx="4599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0" i="0" u="none" strike="noStrike" kern="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Anomalies in this</a:t>
            </a:r>
            <a:r>
              <a:rPr kumimoji="0" lang="en-IN" sz="2400" b="0" i="0" u="none" strike="noStrike" kern="0" cap="none" spc="-4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 </a:t>
            </a:r>
            <a:r>
              <a:rPr kumimoji="0" lang="en-IN" sz="2400" b="0" i="0" u="none" strike="noStrike" kern="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Table</a:t>
            </a:r>
            <a:endParaRPr lang="en-IN" sz="24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1F62B-3AA1-4D82-8F4A-7D478A7CE7FA}"/>
              </a:ext>
            </a:extLst>
          </p:cNvPr>
          <p:cNvSpPr txBox="1"/>
          <p:nvPr/>
        </p:nvSpPr>
        <p:spPr>
          <a:xfrm>
            <a:off x="699796" y="1132630"/>
            <a:ext cx="8201608" cy="379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150" marR="105410" indent="-171450">
              <a:lnSpc>
                <a:spcPct val="200000"/>
              </a:lnSpc>
              <a:spcBef>
                <a:spcPts val="180"/>
              </a:spcBef>
              <a:buClr>
                <a:srgbClr val="C00000"/>
              </a:buClr>
              <a:buFont typeface="Times New Roman"/>
              <a:buChar char="•"/>
              <a:tabLst>
                <a:tab pos="184150" algn="l"/>
              </a:tabLst>
            </a:pPr>
            <a:r>
              <a:rPr lang="en-US" sz="2000" b="1" spc="-5" dirty="0">
                <a:solidFill>
                  <a:srgbClr val="CE1C00"/>
                </a:solidFill>
                <a:latin typeface="+mn-lt"/>
                <a:cs typeface="Times New Roman"/>
              </a:rPr>
              <a:t>Insertion </a:t>
            </a:r>
            <a:r>
              <a:rPr lang="en-US" sz="2000" dirty="0">
                <a:latin typeface="+mn-lt"/>
                <a:cs typeface="Times New Roman"/>
              </a:rPr>
              <a:t>– </a:t>
            </a:r>
            <a:r>
              <a:rPr lang="en-US" sz="2000" spc="-5" dirty="0">
                <a:latin typeface="+mn-lt"/>
                <a:cs typeface="Times New Roman"/>
              </a:rPr>
              <a:t>can’t enter </a:t>
            </a:r>
            <a:r>
              <a:rPr lang="en-US" sz="2000" dirty="0">
                <a:latin typeface="+mn-lt"/>
                <a:cs typeface="Times New Roman"/>
              </a:rPr>
              <a:t>a </a:t>
            </a:r>
            <a:r>
              <a:rPr lang="en-US" sz="2000" spc="-5" dirty="0">
                <a:latin typeface="+mn-lt"/>
                <a:cs typeface="Times New Roman"/>
              </a:rPr>
              <a:t>new employee </a:t>
            </a:r>
            <a:r>
              <a:rPr lang="en-US" sz="2000" dirty="0">
                <a:latin typeface="+mn-lt"/>
                <a:cs typeface="Times New Roman"/>
              </a:rPr>
              <a:t>without </a:t>
            </a:r>
            <a:r>
              <a:rPr lang="en-US" sz="2000" spc="-5" dirty="0">
                <a:latin typeface="+mn-lt"/>
                <a:cs typeface="Times New Roman"/>
              </a:rPr>
              <a:t>having  </a:t>
            </a:r>
            <a:r>
              <a:rPr lang="en-US" sz="2000" dirty="0">
                <a:latin typeface="+mn-lt"/>
                <a:cs typeface="Times New Roman"/>
              </a:rPr>
              <a:t>the </a:t>
            </a:r>
            <a:r>
              <a:rPr lang="en-US" sz="2000" spc="-5" dirty="0">
                <a:latin typeface="+mn-lt"/>
                <a:cs typeface="Times New Roman"/>
              </a:rPr>
              <a:t>employee take </a:t>
            </a:r>
            <a:r>
              <a:rPr lang="en-US" sz="2000" dirty="0">
                <a:latin typeface="+mn-lt"/>
                <a:cs typeface="Times New Roman"/>
              </a:rPr>
              <a:t>a</a:t>
            </a:r>
            <a:r>
              <a:rPr lang="en-US" sz="2000" spc="-15" dirty="0">
                <a:latin typeface="+mn-lt"/>
                <a:cs typeface="Times New Roman"/>
              </a:rPr>
              <a:t> </a:t>
            </a:r>
            <a:r>
              <a:rPr lang="en-US" sz="2000" spc="-5" dirty="0">
                <a:latin typeface="+mn-lt"/>
                <a:cs typeface="Times New Roman"/>
              </a:rPr>
              <a:t>class</a:t>
            </a:r>
            <a:endParaRPr lang="en-US" sz="2000" dirty="0">
              <a:latin typeface="+mn-lt"/>
              <a:cs typeface="Times New Roman"/>
            </a:endParaRPr>
          </a:p>
          <a:p>
            <a:pPr marL="184150" marR="441959" indent="-171450">
              <a:lnSpc>
                <a:spcPct val="200000"/>
              </a:lnSpc>
              <a:spcBef>
                <a:spcPts val="375"/>
              </a:spcBef>
              <a:buClr>
                <a:srgbClr val="C00000"/>
              </a:buClr>
              <a:buFont typeface="Times New Roman"/>
              <a:buChar char="•"/>
              <a:tabLst>
                <a:tab pos="184150" algn="l"/>
              </a:tabLst>
            </a:pPr>
            <a:r>
              <a:rPr lang="en-US" sz="2000" b="1" spc="-5" dirty="0">
                <a:solidFill>
                  <a:srgbClr val="CE1C00"/>
                </a:solidFill>
                <a:latin typeface="+mn-lt"/>
                <a:cs typeface="Times New Roman"/>
              </a:rPr>
              <a:t>Deletion </a:t>
            </a:r>
            <a:r>
              <a:rPr lang="en-US" sz="2000" dirty="0">
                <a:latin typeface="+mn-lt"/>
                <a:cs typeface="Times New Roman"/>
              </a:rPr>
              <a:t>– if we </a:t>
            </a:r>
            <a:r>
              <a:rPr lang="en-US" sz="2000" spc="-5" dirty="0">
                <a:latin typeface="+mn-lt"/>
                <a:cs typeface="Times New Roman"/>
              </a:rPr>
              <a:t>remove employee </a:t>
            </a:r>
            <a:r>
              <a:rPr lang="en-US" sz="2000" dirty="0">
                <a:latin typeface="+mn-lt"/>
                <a:cs typeface="Times New Roman"/>
              </a:rPr>
              <a:t>140, we lose  </a:t>
            </a:r>
            <a:r>
              <a:rPr lang="en-US" sz="2000" spc="-5" dirty="0">
                <a:latin typeface="+mn-lt"/>
                <a:cs typeface="Times New Roman"/>
              </a:rPr>
              <a:t>information about </a:t>
            </a:r>
            <a:r>
              <a:rPr lang="en-US" sz="2000" dirty="0">
                <a:latin typeface="+mn-lt"/>
                <a:cs typeface="Times New Roman"/>
              </a:rPr>
              <a:t>the </a:t>
            </a:r>
            <a:r>
              <a:rPr lang="en-US" sz="2000" spc="-5" dirty="0">
                <a:latin typeface="+mn-lt"/>
                <a:cs typeface="Times New Roman"/>
              </a:rPr>
              <a:t>existence </a:t>
            </a:r>
            <a:r>
              <a:rPr lang="en-US" sz="2000" dirty="0">
                <a:latin typeface="+mn-lt"/>
                <a:cs typeface="Times New Roman"/>
              </a:rPr>
              <a:t>of a </a:t>
            </a:r>
            <a:r>
              <a:rPr lang="en-US" sz="2000" spc="-5" dirty="0">
                <a:latin typeface="+mn-lt"/>
                <a:cs typeface="Times New Roman"/>
              </a:rPr>
              <a:t>Tax Acc</a:t>
            </a:r>
            <a:r>
              <a:rPr lang="en-US" sz="2000" spc="15" dirty="0">
                <a:latin typeface="+mn-lt"/>
                <a:cs typeface="Times New Roman"/>
              </a:rPr>
              <a:t> </a:t>
            </a:r>
            <a:r>
              <a:rPr lang="en-US" sz="2000" spc="-5" dirty="0">
                <a:latin typeface="+mn-lt"/>
                <a:cs typeface="Times New Roman"/>
              </a:rPr>
              <a:t>class</a:t>
            </a:r>
            <a:endParaRPr lang="en-US" sz="2000" dirty="0">
              <a:latin typeface="+mn-lt"/>
              <a:cs typeface="Times New Roman"/>
            </a:endParaRPr>
          </a:p>
          <a:p>
            <a:pPr marL="184150" marR="298450" indent="-171450">
              <a:lnSpc>
                <a:spcPct val="200000"/>
              </a:lnSpc>
              <a:spcBef>
                <a:spcPts val="380"/>
              </a:spcBef>
              <a:buClr>
                <a:srgbClr val="C00000"/>
              </a:buClr>
              <a:buFont typeface="Times New Roman"/>
              <a:buChar char="•"/>
              <a:tabLst>
                <a:tab pos="184150" algn="l"/>
              </a:tabLst>
            </a:pPr>
            <a:r>
              <a:rPr lang="en-US" sz="2000" b="1" spc="-5" dirty="0">
                <a:solidFill>
                  <a:srgbClr val="CE1C00"/>
                </a:solidFill>
                <a:latin typeface="+mn-lt"/>
                <a:cs typeface="Times New Roman"/>
              </a:rPr>
              <a:t>Modification </a:t>
            </a:r>
            <a:r>
              <a:rPr lang="en-US" sz="2000" dirty="0">
                <a:latin typeface="+mn-lt"/>
                <a:cs typeface="Times New Roman"/>
              </a:rPr>
              <a:t>– </a:t>
            </a:r>
            <a:r>
              <a:rPr lang="en-US" sz="2000" spc="-5" dirty="0">
                <a:latin typeface="+mn-lt"/>
                <a:cs typeface="Times New Roman"/>
              </a:rPr>
              <a:t>giving </a:t>
            </a:r>
            <a:r>
              <a:rPr lang="en-US" sz="2000" dirty="0">
                <a:latin typeface="+mn-lt"/>
                <a:cs typeface="Times New Roman"/>
              </a:rPr>
              <a:t>a </a:t>
            </a:r>
            <a:r>
              <a:rPr lang="en-US" sz="2000" spc="-5" dirty="0">
                <a:latin typeface="+mn-lt"/>
                <a:cs typeface="Times New Roman"/>
              </a:rPr>
              <a:t>salary increase </a:t>
            </a:r>
            <a:r>
              <a:rPr lang="en-US" sz="2000" dirty="0">
                <a:latin typeface="+mn-lt"/>
                <a:cs typeface="Times New Roman"/>
              </a:rPr>
              <a:t>to </a:t>
            </a:r>
            <a:r>
              <a:rPr lang="en-US" sz="2000" spc="-5" dirty="0">
                <a:latin typeface="+mn-lt"/>
                <a:cs typeface="Times New Roman"/>
              </a:rPr>
              <a:t>employee  </a:t>
            </a:r>
            <a:r>
              <a:rPr lang="en-US" sz="2000" dirty="0">
                <a:latin typeface="+mn-lt"/>
                <a:cs typeface="Times New Roman"/>
              </a:rPr>
              <a:t>100 </a:t>
            </a:r>
            <a:r>
              <a:rPr lang="en-US" sz="2000" spc="-5" dirty="0">
                <a:latin typeface="+mn-lt"/>
                <a:cs typeface="Times New Roman"/>
              </a:rPr>
              <a:t>forces </a:t>
            </a:r>
            <a:r>
              <a:rPr lang="en-US" sz="2000" dirty="0">
                <a:latin typeface="+mn-lt"/>
                <a:cs typeface="Times New Roman"/>
              </a:rPr>
              <a:t>us to </a:t>
            </a:r>
            <a:r>
              <a:rPr lang="en-US" sz="2000" spc="-5" dirty="0">
                <a:latin typeface="+mn-lt"/>
                <a:cs typeface="Times New Roman"/>
              </a:rPr>
              <a:t>update multiple</a:t>
            </a:r>
            <a:r>
              <a:rPr lang="en-US" sz="2000" dirty="0">
                <a:latin typeface="+mn-lt"/>
                <a:cs typeface="Times New Roman"/>
              </a:rPr>
              <a:t> </a:t>
            </a:r>
            <a:r>
              <a:rPr lang="en-US" sz="2000" spc="-5" dirty="0">
                <a:latin typeface="+mn-lt"/>
                <a:cs typeface="Times New Roman"/>
              </a:rPr>
              <a:t>records</a:t>
            </a:r>
            <a:endParaRPr lang="en-US" sz="2000" dirty="0">
              <a:latin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099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117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 2                                                                  20CS401 – Database Management Systems					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D4E255-ABDD-48BB-8829-2CFBC46F0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296" y="681070"/>
            <a:ext cx="7843893" cy="59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0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BB2E9F5E-6EC5-471B-82A5-60E7B373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700" y="5421085"/>
            <a:ext cx="990170" cy="994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F233AC-6AA2-4EA7-800C-245294A7D591}"/>
              </a:ext>
            </a:extLst>
          </p:cNvPr>
          <p:cNvSpPr txBox="1"/>
          <p:nvPr/>
        </p:nvSpPr>
        <p:spPr>
          <a:xfrm>
            <a:off x="2738535" y="531006"/>
            <a:ext cx="4599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0" i="0" u="none" strike="noStrike" kern="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First Normal 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Form</a:t>
            </a:r>
            <a:r>
              <a:rPr kumimoji="0" lang="en-IN" sz="2400" b="0" i="0" u="none" strike="noStrike" kern="0" cap="none" spc="-6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 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(1NF)</a:t>
            </a:r>
            <a:endParaRPr lang="en-IN" sz="2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2B6BB-4301-4B97-AE94-BDEEB2EF2429}"/>
              </a:ext>
            </a:extLst>
          </p:cNvPr>
          <p:cNvSpPr txBox="1"/>
          <p:nvPr/>
        </p:nvSpPr>
        <p:spPr>
          <a:xfrm>
            <a:off x="235527" y="1044808"/>
            <a:ext cx="8329975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150" lvl="0" indent="-171450">
              <a:lnSpc>
                <a:spcPct val="150000"/>
              </a:lnSpc>
              <a:spcBef>
                <a:spcPts val="254"/>
              </a:spcBef>
              <a:buClrTx/>
              <a:buFontTx/>
              <a:buChar char="•"/>
              <a:tabLst>
                <a:tab pos="184150" algn="l"/>
              </a:tabLst>
              <a:defRPr/>
            </a:pPr>
            <a:r>
              <a:rPr lang="en-IN"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A relation is in first Normal Form if and only if all underlying domains contain atomic values only</a:t>
            </a:r>
          </a:p>
          <a:p>
            <a:pPr marL="184150" lvl="0" indent="-171450">
              <a:lnSpc>
                <a:spcPct val="150000"/>
              </a:lnSpc>
              <a:spcBef>
                <a:spcPts val="254"/>
              </a:spcBef>
              <a:buClrTx/>
              <a:buFontTx/>
              <a:buChar char="•"/>
              <a:tabLst>
                <a:tab pos="184150" algn="l"/>
              </a:tabLst>
              <a:defRPr/>
            </a:pPr>
            <a:r>
              <a:rPr lang="en-IN"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In other words, a relation doesn’t have multivalued attributes (MVA)</a:t>
            </a:r>
          </a:p>
          <a:p>
            <a:pPr marL="1841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primary key has been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identified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Every relation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in 1NF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by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definition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1NF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example: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E1CEC-388D-4E07-9A31-FC9115511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29" y="4263135"/>
            <a:ext cx="7197007" cy="2204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D454EB-5CC1-4592-98A9-FB237673951E}"/>
              </a:ext>
            </a:extLst>
          </p:cNvPr>
          <p:cNvSpPr txBox="1"/>
          <p:nvPr/>
        </p:nvSpPr>
        <p:spPr>
          <a:xfrm>
            <a:off x="3763630" y="3722498"/>
            <a:ext cx="4599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273503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87870-C9F6-4D42-8A83-3F5CDCDC72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122" t="33221" r="22041" b="21791"/>
          <a:stretch/>
        </p:blipFill>
        <p:spPr>
          <a:xfrm>
            <a:off x="550507" y="900971"/>
            <a:ext cx="7210532" cy="436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1115A0-5072-44B1-AAA9-B98DCEF13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47" y="619748"/>
            <a:ext cx="7192141" cy="547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0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BB2E9F5E-6EC5-471B-82A5-60E7B373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848" y="5433285"/>
            <a:ext cx="978022" cy="9822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3B15BF-41A5-46AC-B725-D1A2A3F967A5}"/>
              </a:ext>
            </a:extLst>
          </p:cNvPr>
          <p:cNvSpPr txBox="1"/>
          <p:nvPr/>
        </p:nvSpPr>
        <p:spPr>
          <a:xfrm>
            <a:off x="2533261" y="680296"/>
            <a:ext cx="4599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2400" b="0" i="0" u="none" strike="noStrike" kern="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Second Normal 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Form</a:t>
            </a:r>
            <a:r>
              <a:rPr kumimoji="0" lang="en-IN" sz="2400" b="0" i="0" u="none" strike="noStrike" kern="0" cap="none" spc="-6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 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j-ea"/>
                <a:cs typeface="Times New Roman"/>
              </a:rPr>
              <a:t>(2NF)</a:t>
            </a:r>
            <a:endParaRPr lang="en-IN" sz="2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5C766-3C27-4AE3-A0D4-A27F113D0BF8}"/>
              </a:ext>
            </a:extLst>
          </p:cNvPr>
          <p:cNvSpPr txBox="1"/>
          <p:nvPr/>
        </p:nvSpPr>
        <p:spPr>
          <a:xfrm>
            <a:off x="559837" y="1324947"/>
            <a:ext cx="8024326" cy="3164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150" marR="276225" lvl="0" indent="-171450" algn="l" defTabSz="914400" rtl="0" eaLnBrk="1" fontAlgn="auto" latinLnBrk="0" hangingPunct="1">
              <a:lnSpc>
                <a:spcPct val="2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1NF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PLUS </a:t>
            </a: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every non-key attribute is  fully functionally dependent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on </a:t>
            </a:r>
            <a:r>
              <a:rPr kumimoji="0" lang="en-US" sz="2000" b="1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 ENTIRE primary key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1000" marR="5080" lvl="1" indent="-139700" algn="l" defTabSz="914400" rtl="0" eaLnBrk="1" fontAlgn="auto" latinLnBrk="0" hangingPunct="1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Every non-key attribute must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defined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by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entire key,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not by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only part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key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4175" marR="0" lvl="1" indent="-142875" algn="l" defTabSz="914400" rtl="0" eaLnBrk="1" fontAlgn="auto" latinLnBrk="0" hangingPunct="1">
              <a:lnSpc>
                <a:spcPct val="2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partial functional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dependencies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516240" y="2472840"/>
              <a:ext cx="7522920" cy="699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2280" y="2468160"/>
                <a:ext cx="7530480" cy="7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319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DD514-7398-423D-A50B-5F6CCAEE4475}"/>
              </a:ext>
            </a:extLst>
          </p:cNvPr>
          <p:cNvSpPr txBox="1"/>
          <p:nvPr/>
        </p:nvSpPr>
        <p:spPr>
          <a:xfrm>
            <a:off x="2169096" y="611709"/>
            <a:ext cx="4599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Functional Dependencies in Student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E46DC-13E9-4846-A7CB-9C601608A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83" y="1423033"/>
            <a:ext cx="6965082" cy="1334186"/>
          </a:xfrm>
          <a:prstGeom prst="rect">
            <a:avLst/>
          </a:prstGeom>
        </p:spPr>
      </p:pic>
      <p:sp>
        <p:nvSpPr>
          <p:cNvPr id="12" name="object 25">
            <a:extLst>
              <a:ext uri="{FF2B5EF4-FFF2-40B4-BE49-F238E27FC236}">
                <a16:creationId xmlns:a16="http://schemas.microsoft.com/office/drawing/2014/main" id="{2F023DB1-02DF-4B3F-A3EC-93A261DCB8BB}"/>
              </a:ext>
            </a:extLst>
          </p:cNvPr>
          <p:cNvSpPr txBox="1"/>
          <p:nvPr/>
        </p:nvSpPr>
        <p:spPr>
          <a:xfrm>
            <a:off x="606490" y="2844986"/>
            <a:ext cx="7134175" cy="3331879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200000"/>
              </a:lnSpc>
              <a:spcBef>
                <a:spcPts val="254"/>
              </a:spcBef>
            </a:pPr>
            <a:r>
              <a:rPr sz="2000" spc="-5" dirty="0">
                <a:latin typeface="Times New Roman"/>
                <a:cs typeface="Times New Roman"/>
              </a:rPr>
              <a:t>Can represent </a:t>
            </a:r>
            <a:r>
              <a:rPr sz="2000" dirty="0">
                <a:latin typeface="Times New Roman"/>
                <a:cs typeface="Times New Roman"/>
              </a:rPr>
              <a:t>FDs with </a:t>
            </a:r>
            <a:r>
              <a:rPr sz="2000" spc="-5" dirty="0">
                <a:latin typeface="Times New Roman"/>
                <a:cs typeface="Times New Roman"/>
              </a:rPr>
              <a:t>arrows as above,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</a:p>
          <a:p>
            <a:pPr marL="412750" indent="-171450">
              <a:lnSpc>
                <a:spcPct val="200000"/>
              </a:lnSpc>
              <a:spcBef>
                <a:spcPts val="155"/>
              </a:spcBef>
              <a:buChar char="•"/>
              <a:tabLst>
                <a:tab pos="412750" algn="l"/>
              </a:tabLst>
            </a:pPr>
            <a:r>
              <a:rPr sz="2000" spc="-5" dirty="0" err="1">
                <a:latin typeface="Times New Roman"/>
                <a:cs typeface="Times New Roman"/>
              </a:rPr>
              <a:t>StudentId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          </a:t>
            </a:r>
            <a:r>
              <a:rPr sz="2000" spc="-140" dirty="0" err="1">
                <a:latin typeface="Times New Roman"/>
                <a:cs typeface="Times New Roman"/>
              </a:rPr>
              <a:t>StuName</a:t>
            </a:r>
            <a:r>
              <a:rPr sz="2000" spc="-140" dirty="0">
                <a:latin typeface="Times New Roman"/>
                <a:cs typeface="Times New Roman"/>
              </a:rPr>
              <a:t>,</a:t>
            </a:r>
            <a:endParaRPr sz="2000" dirty="0">
              <a:latin typeface="Times New Roman"/>
              <a:cs typeface="Times New Roman"/>
            </a:endParaRPr>
          </a:p>
          <a:p>
            <a:pPr marL="412750" indent="-171450">
              <a:lnSpc>
                <a:spcPct val="200000"/>
              </a:lnSpc>
              <a:spcBef>
                <a:spcPts val="170"/>
              </a:spcBef>
              <a:buChar char="•"/>
              <a:tabLst>
                <a:tab pos="412750" algn="l"/>
              </a:tabLst>
            </a:pPr>
            <a:r>
              <a:rPr sz="2000" spc="-5" dirty="0" err="1">
                <a:latin typeface="Times New Roman"/>
                <a:cs typeface="Times New Roman"/>
              </a:rPr>
              <a:t>CourseId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        </a:t>
            </a:r>
            <a:r>
              <a:rPr sz="2000" spc="-5" dirty="0" err="1">
                <a:latin typeface="Times New Roman"/>
                <a:cs typeface="Times New Roman"/>
              </a:rPr>
              <a:t>CourseName</a:t>
            </a:r>
            <a:endParaRPr sz="2000" dirty="0">
              <a:latin typeface="Times New Roman"/>
              <a:cs typeface="Times New Roman"/>
            </a:endParaRPr>
          </a:p>
          <a:p>
            <a:pPr marL="412750" marR="5080" indent="-171450">
              <a:lnSpc>
                <a:spcPct val="200000"/>
              </a:lnSpc>
              <a:spcBef>
                <a:spcPts val="365"/>
              </a:spcBef>
              <a:buChar char="•"/>
              <a:tabLst>
                <a:tab pos="412750" algn="l"/>
              </a:tabLst>
            </a:pPr>
            <a:r>
              <a:rPr sz="2000" spc="-5" dirty="0" err="1">
                <a:latin typeface="Times New Roman"/>
                <a:cs typeface="Times New Roman"/>
              </a:rPr>
              <a:t>StudentId,CourseId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       </a:t>
            </a:r>
            <a:r>
              <a:rPr sz="2000" spc="-5" dirty="0">
                <a:latin typeface="Times New Roman"/>
                <a:cs typeface="Times New Roman"/>
              </a:rPr>
              <a:t>Grade (and StuName,  CourseName)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200000"/>
              </a:lnSpc>
              <a:spcBef>
                <a:spcPts val="935"/>
              </a:spcBef>
            </a:pPr>
            <a:r>
              <a:rPr sz="2000" dirty="0">
                <a:solidFill>
                  <a:srgbClr val="1F1FFF"/>
                </a:solidFill>
                <a:latin typeface="Times New Roman"/>
                <a:cs typeface="Times New Roman"/>
              </a:rPr>
              <a:t>Any </a:t>
            </a:r>
            <a:r>
              <a:rPr sz="2000" spc="-5" dirty="0">
                <a:solidFill>
                  <a:srgbClr val="1F1FFF"/>
                </a:solidFill>
                <a:latin typeface="Times New Roman"/>
                <a:cs typeface="Times New Roman"/>
              </a:rPr>
              <a:t>partial </a:t>
            </a:r>
            <a:r>
              <a:rPr sz="2000" dirty="0">
                <a:solidFill>
                  <a:srgbClr val="1F1FFF"/>
                </a:solidFill>
                <a:latin typeface="Times New Roman"/>
                <a:cs typeface="Times New Roman"/>
              </a:rPr>
              <a:t>FDs ?</a:t>
            </a:r>
            <a:r>
              <a:rPr lang="en-US" sz="2000" dirty="0">
                <a:solidFill>
                  <a:srgbClr val="1F1FFF"/>
                </a:solidFill>
                <a:latin typeface="Times New Roman"/>
                <a:cs typeface="Times New Roman"/>
              </a:rPr>
              <a:t> </a:t>
            </a:r>
            <a:endParaRPr sz="2000" dirty="0">
              <a:latin typeface="Times New Roman"/>
              <a:cs typeface="Times New Roman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C479E5-F654-4B54-AEB9-60AD746593A2}"/>
              </a:ext>
            </a:extLst>
          </p:cNvPr>
          <p:cNvCxnSpPr/>
          <p:nvPr/>
        </p:nvCxnSpPr>
        <p:spPr>
          <a:xfrm>
            <a:off x="2057129" y="3918858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15CA29-6B27-4236-8B1E-252360E4456F}"/>
              </a:ext>
            </a:extLst>
          </p:cNvPr>
          <p:cNvCxnSpPr/>
          <p:nvPr/>
        </p:nvCxnSpPr>
        <p:spPr>
          <a:xfrm>
            <a:off x="2383700" y="3931300"/>
            <a:ext cx="326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B1FC92-0BD0-47A6-9477-B62A7EC20EBF}"/>
              </a:ext>
            </a:extLst>
          </p:cNvPr>
          <p:cNvCxnSpPr/>
          <p:nvPr/>
        </p:nvCxnSpPr>
        <p:spPr>
          <a:xfrm>
            <a:off x="1903445" y="4338735"/>
            <a:ext cx="265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394D9B-65B6-43F4-AAB7-0DA3CF08A98E}"/>
              </a:ext>
            </a:extLst>
          </p:cNvPr>
          <p:cNvCxnSpPr/>
          <p:nvPr/>
        </p:nvCxnSpPr>
        <p:spPr>
          <a:xfrm>
            <a:off x="2286000" y="4338735"/>
            <a:ext cx="251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B7F123-604A-4994-9897-8AA19627DA87}"/>
              </a:ext>
            </a:extLst>
          </p:cNvPr>
          <p:cNvCxnSpPr/>
          <p:nvPr/>
        </p:nvCxnSpPr>
        <p:spPr>
          <a:xfrm>
            <a:off x="3032449" y="5047861"/>
            <a:ext cx="205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EFFB07-B200-4981-BAAB-BC98847F4677}"/>
              </a:ext>
            </a:extLst>
          </p:cNvPr>
          <p:cNvCxnSpPr/>
          <p:nvPr/>
        </p:nvCxnSpPr>
        <p:spPr>
          <a:xfrm>
            <a:off x="3371461" y="5047861"/>
            <a:ext cx="2052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64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4FAD6-D494-482B-A140-B50601E74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28" y="2911152"/>
            <a:ext cx="6289716" cy="1955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42273F-45E0-4E25-B73D-0D0E6E5C1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44" y="1199652"/>
            <a:ext cx="8166112" cy="156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0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48454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FA935-6E93-404B-A4B2-0560EA7D0547}"/>
              </a:ext>
            </a:extLst>
          </p:cNvPr>
          <p:cNvSpPr txBox="1"/>
          <p:nvPr/>
        </p:nvSpPr>
        <p:spPr>
          <a:xfrm>
            <a:off x="335902" y="559837"/>
            <a:ext cx="8546841" cy="1764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839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2NF:</a:t>
            </a:r>
            <a:r>
              <a:rPr kumimoji="0" lang="en-US" sz="2400" b="1" i="0" u="none" strike="noStrike" kern="1200" cap="none" spc="-1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Normalizing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2700" marR="5080" lvl="0" algn="l" defTabSz="914400" rtl="0" eaLnBrk="1" fontAlgn="auto" latinLnBrk="0" hangingPunct="1">
              <a:lnSpc>
                <a:spcPct val="200000"/>
              </a:lnSpc>
              <a:spcBef>
                <a:spcPts val="1310"/>
              </a:spcBef>
              <a:spcAft>
                <a:spcPts val="0"/>
              </a:spcAft>
              <a:buClrTx/>
              <a:buSzTx/>
              <a:tabLst>
                <a:tab pos="184150" algn="l"/>
              </a:tabLst>
              <a:defRPr/>
            </a:pPr>
            <a:r>
              <a:rPr lang="en-US"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To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convert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partial dependencies into  normal ones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we have to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breaking into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more</a:t>
            </a:r>
            <a:r>
              <a:rPr kumimoji="0" lang="en-US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tables.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02F09-E96B-49B3-AF20-94D4706AA0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123" t="58073" r="27143" b="28503"/>
          <a:stretch/>
        </p:blipFill>
        <p:spPr>
          <a:xfrm>
            <a:off x="475862" y="4372609"/>
            <a:ext cx="6372808" cy="1516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425DE8-67D3-406A-8815-459F4294C7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090" t="43552" r="25172" b="46678"/>
          <a:stretch/>
        </p:blipFill>
        <p:spPr>
          <a:xfrm>
            <a:off x="35496" y="2399137"/>
            <a:ext cx="7536504" cy="10974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4EDD22-F56E-4993-8401-4A6B46F9ED9C}"/>
              </a:ext>
            </a:extLst>
          </p:cNvPr>
          <p:cNvSpPr txBox="1"/>
          <p:nvPr/>
        </p:nvSpPr>
        <p:spPr>
          <a:xfrm>
            <a:off x="335901" y="3806283"/>
            <a:ext cx="8612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arrows mean functional dependency,  below they mean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FK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constraints</a:t>
            </a: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082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6803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4DCA1-6B5F-40C5-B018-E55473951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54" y="1007427"/>
            <a:ext cx="6829836" cy="51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0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27710"/>
            <a:ext cx="9144000" cy="6511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BB2E9F5E-6EC5-471B-82A5-60E7B373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372" y="5346441"/>
            <a:ext cx="1064497" cy="1069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200E64-D92A-460F-969A-C34E6249A043}"/>
              </a:ext>
            </a:extLst>
          </p:cNvPr>
          <p:cNvSpPr txBox="1"/>
          <p:nvPr/>
        </p:nvSpPr>
        <p:spPr>
          <a:xfrm>
            <a:off x="307910" y="933060"/>
            <a:ext cx="8472195" cy="3610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Normal</a:t>
            </a:r>
            <a:r>
              <a:rPr kumimoji="0" lang="en-US" sz="2400" b="0" i="0" u="none" strike="noStrike" kern="1200" cap="none" spc="-6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Form</a:t>
            </a:r>
          </a:p>
          <a:p>
            <a:pPr marL="184150" marR="0" lvl="0" indent="-171450" algn="l" defTabSz="914400" rtl="0" eaLnBrk="1" fontAlgn="auto" latinLnBrk="0" hangingPunct="1">
              <a:lnSpc>
                <a:spcPct val="2000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2NF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transitive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dependencies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5080" lvl="0" indent="-171450" algn="l" defTabSz="914400" rtl="0" eaLnBrk="1" fontAlgn="auto" latinLnBrk="0" hangingPunct="1">
              <a:lnSpc>
                <a:spcPct val="2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transitive dependency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when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non-key  attribute depends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on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another non-key  attribute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16510" lvl="0" indent="-171450" algn="l" defTabSz="914400" rtl="0" eaLnBrk="1" fontAlgn="auto" latinLnBrk="0" hangingPunct="1">
              <a:lnSpc>
                <a:spcPct val="2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8415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Note: This is called transitive, because the  primary key is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determinant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another  attribute, which in turn is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determinant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third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attribute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116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3771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F3A1E-D361-419C-A259-E9BC49C2B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2" y="677253"/>
            <a:ext cx="6322371" cy="460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8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-1"/>
            <a:ext cx="9144000" cy="595745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0615A-F37B-4C8F-A0AA-09F598B19D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49" t="27596" r="26428" b="29591"/>
          <a:stretch/>
        </p:blipFill>
        <p:spPr>
          <a:xfrm>
            <a:off x="2766770" y="844902"/>
            <a:ext cx="5617028" cy="28766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FA8EF9-CA87-4A7F-81CE-DFE3A4BE5FEB}"/>
              </a:ext>
            </a:extLst>
          </p:cNvPr>
          <p:cNvSpPr txBox="1"/>
          <p:nvPr/>
        </p:nvSpPr>
        <p:spPr>
          <a:xfrm>
            <a:off x="149290" y="2993935"/>
            <a:ext cx="8724122" cy="3074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No non-prime attribute is transitively dependent on prime key attribute. For any non-trivial functional dependency,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 X → A, then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either − X is a </a:t>
            </a:r>
            <a:r>
              <a:rPr lang="en-US" sz="2000" dirty="0" err="1"/>
              <a:t>superkey</a:t>
            </a:r>
            <a:r>
              <a:rPr lang="en-US" sz="2000" dirty="0"/>
              <a:t> or,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 A is prime attribute.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1899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401782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8922C-DDB2-4C2B-BF2A-0F223CF8EE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29" t="31588" r="16881" b="52811"/>
          <a:stretch/>
        </p:blipFill>
        <p:spPr>
          <a:xfrm>
            <a:off x="821094" y="851564"/>
            <a:ext cx="7622422" cy="1432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D311A-CA9B-4BE2-A568-A05E4989FF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290" t="59058" r="26073" b="18166"/>
          <a:stretch/>
        </p:blipFill>
        <p:spPr>
          <a:xfrm>
            <a:off x="2204592" y="4432660"/>
            <a:ext cx="4989310" cy="20204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70D217-F5CA-4FA2-BA07-A6403EAEF123}"/>
              </a:ext>
            </a:extLst>
          </p:cNvPr>
          <p:cNvSpPr txBox="1"/>
          <p:nvPr/>
        </p:nvSpPr>
        <p:spPr>
          <a:xfrm>
            <a:off x="260913" y="2062065"/>
            <a:ext cx="8742784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In the above </a:t>
            </a:r>
            <a:r>
              <a:rPr lang="en-US" sz="2000" dirty="0" err="1"/>
              <a:t>Student_detail</a:t>
            </a:r>
            <a:r>
              <a:rPr lang="en-US" sz="2000" dirty="0"/>
              <a:t> relation, </a:t>
            </a:r>
            <a:r>
              <a:rPr lang="en-US" sz="2000" dirty="0" err="1"/>
              <a:t>Stu_ID</a:t>
            </a:r>
            <a:r>
              <a:rPr lang="en-US" sz="2000" dirty="0"/>
              <a:t> is the key and only prime key attribute. We find that City can be identified by </a:t>
            </a:r>
            <a:r>
              <a:rPr lang="en-US" sz="2000" dirty="0" err="1"/>
              <a:t>Stu_ID</a:t>
            </a:r>
            <a:r>
              <a:rPr lang="en-US" sz="2000" dirty="0"/>
              <a:t> as well as Zip itself. Neither Zip is a super key nor is City a prime attribute. Additionally, </a:t>
            </a:r>
            <a:r>
              <a:rPr lang="en-US" sz="2000" dirty="0" err="1"/>
              <a:t>Stu_ID</a:t>
            </a:r>
            <a:r>
              <a:rPr lang="en-US" sz="2000" dirty="0"/>
              <a:t> → Zip → City, so there exists </a:t>
            </a:r>
            <a:r>
              <a:rPr lang="en-US" sz="2000" dirty="0">
                <a:solidFill>
                  <a:srgbClr val="FF0000"/>
                </a:solidFill>
              </a:rPr>
              <a:t>transitive dependency</a:t>
            </a:r>
            <a:r>
              <a:rPr lang="en-US" sz="2000" dirty="0"/>
              <a:t>. To bring this relation into third normal form, we break the relation into two relations as follows −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645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13854"/>
            <a:ext cx="9144000" cy="568037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3C9C1-6425-482F-A7FF-FEBCAC520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10" y="883550"/>
            <a:ext cx="6689846" cy="509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9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-1"/>
            <a:ext cx="9144000" cy="409509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BB2E9F5E-6EC5-471B-82A5-60E7B373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318" y="5436771"/>
            <a:ext cx="974552" cy="978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B5C6C6-30F8-49D8-AF56-FD82B4082B97}"/>
              </a:ext>
            </a:extLst>
          </p:cNvPr>
          <p:cNvSpPr txBox="1"/>
          <p:nvPr/>
        </p:nvSpPr>
        <p:spPr>
          <a:xfrm>
            <a:off x="1660848" y="746756"/>
            <a:ext cx="5668346" cy="32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algn="ctr" defTabSz="914400" rtl="0" eaLnBrk="1" fontAlgn="auto" latinLnBrk="0" hangingPunct="1">
              <a:lnSpc>
                <a:spcPts val="1664"/>
              </a:lnSpc>
              <a:spcBef>
                <a:spcPts val="1365"/>
              </a:spcBef>
              <a:spcAft>
                <a:spcPts val="0"/>
              </a:spcAft>
              <a:buClrTx/>
              <a:buSzTx/>
              <a:tabLst>
                <a:tab pos="184150" algn="l"/>
              </a:tabLst>
              <a:defRPr/>
            </a:pPr>
            <a:r>
              <a:rPr kumimoji="0" lang="en-IN" sz="2400" b="0" i="0" u="none" strike="noStrike" kern="1200" cap="none" spc="-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Boyce-Codd Normal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form (BCNF)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C2F04-FFB1-43D3-B808-65110BC0C7C1}"/>
              </a:ext>
            </a:extLst>
          </p:cNvPr>
          <p:cNvSpPr txBox="1"/>
          <p:nvPr/>
        </p:nvSpPr>
        <p:spPr>
          <a:xfrm>
            <a:off x="531845" y="1259633"/>
            <a:ext cx="7800392" cy="4305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4200" marR="0" lvl="1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Slight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difference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with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3NF</a:t>
            </a:r>
          </a:p>
          <a:p>
            <a:pPr marL="584200" marR="189865" lvl="1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be in 3NF but not in BNF,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needs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two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composite  candidate keys,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with one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attribute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one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key depending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on one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attribute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the</a:t>
            </a: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other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584200" marR="0" lvl="1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Not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very common.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Wingdings"/>
            </a:endParaRPr>
          </a:p>
          <a:p>
            <a:pPr marL="584200" marR="5080" lvl="1" indent="-342900" algn="l" defTabSz="914400" rtl="0" eaLnBrk="1" fontAlgn="auto" latinLnBrk="0" hangingPunct="1">
              <a:lnSpc>
                <a:spcPct val="2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If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table contains only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one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candidate key,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3NF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 BCNF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are</a:t>
            </a:r>
            <a: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equivalent.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311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24762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B77D216-B117-468F-85CD-E33CB8A5BDE7}"/>
              </a:ext>
            </a:extLst>
          </p:cNvPr>
          <p:cNvSpPr txBox="1">
            <a:spLocks/>
          </p:cNvSpPr>
          <p:nvPr/>
        </p:nvSpPr>
        <p:spPr>
          <a:xfrm>
            <a:off x="2892490" y="630243"/>
            <a:ext cx="335902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200" b="0" i="0">
                <a:solidFill>
                  <a:srgbClr val="00006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BCNF</a:t>
            </a:r>
            <a:r>
              <a:rPr kumimoji="0" lang="en-IN" sz="2200" b="1" i="0" u="none" strike="noStrike" kern="0" cap="none" spc="-7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 </a:t>
            </a:r>
            <a:r>
              <a:rPr kumimoji="0" lang="en-IN" sz="2200" b="1" i="0" u="none" strike="noStrike" kern="0" cap="none" spc="-5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j-ea"/>
                <a:cs typeface="Times New Roman"/>
              </a:rPr>
              <a:t>Example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B0602042-8293-4E17-9DB0-2E6FC091DC90}"/>
              </a:ext>
            </a:extLst>
          </p:cNvPr>
          <p:cNvSpPr txBox="1"/>
          <p:nvPr/>
        </p:nvSpPr>
        <p:spPr>
          <a:xfrm>
            <a:off x="-93307" y="1026641"/>
            <a:ext cx="8761445" cy="2115964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4150" indent="-171450">
              <a:spcBef>
                <a:spcPts val="400"/>
              </a:spcBef>
              <a:buClrTx/>
              <a:buFont typeface="Times New Roman"/>
              <a:buChar char="•"/>
              <a:tabLst>
                <a:tab pos="184150" algn="l"/>
              </a:tabLst>
            </a:pPr>
            <a:r>
              <a:rPr sz="2000" b="1" kern="1200" dirty="0">
                <a:solidFill>
                  <a:srgbClr val="00006A"/>
                </a:solidFill>
                <a:latin typeface="+mn-lt"/>
                <a:ea typeface="+mn-ea"/>
                <a:cs typeface="Times New Roman"/>
              </a:rPr>
              <a:t>Assume</a:t>
            </a:r>
            <a:r>
              <a:rPr sz="2000" b="1" kern="1200" spc="-10" dirty="0">
                <a:solidFill>
                  <a:srgbClr val="00006A"/>
                </a:solidFill>
                <a:latin typeface="+mn-lt"/>
                <a:ea typeface="+mn-ea"/>
                <a:cs typeface="Times New Roman"/>
              </a:rPr>
              <a:t> </a:t>
            </a:r>
            <a:r>
              <a:rPr sz="2000" b="1" kern="1200" dirty="0">
                <a:solidFill>
                  <a:srgbClr val="00006A"/>
                </a:solidFill>
                <a:latin typeface="+mn-lt"/>
                <a:ea typeface="+mn-ea"/>
                <a:cs typeface="Times New Roman"/>
              </a:rPr>
              <a:t>that</a:t>
            </a:r>
            <a:endParaRPr sz="2000" kern="1200" dirty="0">
              <a:solidFill>
                <a:prstClr val="black"/>
              </a:solidFill>
              <a:latin typeface="+mn-lt"/>
              <a:ea typeface="+mn-ea"/>
              <a:cs typeface="Times New Roman"/>
            </a:endParaRPr>
          </a:p>
          <a:p>
            <a:pPr marL="384175" lvl="1" indent="-142875">
              <a:spcBef>
                <a:spcPts val="259"/>
              </a:spcBef>
              <a:buClrTx/>
              <a:buFontTx/>
              <a:buChar char="–"/>
              <a:tabLst>
                <a:tab pos="384175" algn="l"/>
              </a:tabLst>
            </a:pPr>
            <a:r>
              <a:rPr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For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each subject, each student </a:t>
            </a:r>
            <a:r>
              <a:rPr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is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taught </a:t>
            </a:r>
            <a:r>
              <a:rPr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by one</a:t>
            </a:r>
            <a:r>
              <a:rPr sz="2000" kern="1200" spc="3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Instructor</a:t>
            </a:r>
            <a:endParaRPr sz="2000" kern="1200" dirty="0">
              <a:solidFill>
                <a:prstClr val="black"/>
              </a:solidFill>
              <a:latin typeface="+mn-lt"/>
              <a:ea typeface="+mn-ea"/>
              <a:cs typeface="Times New Roman"/>
            </a:endParaRPr>
          </a:p>
          <a:p>
            <a:pPr marL="384175" lvl="1" indent="-142875">
              <a:spcBef>
                <a:spcPts val="309"/>
              </a:spcBef>
              <a:buClrTx/>
              <a:buFontTx/>
              <a:buChar char="–"/>
              <a:tabLst>
                <a:tab pos="384175" algn="l"/>
              </a:tabLst>
            </a:pP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Each Instructor teaches only </a:t>
            </a:r>
            <a:r>
              <a:rPr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one</a:t>
            </a:r>
            <a:r>
              <a:rPr sz="2000" kern="1200" spc="1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subject</a:t>
            </a:r>
            <a:endParaRPr sz="2000" kern="1200" dirty="0">
              <a:solidFill>
                <a:prstClr val="black"/>
              </a:solidFill>
              <a:latin typeface="+mn-lt"/>
              <a:ea typeface="+mn-ea"/>
              <a:cs typeface="Times New Roman"/>
            </a:endParaRPr>
          </a:p>
          <a:p>
            <a:pPr marL="384175" lvl="1" indent="-142875">
              <a:spcBef>
                <a:spcPts val="259"/>
              </a:spcBef>
              <a:buClrTx/>
              <a:buFontTx/>
              <a:buChar char="–"/>
              <a:tabLst>
                <a:tab pos="384175" algn="l"/>
              </a:tabLst>
            </a:pP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Each subject </a:t>
            </a:r>
            <a:r>
              <a:rPr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is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taught </a:t>
            </a:r>
            <a:r>
              <a:rPr sz="2000" kern="120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by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several</a:t>
            </a:r>
            <a:r>
              <a:rPr sz="2000" kern="1200" spc="10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 </a:t>
            </a:r>
            <a:r>
              <a:rPr sz="2000" kern="1200" spc="-5" dirty="0">
                <a:solidFill>
                  <a:prstClr val="black"/>
                </a:solidFill>
                <a:latin typeface="+mn-lt"/>
                <a:ea typeface="+mn-ea"/>
                <a:cs typeface="Times New Roman"/>
              </a:rPr>
              <a:t>Instructors</a:t>
            </a:r>
            <a:endParaRPr sz="2000" kern="1200" dirty="0">
              <a:solidFill>
                <a:prstClr val="black"/>
              </a:solidFill>
              <a:latin typeface="+mn-lt"/>
              <a:ea typeface="+mn-ea"/>
              <a:cs typeface="Times New Roman"/>
            </a:endParaRPr>
          </a:p>
          <a:p>
            <a:pPr marR="5080" algn="r">
              <a:spcBef>
                <a:spcPts val="480"/>
              </a:spcBef>
              <a:buClrTx/>
              <a:buFontTx/>
              <a:buNone/>
            </a:pPr>
            <a:r>
              <a:rPr sz="2000" kern="1200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Course, </a:t>
            </a:r>
            <a:r>
              <a:rPr sz="2000" kern="1200" spc="-5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Student</a:t>
            </a:r>
            <a:r>
              <a:rPr sz="2000" kern="1200" spc="-20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 </a:t>
            </a:r>
            <a:r>
              <a:rPr lang="en-US" sz="2000" kern="1200" spc="-20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  </a:t>
            </a:r>
            <a:r>
              <a:rPr lang="en-US" sz="2000" kern="1200" spc="-5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    </a:t>
            </a:r>
            <a:r>
              <a:rPr sz="2000" kern="1200" spc="-5" dirty="0" err="1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instructo</a:t>
            </a:r>
            <a:r>
              <a:rPr lang="en-IN" sz="2000" kern="1200" spc="-5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r</a:t>
            </a:r>
            <a:endParaRPr lang="en-IN" sz="2000" kern="1200" dirty="0">
              <a:solidFill>
                <a:prstClr val="black"/>
              </a:solidFill>
              <a:latin typeface="+mn-lt"/>
              <a:ea typeface="+mn-ea"/>
              <a:cs typeface="Times New Roman"/>
            </a:endParaRPr>
          </a:p>
          <a:p>
            <a:pPr marR="5715" algn="r">
              <a:spcBef>
                <a:spcPts val="340"/>
              </a:spcBef>
              <a:buClrTx/>
              <a:buFontTx/>
              <a:buNone/>
            </a:pPr>
            <a:r>
              <a:rPr lang="en-IN" sz="2000" kern="1200" spc="-5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Instructor  </a:t>
            </a:r>
            <a:r>
              <a:rPr lang="en-IN" sz="2000" kern="1200" spc="-30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 </a:t>
            </a:r>
            <a:r>
              <a:rPr lang="en-IN" sz="2000" kern="1200" dirty="0">
                <a:solidFill>
                  <a:srgbClr val="800000"/>
                </a:solidFill>
                <a:latin typeface="+mn-lt"/>
                <a:ea typeface="+mn-ea"/>
                <a:cs typeface="Times New Roman"/>
              </a:rPr>
              <a:t>Course</a:t>
            </a:r>
            <a:endParaRPr lang="en-IN" sz="2000" kern="1200" dirty="0">
              <a:solidFill>
                <a:prstClr val="black"/>
              </a:solidFill>
              <a:latin typeface="+mn-lt"/>
              <a:ea typeface="+mn-ea"/>
              <a:cs typeface="Times New Roman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465665-1668-4C75-BFDA-4D30F972A33B}"/>
              </a:ext>
            </a:extLst>
          </p:cNvPr>
          <p:cNvCxnSpPr/>
          <p:nvPr/>
        </p:nvCxnSpPr>
        <p:spPr>
          <a:xfrm>
            <a:off x="7414055" y="2621210"/>
            <a:ext cx="1862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509521-65A7-4631-A33B-D525519B4A26}"/>
              </a:ext>
            </a:extLst>
          </p:cNvPr>
          <p:cNvCxnSpPr/>
          <p:nvPr/>
        </p:nvCxnSpPr>
        <p:spPr>
          <a:xfrm>
            <a:off x="7600282" y="2997545"/>
            <a:ext cx="1862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41FFDDF-FA76-43F7-8745-221E0A9245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244" t="50000" r="28980" b="26508"/>
          <a:stretch/>
        </p:blipFill>
        <p:spPr>
          <a:xfrm>
            <a:off x="211826" y="3269969"/>
            <a:ext cx="6440901" cy="295778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EDCB5A-0F69-4BEC-9E18-1D304B64D990}"/>
              </a:ext>
            </a:extLst>
          </p:cNvPr>
          <p:cNvCxnSpPr/>
          <p:nvPr/>
        </p:nvCxnSpPr>
        <p:spPr>
          <a:xfrm>
            <a:off x="7155908" y="2632959"/>
            <a:ext cx="1862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1F2A74-DB3F-49AC-B3FA-BEB41C9AE0D7}"/>
              </a:ext>
            </a:extLst>
          </p:cNvPr>
          <p:cNvCxnSpPr/>
          <p:nvPr/>
        </p:nvCxnSpPr>
        <p:spPr>
          <a:xfrm>
            <a:off x="7693395" y="2997545"/>
            <a:ext cx="1862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46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47658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E9F5E-6EC5-471B-82A5-60E7B373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482" y="5542383"/>
            <a:ext cx="869388" cy="8731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FC9BC-B1A1-4E30-BC49-73AC96F2AE9D}"/>
              </a:ext>
            </a:extLst>
          </p:cNvPr>
          <p:cNvSpPr txBox="1"/>
          <p:nvPr/>
        </p:nvSpPr>
        <p:spPr>
          <a:xfrm>
            <a:off x="503853" y="699796"/>
            <a:ext cx="8350898" cy="5000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89535" lvl="0" indent="0" algn="ctr" defTabSz="914400" rtl="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BCNF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Boyce-Codd normal form</a:t>
            </a:r>
            <a:r>
              <a:rPr kumimoji="0" lang="en-US" sz="2000" b="1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(BCNF)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661670" lvl="0" indent="0" algn="l" defTabSz="9144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relation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in BCNF, if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and only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if,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every  determinant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candidate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key.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5080" lvl="0" indent="-171450" algn="l" defTabSz="914400" rtl="0" eaLnBrk="1" fontAlgn="auto" latinLnBrk="0" hangingPunct="1">
              <a:lnSpc>
                <a:spcPct val="150000"/>
              </a:lnSpc>
              <a:spcBef>
                <a:spcPts val="570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</a:t>
            </a: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difference between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3NF and BCNF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that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functional dependency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    B, 3NF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allows this  dependency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relation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if B is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primary-key  attribute 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is not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candidate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key,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207645" lvl="0" indent="0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whereas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BCNF insists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that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this dependency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remain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relation,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must be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candidate</a:t>
            </a:r>
            <a:r>
              <a:rPr kumimoji="0" lang="en-US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key.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D4F5CE-8D34-46A3-9913-93AB8EB3A996}"/>
              </a:ext>
            </a:extLst>
          </p:cNvPr>
          <p:cNvCxnSpPr/>
          <p:nvPr/>
        </p:nvCxnSpPr>
        <p:spPr>
          <a:xfrm>
            <a:off x="2425959" y="3657600"/>
            <a:ext cx="102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FC85F3-9531-48E3-B0CC-EF5324E644A4}"/>
              </a:ext>
            </a:extLst>
          </p:cNvPr>
          <p:cNvCxnSpPr/>
          <p:nvPr/>
        </p:nvCxnSpPr>
        <p:spPr>
          <a:xfrm>
            <a:off x="2528596" y="3657600"/>
            <a:ext cx="102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44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13762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439CA-3E02-41F8-965F-13C4D5937C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60" b="2888"/>
          <a:stretch/>
        </p:blipFill>
        <p:spPr>
          <a:xfrm>
            <a:off x="917793" y="913520"/>
            <a:ext cx="6867330" cy="533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8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-1"/>
            <a:ext cx="9144000" cy="493453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60E2E-DC6C-4FDE-B51E-ED48C38D36CC}"/>
              </a:ext>
            </a:extLst>
          </p:cNvPr>
          <p:cNvSpPr txBox="1"/>
          <p:nvPr/>
        </p:nvSpPr>
        <p:spPr>
          <a:xfrm>
            <a:off x="867747" y="1110344"/>
            <a:ext cx="7501812" cy="452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0" marR="0" lvl="0" indent="0" algn="ctr" defTabSz="914400" rtl="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4NF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multi-valued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dependency </a:t>
            </a: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exists</a:t>
            </a:r>
            <a:r>
              <a:rPr kumimoji="0" lang="en-US" sz="2000" b="1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when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4175" marR="0" lvl="1" indent="-142875" algn="l" defTabSz="914400" rtl="0" eaLnBrk="1" fontAlgn="auto" latinLnBrk="0" hangingPunct="1">
              <a:lnSpc>
                <a:spcPct val="15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There are at least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3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attributes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A, B, C in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relation</a:t>
            </a:r>
            <a:r>
              <a:rPr kumimoji="0" lang="en-US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1000" marR="5080" lvl="1" indent="-139700" algn="l" defTabSz="914400" rtl="0" eaLnBrk="1" fontAlgn="auto" latinLnBrk="0" hangingPunct="1">
              <a:lnSpc>
                <a:spcPct val="15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each value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there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well defined set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values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B,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well defined set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values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C,</a:t>
            </a:r>
          </a:p>
          <a:p>
            <a:pPr marL="381000" marR="88900" lvl="1" indent="-139700" algn="l" defTabSz="914400" rtl="0" eaLnBrk="1" fontAlgn="auto" latinLnBrk="0" hangingPunct="1">
              <a:lnSpc>
                <a:spcPct val="15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But the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set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values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B is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independent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on the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set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of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values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for C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Times New Roman"/>
              <a:buChar char="–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1841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4NF = 3NF with no </a:t>
            </a: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multi-valued</a:t>
            </a:r>
            <a:r>
              <a:rPr kumimoji="0" lang="en-US" sz="2000" b="1" i="0" u="none" strike="noStrike" kern="1200" cap="none" spc="-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dependency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  <p:pic>
        <p:nvPicPr>
          <p:cNvPr id="2" name="Picture 1">
            <a:hlinkClick r:id="rId3"/>
            <a:extLst>
              <a:ext uri="{FF2B5EF4-FFF2-40B4-BE49-F238E27FC236}">
                <a16:creationId xmlns:a16="http://schemas.microsoft.com/office/drawing/2014/main" id="{3FEB20C7-D853-4F8F-B821-DFCE80020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351" y="5381735"/>
            <a:ext cx="871804" cy="87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075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3877D-0A7C-4905-A9DB-11B74EAC0353}"/>
              </a:ext>
            </a:extLst>
          </p:cNvPr>
          <p:cNvSpPr txBox="1"/>
          <p:nvPr/>
        </p:nvSpPr>
        <p:spPr>
          <a:xfrm>
            <a:off x="781945" y="547103"/>
            <a:ext cx="8921892" cy="199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Tx/>
              <a:buSzTx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A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Assume</a:t>
            </a:r>
            <a:r>
              <a:rPr kumimoji="0" lang="en-US" sz="2000" b="1" i="0" u="none" strike="noStrike" kern="1200" cap="none" spc="-10" normalizeH="0" baseline="0" noProof="0" dirty="0">
                <a:ln>
                  <a:noFill/>
                </a:ln>
                <a:solidFill>
                  <a:srgbClr val="00006A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A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that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4175" marR="0" lvl="1" indent="-142875" algn="l" defTabSz="914400" rtl="0" eaLnBrk="1" fontAlgn="auto" latinLnBrk="0" hangingPunct="1">
              <a:lnSpc>
                <a:spcPct val="150000"/>
              </a:lnSpc>
              <a:spcBef>
                <a:spcPts val="259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Each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subject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taught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by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many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Instructors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4175" marR="0" lvl="1" indent="-142875" algn="l" defTabSz="914400" rtl="0" eaLnBrk="1" fontAlgn="auto" latinLnBrk="0" hangingPunct="1">
              <a:lnSpc>
                <a:spcPct val="1500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The same books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are used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many</a:t>
            </a:r>
            <a:r>
              <a:rPr kumimoji="0" lang="en-US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subjects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384175" marR="0" lvl="1" indent="-142875" algn="l" defTabSz="914400" rtl="0" eaLnBrk="1" fontAlgn="auto" latinLnBrk="0" hangingPunct="1">
              <a:lnSpc>
                <a:spcPct val="150000"/>
              </a:lnSpc>
              <a:spcBef>
                <a:spcPts val="259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Each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Instructor uses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different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book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15AC3-8C31-431D-AF1C-781F22FD64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061" t="47733" r="27041" b="31224"/>
          <a:stretch/>
        </p:blipFill>
        <p:spPr>
          <a:xfrm>
            <a:off x="781945" y="2969884"/>
            <a:ext cx="6787534" cy="26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7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2383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348AC-D98F-4BD8-986C-86B0CC538CFB}"/>
              </a:ext>
            </a:extLst>
          </p:cNvPr>
          <p:cNvSpPr txBox="1"/>
          <p:nvPr/>
        </p:nvSpPr>
        <p:spPr>
          <a:xfrm>
            <a:off x="307910" y="1003680"/>
            <a:ext cx="7641771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 :INVOICE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</a:t>
            </a:r>
          </a:p>
          <a:p>
            <a:pPr marL="381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Table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 multivalued attributes, not in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r>
              <a:rPr kumimoji="0" lang="en-US" sz="2000" b="0" i="0" u="none" strike="noStrike" kern="1200" cap="none" spc="-7" normalizeH="0" baseline="24305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normal</a:t>
            </a:r>
            <a:r>
              <a:rPr kumimoji="0" lang="en-US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EB55A7-67B0-4864-97AF-2EF740084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04" y="2064642"/>
            <a:ext cx="7641771" cy="402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2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-1"/>
            <a:ext cx="9144000" cy="491879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C4222-55B3-42C5-A6CB-182E90363C04}"/>
              </a:ext>
            </a:extLst>
          </p:cNvPr>
          <p:cNvSpPr txBox="1"/>
          <p:nvPr/>
        </p:nvSpPr>
        <p:spPr>
          <a:xfrm>
            <a:off x="1102296" y="687744"/>
            <a:ext cx="7249886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INVOICE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relation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(1NF)</a:t>
            </a:r>
          </a:p>
          <a:p>
            <a:pPr marL="127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Table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 no multivalued attributes and unique</a:t>
            </a:r>
            <a:r>
              <a:rPr kumimoji="0" lang="en-US" sz="20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4A33D-BDE3-40CC-905F-E17194D6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62" y="1734434"/>
            <a:ext cx="7184571" cy="4078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F83C1A-AB26-4D5C-875A-ABDD584E6C46}"/>
              </a:ext>
            </a:extLst>
          </p:cNvPr>
          <p:cNvSpPr txBox="1"/>
          <p:nvPr/>
        </p:nvSpPr>
        <p:spPr>
          <a:xfrm>
            <a:off x="1198984" y="6009147"/>
            <a:ext cx="4599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</a:t>
            </a: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relation,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but not a </a:t>
            </a: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well-structured one.</a:t>
            </a:r>
            <a:r>
              <a:rPr kumimoji="0" lang="en-US" sz="1400" b="0" i="0" u="none" strike="noStrike" kern="1200" cap="none" spc="25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400" b="0" i="0" u="none" strike="noStrike" kern="1200" cap="none" spc="-5" normalizeH="0" baseline="0" noProof="0" dirty="0">
                <a:ln>
                  <a:noFill/>
                </a:ln>
                <a:solidFill>
                  <a:srgbClr val="B91D2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WHY?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87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-1"/>
            <a:ext cx="9144000" cy="526473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421E9-2332-4167-9968-C0674C6C1421}"/>
              </a:ext>
            </a:extLst>
          </p:cNvPr>
          <p:cNvSpPr txBox="1"/>
          <p:nvPr/>
        </p:nvSpPr>
        <p:spPr>
          <a:xfrm>
            <a:off x="956388" y="718515"/>
            <a:ext cx="6713375" cy="517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905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Anomalies in this Table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184150" marR="86360" lvl="0" indent="-171450" algn="l" defTabSz="914400" rtl="0" eaLnBrk="1" fontAlgn="auto" latinLnBrk="0" hangingPunct="1">
              <a:lnSpc>
                <a:spcPct val="150000"/>
              </a:lnSpc>
              <a:spcBef>
                <a:spcPts val="1170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Insertion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–if new product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is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ordered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for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order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1007 of 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existing customer, customer data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must be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re-entered,  causing duplication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184150" marR="508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Deletion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–if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we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delete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the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Dining Table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from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Order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1006, we lose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information concerning this item's finish  and price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  <a:p>
            <a:pPr marL="184150" marR="200025" lvl="0" indent="-171450" algn="l" defTabSz="914400" rtl="0" eaLnBrk="1" fontAlgn="auto" latinLnBrk="0" hangingPunct="1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Times New Roman"/>
              <a:buChar char="•"/>
              <a:tabLst>
                <a:tab pos="184150" algn="l"/>
              </a:tabLst>
              <a:defRPr/>
            </a:pPr>
            <a:r>
              <a:rPr kumimoji="0" lang="en-US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Update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–changing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the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price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of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product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ID 4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requires  update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in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Times New Roman"/>
              </a:rPr>
              <a:t>several records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964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-1"/>
            <a:ext cx="9144000" cy="581891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D09BF6-82B6-43F8-A776-0C986CBB97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53" t="34671" r="24592" b="22698"/>
          <a:stretch/>
        </p:blipFill>
        <p:spPr>
          <a:xfrm>
            <a:off x="606489" y="1026345"/>
            <a:ext cx="8126964" cy="516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6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45026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755F8-EED0-4F00-B673-33036B375B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490" t="36667" r="27040" b="21792"/>
          <a:stretch/>
        </p:blipFill>
        <p:spPr>
          <a:xfrm>
            <a:off x="569370" y="550507"/>
            <a:ext cx="8005259" cy="55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529068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BEFAA-A499-4A04-80A2-0D0461EFD0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09" t="33982" r="24295" b="22390"/>
          <a:stretch/>
        </p:blipFill>
        <p:spPr>
          <a:xfrm>
            <a:off x="1" y="534549"/>
            <a:ext cx="8780106" cy="582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7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/>
        </p:nvSpPr>
        <p:spPr>
          <a:xfrm>
            <a:off x="0" y="0"/>
            <a:ext cx="9144000" cy="622008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23IT201-DATABASE MANAGEMENT SYSTEMS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0" y="6467624"/>
            <a:ext cx="9144000" cy="404664"/>
          </a:xfrm>
          <a:prstGeom prst="rect">
            <a:avLst/>
          </a:prstGeom>
          <a:solidFill>
            <a:srgbClr val="6534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    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998344" y="646762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5496" y="651264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38359E-7BCF-48AC-BE9A-17F66B2E0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93" y="1354415"/>
            <a:ext cx="8308213" cy="2603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769538-3DB7-4E21-8617-507E8D88EBB8}"/>
              </a:ext>
            </a:extLst>
          </p:cNvPr>
          <p:cNvSpPr txBox="1"/>
          <p:nvPr/>
        </p:nvSpPr>
        <p:spPr>
          <a:xfrm>
            <a:off x="2272005" y="757379"/>
            <a:ext cx="4599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400" b="1" i="0" u="none" strike="noStrike" kern="1200" cap="none" spc="-5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Try yourself</a:t>
            </a:r>
            <a:endParaRPr lang="en-IN" sz="24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37342-50A2-4E10-AD0F-4A0CEDA958B0}"/>
              </a:ext>
            </a:extLst>
          </p:cNvPr>
          <p:cNvSpPr txBox="1"/>
          <p:nvPr/>
        </p:nvSpPr>
        <p:spPr>
          <a:xfrm>
            <a:off x="747733" y="4093026"/>
            <a:ext cx="642750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Convert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1NF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Relation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Draw dependency diagram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showing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all functional</a:t>
            </a:r>
            <a:r>
              <a:rPr kumimoji="0" lang="en-US" sz="20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dependencies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Identify anomalies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Convert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to 3NF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Relations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  <a:p>
            <a:pPr marL="2413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13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Develop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EER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Diagram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with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appropriate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Times New Roman"/>
              </a:rPr>
              <a:t>cardinalities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751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1235</Words>
  <Application>Microsoft Office PowerPoint</Application>
  <PresentationFormat>On-screen Show (4:3)</PresentationFormat>
  <Paragraphs>292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Times New Roman</vt:lpstr>
      <vt:lpstr>Wingdings</vt:lpstr>
      <vt:lpstr>Office Theme</vt:lpstr>
      <vt:lpstr>Title of Topic: NORMALIZATION Course Code: 23IT201 Course Title: DataBase Management Systems MODULE –II Academic Year: 2024 - 2025 (Even Sem)</vt:lpstr>
      <vt:lpstr>DDL Commands - Create, Drop, Alter, Truncate, Rename, - DML Commands – Normalization - 1NF, 2NF, 3NF, BCNF, 4NF -   Select, Insert, Update, Delete, Any, All, In, Exists, Non Exists, Union, Intersection, Subqueries - nested, correlated, Joins- Inner, Outer, and Equi, Functions - SUM, COUNT, AVG, MIN, MAX, Clauses - Group By, Having By, Embedded SQL, Dynamic SQL, Transaction Concepts – Transaction model – ACID Properties – Serializability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Code: 20CS401 Course Title: Database Management Systems Faculty Name: Dr.R.Nithiavathy Academic Year: 2021 - 2022 (Even Sem)</dc:title>
  <dc:creator>Dell</dc:creator>
  <cp:lastModifiedBy>user</cp:lastModifiedBy>
  <cp:revision>119</cp:revision>
  <dcterms:modified xsi:type="dcterms:W3CDTF">2025-03-05T04:09:18Z</dcterms:modified>
</cp:coreProperties>
</file>